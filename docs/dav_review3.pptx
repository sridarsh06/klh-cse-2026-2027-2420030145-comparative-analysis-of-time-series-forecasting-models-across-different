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Atkinson Hyperlegible Next" pitchFamily="2" charset="0"/>
      <p:regular r:id="rId12"/>
    </p:embeddedFont>
    <p:embeddedFont>
      <p:font typeface="Atkinson Hyperlegible Next Bold" charset="0"/>
      <p:regular r:id="rId13"/>
    </p:embeddedFont>
    <p:embeddedFont>
      <p:font typeface="Atkinson Hyperlegible Next SemiBold" panose="020B0604020202020204" charset="0"/>
      <p:regular r:id="rId14"/>
    </p:embeddedFont>
    <p:embeddedFont>
      <p:font typeface="B612" panose="020B0604020202020204" charset="0"/>
      <p:regular r:id="rId15"/>
    </p:embeddedFont>
    <p:embeddedFont>
      <p:font typeface="B612 Bold" panose="020B0604020202020204" charset="0"/>
      <p:regular r:id="rId16"/>
    </p:embeddedFont>
    <p:embeddedFont>
      <p:font typeface="B612 Mono"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8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4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review presents a leakage-safe comparison of statistical, machine-learning and hybrid forecasting models. The central question is how feature selection and hybrid residual correction affect demand time-series forecasting performance.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covers classical baselines, Random Forest, feature selection and hybrid residual learning. The gap is not a claim that RF and Seasonal Naive are individually new. The proposed direction is the specific combination and its leakage-safe experimental protocol.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proceeds from literature to baselines, feature engineering and selection, candidate hybrids, validation, unseen testing, comparison and explanation. The key protection is the strict TRAIN to VALIDATION to TEST separation. No shuffling is used.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uses the prescribed NN5-001 file, with daily observations and a weekly seasonal period. The data are split into 596 training, 106 validation and 56 final test observations. Only this supplied NN5-001 run is verified.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reduces 17 candidate features to 14 after correlation filtering and then to 8 selected features. Selection uses training data only. Three hybrid candidates are evaluated: equal blending, validation-optimized blending and the proposed residual-correction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selected H2 because it had the lowest validation MAE at 6.671429. On the final unseen test, H3 recorded the lowest observed MAE at 4.3404, followed closely by H2 at 4.3471. The test result was not used to select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reduced RF test MAE from 4.7101 to 4.3733, an observed reduction of approximately 7.15%. The paired-error comparisons are exploratory. The p-values do not support a claim of universal statistical superiority. Visual evidence includes the actual versus predicted plot, MAE comparison, feature importance and residual/error comparison.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behaves differently because each component has a distinct task. Seasonal Naive captures weekly structure. Random Forest captures nonlinear temporal relationships. Feature selection focuses the RF. Residual learning changes the prediction target from the full demand series to the systematic error left by the baseline.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reviewed the literature, identified a specific gap, implemented the prescribed NN5-001 experiment and completed a 56-step unseen test. H2 was selected using validation, while H3 had the lowest observed test MAE. The conclusion remains appropriately scoped: hybrid improvement is dataset and series dependent, and global novelty or universal superiority is not claimed.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8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5"/>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8F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RREVIEW-3 · OCTOBER 2026</a:t>
            </a:r>
            <a:endParaRPr lang="en-US" sz="1050" dirty="0"/>
          </a:p>
        </p:txBody>
      </p:sp>
      <p:sp>
        <p:nvSpPr>
          <p:cNvPr id="3" name="Text 1"/>
          <p:cNvSpPr/>
          <p:nvPr/>
        </p:nvSpPr>
        <p:spPr>
          <a:xfrm>
            <a:off x="609585" y="1086445"/>
            <a:ext cx="10972526" cy="1676400"/>
          </a:xfrm>
          <a:prstGeom prst="rect">
            <a:avLst/>
          </a:prstGeom>
          <a:noFill/>
          <a:ln/>
        </p:spPr>
        <p:txBody>
          <a:bodyPr wrap="square" lIns="0" tIns="0" rIns="0" bIns="0" rtlCol="0" anchor="t">
            <a:normAutofit/>
          </a:bodyPr>
          <a:lstStyle/>
          <a:p>
            <a:pPr marL="0" indent="0" algn="l">
              <a:lnSpc>
                <a:spcPct val="83000"/>
              </a:lnSpc>
              <a:buNone/>
            </a:pPr>
            <a:r>
              <a:rPr lang="en-US" sz="4400" kern="100" spc="-44" dirty="0">
                <a:solidFill>
                  <a:srgbClr val="000000"/>
                </a:solidFill>
                <a:latin typeface="B612" pitchFamily="34" charset="0"/>
                <a:ea typeface="B612" pitchFamily="34" charset="-122"/>
                <a:cs typeface="B612" pitchFamily="34" charset="0"/>
              </a:rPr>
              <a:t>Time-Series Demand Forecasting:</a:t>
            </a:r>
            <a:endParaRPr lang="en-US" sz="4400" dirty="0"/>
          </a:p>
          <a:p>
            <a:pPr marL="0" indent="0" algn="l">
              <a:lnSpc>
                <a:spcPct val="83000"/>
              </a:lnSpc>
              <a:buNone/>
            </a:pPr>
            <a:r>
              <a:rPr lang="en-US" sz="4400" kern="100" spc="-44" dirty="0">
                <a:solidFill>
                  <a:srgbClr val="000000"/>
                </a:solidFill>
                <a:latin typeface="B612" pitchFamily="34" charset="0"/>
                <a:ea typeface="B612" pitchFamily="34" charset="-122"/>
                <a:cs typeface="B612" pitchFamily="34" charset="0"/>
              </a:rPr>
              <a:t>Feature Selection and Hybrid Residual Correction</a:t>
            </a:r>
            <a:endParaRPr lang="en-US" sz="4400" dirty="0"/>
          </a:p>
        </p:txBody>
      </p:sp>
      <p:sp>
        <p:nvSpPr>
          <p:cNvPr id="4" name="Text 2"/>
          <p:cNvSpPr/>
          <p:nvPr/>
        </p:nvSpPr>
        <p:spPr>
          <a:xfrm>
            <a:off x="609585" y="2886670"/>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A Leakage-Safe Comparative Evaluation of Statistical, Machine-Learning and Hybrid Models</a:t>
            </a:r>
            <a:endParaRPr lang="en-US" sz="1400" dirty="0"/>
          </a:p>
        </p:txBody>
      </p:sp>
      <p:sp>
        <p:nvSpPr>
          <p:cNvPr id="5" name="Text 3"/>
          <p:cNvSpPr/>
          <p:nvPr/>
        </p:nvSpPr>
        <p:spPr>
          <a:xfrm>
            <a:off x="609585" y="3367286"/>
            <a:ext cx="219446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STUDENT</a:t>
            </a:r>
            <a:endParaRPr lang="en-US" sz="1050" dirty="0"/>
          </a:p>
        </p:txBody>
      </p:sp>
      <p:sp>
        <p:nvSpPr>
          <p:cNvPr id="6" name="Text 4"/>
          <p:cNvSpPr/>
          <p:nvPr/>
        </p:nvSpPr>
        <p:spPr>
          <a:xfrm>
            <a:off x="609585" y="3632002"/>
            <a:ext cx="1965871" cy="1032272"/>
          </a:xfrm>
          <a:prstGeom prst="rect">
            <a:avLst/>
          </a:prstGeom>
          <a:noFill/>
          <a:ln/>
        </p:spPr>
        <p:txBody>
          <a:bodyPr wrap="square" lIns="0" tIns="0" rIns="0" bIns="0" rtlCol="0" anchor="t">
            <a:normAutofit/>
          </a:bodyPr>
          <a:lstStyle/>
          <a:p>
            <a:pPr marL="0" indent="0" algn="l">
              <a:lnSpc>
                <a:spcPct val="117000"/>
              </a:lnSpc>
              <a:buNone/>
            </a:pPr>
            <a:r>
              <a:rPr lang="en-US" sz="1300" dirty="0">
                <a:solidFill>
                  <a:srgbClr val="000000"/>
                </a:solidFill>
                <a:latin typeface="B612 Mono" pitchFamily="34" charset="0"/>
                <a:ea typeface="B612 Mono" pitchFamily="34" charset="-122"/>
                <a:cs typeface="B612 Mono" pitchFamily="34" charset="0"/>
              </a:rPr>
              <a:t>N.Abhinav</a:t>
            </a:r>
            <a:endParaRPr lang="en-US" sz="1300" dirty="0"/>
          </a:p>
          <a:p>
            <a:pPr marL="0" indent="0" algn="l">
              <a:lnSpc>
                <a:spcPct val="117000"/>
              </a:lnSpc>
              <a:spcAft>
                <a:spcPts val="800"/>
              </a:spcAft>
              <a:buNone/>
            </a:pPr>
            <a:r>
              <a:rPr lang="en-US" sz="1300" dirty="0">
                <a:solidFill>
                  <a:srgbClr val="000000"/>
                </a:solidFill>
                <a:latin typeface="B612 Mono" pitchFamily="34" charset="0"/>
                <a:ea typeface="B612 Mono" pitchFamily="34" charset="-122"/>
                <a:cs typeface="B612 Mono" pitchFamily="34" charset="0"/>
              </a:rPr>
              <a:t>M Siddardha</a:t>
            </a:r>
            <a:endParaRPr lang="en-US" sz="1300" dirty="0"/>
          </a:p>
          <a:p>
            <a:pPr marL="0" indent="0" algn="l">
              <a:lnSpc>
                <a:spcPct val="117000"/>
              </a:lnSpc>
              <a:buNone/>
            </a:pPr>
            <a:r>
              <a:rPr lang="en-US" sz="1300" dirty="0">
                <a:solidFill>
                  <a:srgbClr val="000000"/>
                </a:solidFill>
                <a:latin typeface="B612 Mono" pitchFamily="34" charset="0"/>
                <a:ea typeface="B612 Mono" pitchFamily="34" charset="-122"/>
                <a:cs typeface="B612 Mono" pitchFamily="34" charset="0"/>
              </a:rPr>
              <a:t>J Sridarsh</a:t>
            </a:r>
            <a:endParaRPr lang="en-US" sz="1300" dirty="0"/>
          </a:p>
          <a:p>
            <a:pPr marL="0" indent="0" algn="l">
              <a:lnSpc>
                <a:spcPct val="117000"/>
              </a:lnSpc>
              <a:buNone/>
            </a:pPr>
            <a:r>
              <a:rPr lang="en-US" sz="1300" dirty="0">
                <a:solidFill>
                  <a:srgbClr val="000000"/>
                </a:solidFill>
                <a:latin typeface="B612 Mono" pitchFamily="34" charset="0"/>
                <a:ea typeface="B612 Mono" pitchFamily="34" charset="-122"/>
                <a:cs typeface="B612 Mono" pitchFamily="34" charset="0"/>
              </a:rPr>
              <a:t>G Anirudh</a:t>
            </a:r>
            <a:endParaRPr lang="en-US" sz="1300" dirty="0"/>
          </a:p>
        </p:txBody>
      </p:sp>
      <p:sp>
        <p:nvSpPr>
          <p:cNvPr id="7" name="Text 5"/>
          <p:cNvSpPr/>
          <p:nvPr/>
        </p:nvSpPr>
        <p:spPr>
          <a:xfrm>
            <a:off x="3032644" y="3367286"/>
            <a:ext cx="1965871"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ROLL NO.</a:t>
            </a:r>
            <a:endParaRPr lang="en-US" sz="1050" dirty="0"/>
          </a:p>
        </p:txBody>
      </p:sp>
      <p:sp>
        <p:nvSpPr>
          <p:cNvPr id="8" name="Text 6"/>
          <p:cNvSpPr/>
          <p:nvPr/>
        </p:nvSpPr>
        <p:spPr>
          <a:xfrm>
            <a:off x="3032644" y="3632002"/>
            <a:ext cx="1737277"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2420030470</a:t>
            </a:r>
            <a:endParaRPr lang="en-US" sz="1400" dirty="0"/>
          </a:p>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2420030214</a:t>
            </a:r>
            <a:endParaRPr lang="en-US" sz="1400" dirty="0"/>
          </a:p>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2420030145</a:t>
            </a:r>
            <a:endParaRPr lang="en-US" sz="1400" dirty="0"/>
          </a:p>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2420030758</a:t>
            </a:r>
            <a:endParaRPr lang="en-US" sz="1400" dirty="0"/>
          </a:p>
        </p:txBody>
      </p:sp>
      <p:sp>
        <p:nvSpPr>
          <p:cNvPr id="9" name="Text 7"/>
          <p:cNvSpPr/>
          <p:nvPr/>
        </p:nvSpPr>
        <p:spPr>
          <a:xfrm>
            <a:off x="5227110" y="3367286"/>
            <a:ext cx="196597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DEPARTMENT</a:t>
            </a:r>
            <a:endParaRPr lang="en-US" sz="1050" dirty="0"/>
          </a:p>
        </p:txBody>
      </p:sp>
      <p:sp>
        <p:nvSpPr>
          <p:cNvPr id="10" name="Text 8"/>
          <p:cNvSpPr/>
          <p:nvPr/>
        </p:nvSpPr>
        <p:spPr>
          <a:xfrm>
            <a:off x="5227110" y="3632002"/>
            <a:ext cx="1965970"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CSE</a:t>
            </a:r>
            <a:endParaRPr lang="en-US" sz="1400" dirty="0"/>
          </a:p>
        </p:txBody>
      </p:sp>
      <p:sp>
        <p:nvSpPr>
          <p:cNvPr id="11" name="Text 9"/>
          <p:cNvSpPr/>
          <p:nvPr/>
        </p:nvSpPr>
        <p:spPr>
          <a:xfrm>
            <a:off x="7421674" y="3367286"/>
            <a:ext cx="1965871"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GUIDE</a:t>
            </a:r>
            <a:endParaRPr lang="en-US" sz="1050" dirty="0"/>
          </a:p>
        </p:txBody>
      </p:sp>
      <p:sp>
        <p:nvSpPr>
          <p:cNvPr id="12" name="Text 10"/>
          <p:cNvSpPr/>
          <p:nvPr/>
        </p:nvSpPr>
        <p:spPr>
          <a:xfrm>
            <a:off x="7421674" y="3632002"/>
            <a:ext cx="1965871"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Dr.Swapnika</a:t>
            </a:r>
            <a:endParaRPr lang="en-US" sz="1400" dirty="0"/>
          </a:p>
        </p:txBody>
      </p:sp>
      <p:sp>
        <p:nvSpPr>
          <p:cNvPr id="13" name="Text 11"/>
          <p:cNvSpPr/>
          <p:nvPr/>
        </p:nvSpPr>
        <p:spPr>
          <a:xfrm>
            <a:off x="9616140" y="3367286"/>
            <a:ext cx="196597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REVIEW</a:t>
            </a:r>
            <a:endParaRPr lang="en-US" sz="1050" dirty="0"/>
          </a:p>
        </p:txBody>
      </p:sp>
      <p:sp>
        <p:nvSpPr>
          <p:cNvPr id="14" name="Text 12"/>
          <p:cNvSpPr/>
          <p:nvPr/>
        </p:nvSpPr>
        <p:spPr>
          <a:xfrm>
            <a:off x="9616140" y="3632002"/>
            <a:ext cx="1965970"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B612 Mono" pitchFamily="34" charset="0"/>
                <a:ea typeface="B612 Mono" pitchFamily="34" charset="-122"/>
                <a:cs typeface="B612 Mono" pitchFamily="34" charset="0"/>
              </a:rPr>
              <a:t>Review-3 — October 2026</a:t>
            </a:r>
            <a:endParaRPr lang="en-US" sz="1400" dirty="0"/>
          </a:p>
        </p:txBody>
      </p:sp>
      <p:sp>
        <p:nvSpPr>
          <p:cNvPr id="15" name="Text 13"/>
          <p:cNvSpPr/>
          <p:nvPr/>
        </p:nvSpPr>
        <p:spPr>
          <a:xfrm>
            <a:off x="812780" y="5076428"/>
            <a:ext cx="10769331"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RESEARCH QUESTION</a:t>
            </a:r>
            <a:endParaRPr lang="en-US" sz="1050" dirty="0"/>
          </a:p>
        </p:txBody>
      </p:sp>
      <p:sp>
        <p:nvSpPr>
          <p:cNvPr id="16" name="Text 14"/>
          <p:cNvSpPr/>
          <p:nvPr/>
        </p:nvSpPr>
        <p:spPr>
          <a:xfrm>
            <a:off x="812780" y="5341144"/>
            <a:ext cx="10769331" cy="248841"/>
          </a:xfrm>
          <a:prstGeom prst="rect">
            <a:avLst/>
          </a:prstGeom>
          <a:noFill/>
          <a:ln/>
        </p:spPr>
        <p:txBody>
          <a:bodyPr wrap="none" lIns="0" tIns="0" rIns="0" bIns="0" rtlCol="0" anchor="t"/>
          <a:lstStyle/>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How does feature selection and hybrid residual correction affect forecasting performance for demand time-series data?</a:t>
            </a:r>
            <a:endParaRPr lang="en-US" sz="1400" dirty="0"/>
          </a:p>
        </p:txBody>
      </p:sp>
      <p:sp>
        <p:nvSpPr>
          <p:cNvPr id="17" name="Text 15"/>
          <p:cNvSpPr/>
          <p:nvPr/>
        </p:nvSpPr>
        <p:spPr>
          <a:xfrm>
            <a:off x="609585" y="5907484"/>
            <a:ext cx="11582110" cy="188516"/>
          </a:xfrm>
          <a:prstGeom prst="rect">
            <a:avLst/>
          </a:prstGeom>
          <a:noFill/>
          <a:ln/>
        </p:spPr>
        <p:txBody>
          <a:bodyPr wrap="none" lIns="0" tIns="0" rIns="0" bIns="0" rtlCol="0" anchor="t"/>
          <a:lstStyle/>
          <a:p>
            <a:pPr marL="0" indent="0" algn="l">
              <a:lnSpc>
                <a:spcPct val="112000"/>
              </a:lnSpc>
              <a:buNone/>
            </a:pPr>
            <a:r>
              <a:rPr lang="en-US" sz="1100" dirty="0">
                <a:solidFill>
                  <a:srgbClr val="000000"/>
                </a:solidFill>
                <a:latin typeface="Atkinson Hyperlegible Next" pitchFamily="34" charset="0"/>
                <a:ea typeface="Atkinson Hyperlegible Next" pitchFamily="34" charset="-122"/>
                <a:cs typeface="Atkinson Hyperlegible Next" pitchFamily="34" charset="0"/>
              </a:rPr>
              <a:t>Flow: Literature → Baselines → Gap → Hybrid Candidates → Validation → Unseen Test → Comparison → Explanation</a:t>
            </a:r>
            <a:endParaRPr lang="en-US" sz="1100" dirty="0"/>
          </a:p>
        </p:txBody>
      </p:sp>
      <p:sp>
        <p:nvSpPr>
          <p:cNvPr id="18" name="Shape 16"/>
          <p:cNvSpPr/>
          <p:nvPr/>
        </p:nvSpPr>
        <p:spPr>
          <a:xfrm>
            <a:off x="2797700" y="3364111"/>
            <a:ext cx="12700" cy="1300163"/>
          </a:xfrm>
          <a:prstGeom prst="rect">
            <a:avLst/>
          </a:prstGeom>
          <a:solidFill>
            <a:srgbClr val="C2CCD5"/>
          </a:solidFill>
          <a:ln/>
        </p:spPr>
      </p:sp>
      <p:sp>
        <p:nvSpPr>
          <p:cNvPr id="19" name="Shape 17"/>
          <p:cNvSpPr/>
          <p:nvPr/>
        </p:nvSpPr>
        <p:spPr>
          <a:xfrm>
            <a:off x="4992166" y="3364111"/>
            <a:ext cx="12700" cy="1300163"/>
          </a:xfrm>
          <a:prstGeom prst="rect">
            <a:avLst/>
          </a:prstGeom>
          <a:solidFill>
            <a:srgbClr val="C2CCD5"/>
          </a:solidFill>
          <a:ln/>
        </p:spPr>
      </p:sp>
      <p:sp>
        <p:nvSpPr>
          <p:cNvPr id="20" name="Shape 18"/>
          <p:cNvSpPr/>
          <p:nvPr/>
        </p:nvSpPr>
        <p:spPr>
          <a:xfrm>
            <a:off x="7186730" y="3364111"/>
            <a:ext cx="12700" cy="1300163"/>
          </a:xfrm>
          <a:prstGeom prst="rect">
            <a:avLst/>
          </a:prstGeom>
          <a:solidFill>
            <a:srgbClr val="C2CCD5"/>
          </a:solidFill>
          <a:ln/>
        </p:spPr>
      </p:sp>
      <p:sp>
        <p:nvSpPr>
          <p:cNvPr id="21" name="Shape 19"/>
          <p:cNvSpPr/>
          <p:nvPr/>
        </p:nvSpPr>
        <p:spPr>
          <a:xfrm>
            <a:off x="9381196" y="3364111"/>
            <a:ext cx="12700" cy="1300163"/>
          </a:xfrm>
          <a:prstGeom prst="rect">
            <a:avLst/>
          </a:prstGeom>
          <a:solidFill>
            <a:srgbClr val="C2CCD5"/>
          </a:solidFill>
          <a:ln/>
        </p:spPr>
      </p:sp>
      <p:sp>
        <p:nvSpPr>
          <p:cNvPr id="22" name="Rectangle 21">
            <a:extLst>
              <a:ext uri="{FF2B5EF4-FFF2-40B4-BE49-F238E27FC236}">
                <a16:creationId xmlns:a16="http://schemas.microsoft.com/office/drawing/2014/main" id="{308C5862-159C-76FD-9889-02C58DD39263}"/>
              </a:ext>
            </a:extLst>
          </p:cNvPr>
          <p:cNvSpPr/>
          <p:nvPr/>
        </p:nvSpPr>
        <p:spPr>
          <a:xfrm>
            <a:off x="11084767" y="6578082"/>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2775"/>
            <a:ext cx="5257668"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LITERATURE REVIEW</a:t>
            </a:r>
            <a:endParaRPr lang="en-US" sz="1050" dirty="0"/>
          </a:p>
        </p:txBody>
      </p:sp>
      <p:sp>
        <p:nvSpPr>
          <p:cNvPr id="3" name="Text 1"/>
          <p:cNvSpPr/>
          <p:nvPr/>
        </p:nvSpPr>
        <p:spPr>
          <a:xfrm>
            <a:off x="609585" y="858440"/>
            <a:ext cx="4648084"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Existing literature</a:t>
            </a:r>
            <a:endParaRPr lang="en-US" sz="2500" dirty="0"/>
          </a:p>
        </p:txBody>
      </p:sp>
      <p:sp>
        <p:nvSpPr>
          <p:cNvPr id="4" name="Text 2"/>
          <p:cNvSpPr/>
          <p:nvPr/>
        </p:nvSpPr>
        <p:spPr>
          <a:xfrm>
            <a:off x="609585" y="1411486"/>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01</a:t>
            </a:r>
            <a:endParaRPr lang="en-US" sz="1400" dirty="0"/>
          </a:p>
        </p:txBody>
      </p:sp>
      <p:sp>
        <p:nvSpPr>
          <p:cNvPr id="5" name="Text 3"/>
          <p:cNvSpPr/>
          <p:nvPr/>
        </p:nvSpPr>
        <p:spPr>
          <a:xfrm>
            <a:off x="993155" y="1375966"/>
            <a:ext cx="4264514"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Naive and Seasonal Naive; Holt-Winters; AutoRegressive models</a:t>
            </a:r>
            <a:endParaRPr lang="en-US" sz="1400" dirty="0"/>
          </a:p>
        </p:txBody>
      </p:sp>
      <p:sp>
        <p:nvSpPr>
          <p:cNvPr id="6" name="Text 4"/>
          <p:cNvSpPr/>
          <p:nvPr/>
        </p:nvSpPr>
        <p:spPr>
          <a:xfrm>
            <a:off x="609585" y="2366367"/>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02</a:t>
            </a:r>
            <a:endParaRPr lang="en-US" sz="1400" dirty="0"/>
          </a:p>
        </p:txBody>
      </p:sp>
      <p:sp>
        <p:nvSpPr>
          <p:cNvPr id="7" name="Text 5"/>
          <p:cNvSpPr/>
          <p:nvPr/>
        </p:nvSpPr>
        <p:spPr>
          <a:xfrm>
            <a:off x="993155" y="2330847"/>
            <a:ext cx="4264514"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Random Forest, feature selection, statistical + ML hybrids, residual learning</a:t>
            </a:r>
            <a:endParaRPr lang="en-US" sz="1400" dirty="0"/>
          </a:p>
        </p:txBody>
      </p:sp>
      <p:sp>
        <p:nvSpPr>
          <p:cNvPr id="8" name="Text 6"/>
          <p:cNvSpPr/>
          <p:nvPr/>
        </p:nvSpPr>
        <p:spPr>
          <a:xfrm>
            <a:off x="609585" y="3321248"/>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03</a:t>
            </a:r>
            <a:endParaRPr lang="en-US" sz="1400" dirty="0"/>
          </a:p>
        </p:txBody>
      </p:sp>
      <p:sp>
        <p:nvSpPr>
          <p:cNvPr id="9" name="Text 7"/>
          <p:cNvSpPr/>
          <p:nvPr/>
        </p:nvSpPr>
        <p:spPr>
          <a:xfrm>
            <a:off x="993155" y="3285728"/>
            <a:ext cx="4264514"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Ozdemir &amp; Yozgatligil (2024): ML, time-series and hybrid forecasting comparison</a:t>
            </a:r>
            <a:endParaRPr lang="en-US" sz="1400" dirty="0"/>
          </a:p>
        </p:txBody>
      </p:sp>
      <p:sp>
        <p:nvSpPr>
          <p:cNvPr id="10" name="Text 8"/>
          <p:cNvSpPr/>
          <p:nvPr/>
        </p:nvSpPr>
        <p:spPr>
          <a:xfrm>
            <a:off x="609585" y="4276130"/>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04</a:t>
            </a:r>
            <a:endParaRPr lang="en-US" sz="1400" dirty="0"/>
          </a:p>
        </p:txBody>
      </p:sp>
      <p:sp>
        <p:nvSpPr>
          <p:cNvPr id="11" name="Text 9"/>
          <p:cNvSpPr/>
          <p:nvPr/>
        </p:nvSpPr>
        <p:spPr>
          <a:xfrm>
            <a:off x="993155" y="4240609"/>
            <a:ext cx="4264514"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Mejía &amp; Aguilar (2024): feature engineering, correlation filtering, RF selection and ensemble learning</a:t>
            </a:r>
            <a:endParaRPr lang="en-US" sz="1400" dirty="0"/>
          </a:p>
        </p:txBody>
      </p:sp>
      <p:sp>
        <p:nvSpPr>
          <p:cNvPr id="12" name="Text 10"/>
          <p:cNvSpPr/>
          <p:nvPr/>
        </p:nvSpPr>
        <p:spPr>
          <a:xfrm>
            <a:off x="609585" y="5479852"/>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05</a:t>
            </a:r>
            <a:endParaRPr lang="en-US" sz="1400" dirty="0"/>
          </a:p>
        </p:txBody>
      </p:sp>
      <p:sp>
        <p:nvSpPr>
          <p:cNvPr id="13" name="Text 11"/>
          <p:cNvSpPr/>
          <p:nvPr/>
        </p:nvSpPr>
        <p:spPr>
          <a:xfrm>
            <a:off x="993155" y="5444331"/>
            <a:ext cx="4264514"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IEEE 2026: RF–Naive hybrid already published; IEEE 2024: Seasonal Naive + tree ensemble approaches already published</a:t>
            </a:r>
            <a:endParaRPr lang="en-US" sz="1400" dirty="0"/>
          </a:p>
        </p:txBody>
      </p:sp>
      <p:sp>
        <p:nvSpPr>
          <p:cNvPr id="14" name="Shape 12"/>
          <p:cNvSpPr/>
          <p:nvPr/>
        </p:nvSpPr>
        <p:spPr>
          <a:xfrm>
            <a:off x="6324442" y="0"/>
            <a:ext cx="5867253" cy="6858000"/>
          </a:xfrm>
          <a:prstGeom prst="rect">
            <a:avLst/>
          </a:prstGeom>
          <a:solidFill>
            <a:srgbClr val="E8E5FA"/>
          </a:solidFill>
          <a:ln/>
        </p:spPr>
      </p:sp>
      <p:sp>
        <p:nvSpPr>
          <p:cNvPr id="15" name="Text 13"/>
          <p:cNvSpPr/>
          <p:nvPr/>
        </p:nvSpPr>
        <p:spPr>
          <a:xfrm>
            <a:off x="6934027" y="612775"/>
            <a:ext cx="5257668"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000000"/>
                </a:solidFill>
                <a:latin typeface="B612 Mono" pitchFamily="34" charset="0"/>
                <a:ea typeface="B612 Mono" pitchFamily="34" charset="-122"/>
                <a:cs typeface="B612 Mono" pitchFamily="34" charset="0"/>
              </a:rPr>
              <a:t>GAP → PROPOSED DIRECTION</a:t>
            </a:r>
            <a:endParaRPr lang="en-US" sz="1050" dirty="0"/>
          </a:p>
        </p:txBody>
      </p:sp>
      <p:sp>
        <p:nvSpPr>
          <p:cNvPr id="16" name="Text 14"/>
          <p:cNvSpPr/>
          <p:nvPr/>
        </p:nvSpPr>
        <p:spPr>
          <a:xfrm>
            <a:off x="6934027" y="858440"/>
            <a:ext cx="4648084" cy="698500"/>
          </a:xfrm>
          <a:prstGeom prst="rect">
            <a:avLst/>
          </a:prstGeom>
          <a:noFill/>
          <a:ln/>
        </p:spPr>
        <p:txBody>
          <a:bodyPr wrap="square" lIns="0" tIns="0" rIns="0" bIns="0" rtlCol="0" anchor="t">
            <a:normAutofit/>
          </a:bodyPr>
          <a:lstStyle/>
          <a:p>
            <a:pPr marL="0" indent="0" algn="l">
              <a:lnSpc>
                <a:spcPct val="92000"/>
              </a:lnSpc>
              <a:buNone/>
            </a:pPr>
            <a:r>
              <a:rPr lang="en-US" sz="2500" b="1" kern="100" spc="-25" dirty="0">
                <a:solidFill>
                  <a:srgbClr val="000000"/>
                </a:solidFill>
                <a:latin typeface="B612 Bold" pitchFamily="34" charset="0"/>
                <a:ea typeface="B612 Bold" pitchFamily="34" charset="-122"/>
                <a:cs typeface="B612 Bold" pitchFamily="34" charset="0"/>
              </a:rPr>
              <a:t>Specific combination, controlled protocol</a:t>
            </a:r>
            <a:endParaRPr lang="en-US" sz="2500" dirty="0"/>
          </a:p>
        </p:txBody>
      </p:sp>
      <p:sp>
        <p:nvSpPr>
          <p:cNvPr id="17" name="Text 15"/>
          <p:cNvSpPr/>
          <p:nvPr/>
        </p:nvSpPr>
        <p:spPr>
          <a:xfrm>
            <a:off x="6934027" y="1725216"/>
            <a:ext cx="4648084" cy="2382441"/>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0"/>
              </a:rPr>
              <a:t>Existing techniques separately address seasonality, nonlinear relationships, redundancy and residual errors.</a:t>
            </a:r>
            <a:endParaRPr lang="en-US" sz="1400" dirty="0"/>
          </a:p>
          <a:p>
            <a:pPr marL="284480" indent="-284480" algn="l">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0"/>
              </a:rPr>
              <a:t>Simple RF + Naive or RF + Seasonal Naive combinations are not themselves novel.</a:t>
            </a:r>
            <a:endParaRPr lang="en-US" sz="1400" dirty="0"/>
          </a:p>
          <a:p>
            <a:pPr marL="284480" indent="-284480" algn="l">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0"/>
              </a:rPr>
              <a:t>Seasonal Naive + training-only two-stage feature selection + RF residual correction + validation-selected correction strength + leakage-safe evaluation.</a:t>
            </a:r>
            <a:endParaRPr lang="en-US" sz="1400" dirty="0"/>
          </a:p>
          <a:p>
            <a:pPr marL="284480" indent="-284480" algn="l">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0"/>
              </a:rPr>
              <a:t>Novelty is claimed only for the specific combination and experimental protocol; global novelty is not claimed.</a:t>
            </a:r>
            <a:endParaRPr lang="en-US" sz="1400" dirty="0"/>
          </a:p>
        </p:txBody>
      </p:sp>
      <p:sp>
        <p:nvSpPr>
          <p:cNvPr id="18" name="Shape 16"/>
          <p:cNvSpPr/>
          <p:nvPr/>
        </p:nvSpPr>
        <p:spPr>
          <a:xfrm>
            <a:off x="609585" y="2095897"/>
            <a:ext cx="4648084" cy="12700"/>
          </a:xfrm>
          <a:prstGeom prst="rect">
            <a:avLst/>
          </a:prstGeom>
          <a:solidFill>
            <a:srgbClr val="C2CCD5"/>
          </a:solidFill>
          <a:ln/>
        </p:spPr>
      </p:sp>
      <p:sp>
        <p:nvSpPr>
          <p:cNvPr id="19" name="Shape 17"/>
          <p:cNvSpPr/>
          <p:nvPr/>
        </p:nvSpPr>
        <p:spPr>
          <a:xfrm>
            <a:off x="609585" y="3050778"/>
            <a:ext cx="4648084" cy="12700"/>
          </a:xfrm>
          <a:prstGeom prst="rect">
            <a:avLst/>
          </a:prstGeom>
          <a:solidFill>
            <a:srgbClr val="C2CCD5"/>
          </a:solidFill>
          <a:ln/>
        </p:spPr>
      </p:sp>
      <p:sp>
        <p:nvSpPr>
          <p:cNvPr id="20" name="Shape 18"/>
          <p:cNvSpPr/>
          <p:nvPr/>
        </p:nvSpPr>
        <p:spPr>
          <a:xfrm>
            <a:off x="609585" y="4005659"/>
            <a:ext cx="4648084" cy="12700"/>
          </a:xfrm>
          <a:prstGeom prst="rect">
            <a:avLst/>
          </a:prstGeom>
          <a:solidFill>
            <a:srgbClr val="C2CCD5"/>
          </a:solidFill>
          <a:ln/>
        </p:spPr>
      </p:sp>
      <p:sp>
        <p:nvSpPr>
          <p:cNvPr id="21" name="Shape 19"/>
          <p:cNvSpPr/>
          <p:nvPr/>
        </p:nvSpPr>
        <p:spPr>
          <a:xfrm>
            <a:off x="609585" y="5209381"/>
            <a:ext cx="4648084" cy="12700"/>
          </a:xfrm>
          <a:prstGeom prst="rect">
            <a:avLst/>
          </a:prstGeom>
          <a:solidFill>
            <a:srgbClr val="C2CCD5"/>
          </a:solidFill>
          <a:ln/>
        </p:spPr>
      </p:sp>
      <p:pic>
        <p:nvPicPr>
          <p:cNvPr id="22"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23" name="Text 20"/>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24" name="Text 21"/>
          <p:cNvSpPr/>
          <p:nvPr/>
        </p:nvSpPr>
        <p:spPr>
          <a:xfrm>
            <a:off x="11419495" y="6481465"/>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02 / 09</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EXPERIMENTAL DESIGN</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Research methodology and experimental design</a:t>
            </a:r>
            <a:endParaRPr lang="en-US" sz="2500" dirty="0"/>
          </a:p>
        </p:txBody>
      </p:sp>
      <p:sp>
        <p:nvSpPr>
          <p:cNvPr id="4" name="Text 2"/>
          <p:cNvSpPr/>
          <p:nvPr/>
        </p:nvSpPr>
        <p:spPr>
          <a:xfrm>
            <a:off x="609585" y="1411486"/>
            <a:ext cx="802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01</a:t>
            </a:r>
            <a:endParaRPr lang="en-US" sz="1400" dirty="0"/>
          </a:p>
        </p:txBody>
      </p:sp>
      <p:sp>
        <p:nvSpPr>
          <p:cNvPr id="5" name="Text 3"/>
          <p:cNvSpPr/>
          <p:nvPr/>
        </p:nvSpPr>
        <p:spPr>
          <a:xfrm>
            <a:off x="909416" y="1375966"/>
            <a:ext cx="5034035"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Study published models</a:t>
            </a:r>
            <a:endParaRPr lang="en-US" sz="1400" dirty="0"/>
          </a:p>
        </p:txBody>
      </p:sp>
      <p:sp>
        <p:nvSpPr>
          <p:cNvPr id="6" name="Text 4"/>
          <p:cNvSpPr/>
          <p:nvPr/>
        </p:nvSpPr>
        <p:spPr>
          <a:xfrm>
            <a:off x="6248244" y="1411486"/>
            <a:ext cx="827464"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02</a:t>
            </a:r>
            <a:endParaRPr lang="en-US" sz="1400" dirty="0"/>
          </a:p>
        </p:txBody>
      </p:sp>
      <p:sp>
        <p:nvSpPr>
          <p:cNvPr id="7" name="Text 5"/>
          <p:cNvSpPr/>
          <p:nvPr/>
        </p:nvSpPr>
        <p:spPr>
          <a:xfrm>
            <a:off x="6572780" y="1375966"/>
            <a:ext cx="5009330"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Reproduce baselines</a:t>
            </a:r>
            <a:endParaRPr lang="en-US" sz="1400" dirty="0"/>
          </a:p>
        </p:txBody>
      </p:sp>
      <p:sp>
        <p:nvSpPr>
          <p:cNvPr id="8" name="Text 6"/>
          <p:cNvSpPr/>
          <p:nvPr/>
        </p:nvSpPr>
        <p:spPr>
          <a:xfrm>
            <a:off x="609585" y="1965027"/>
            <a:ext cx="831532"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03</a:t>
            </a:r>
            <a:endParaRPr lang="en-US" sz="1400" dirty="0"/>
          </a:p>
        </p:txBody>
      </p:sp>
      <p:sp>
        <p:nvSpPr>
          <p:cNvPr id="9" name="Text 7"/>
          <p:cNvSpPr/>
          <p:nvPr/>
        </p:nvSpPr>
        <p:spPr>
          <a:xfrm>
            <a:off x="938189" y="1929507"/>
            <a:ext cx="5005262"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Identify the gap</a:t>
            </a:r>
            <a:endParaRPr lang="en-US" sz="1400" dirty="0"/>
          </a:p>
        </p:txBody>
      </p:sp>
      <p:sp>
        <p:nvSpPr>
          <p:cNvPr id="10" name="Text 8"/>
          <p:cNvSpPr/>
          <p:nvPr/>
        </p:nvSpPr>
        <p:spPr>
          <a:xfrm>
            <a:off x="6248244" y="1965027"/>
            <a:ext cx="836691"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04</a:t>
            </a:r>
            <a:endParaRPr lang="en-US" sz="1400" dirty="0"/>
          </a:p>
        </p:txBody>
      </p:sp>
      <p:sp>
        <p:nvSpPr>
          <p:cNvPr id="11" name="Text 9"/>
          <p:cNvSpPr/>
          <p:nvPr/>
        </p:nvSpPr>
        <p:spPr>
          <a:xfrm>
            <a:off x="6582007" y="1929507"/>
            <a:ext cx="5000103"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Engineer temporal features</a:t>
            </a:r>
            <a:endParaRPr lang="en-US" sz="1400" dirty="0"/>
          </a:p>
        </p:txBody>
      </p:sp>
      <p:sp>
        <p:nvSpPr>
          <p:cNvPr id="12" name="Text 10"/>
          <p:cNvSpPr/>
          <p:nvPr/>
        </p:nvSpPr>
        <p:spPr>
          <a:xfrm>
            <a:off x="609585" y="2518569"/>
            <a:ext cx="833317"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05</a:t>
            </a:r>
            <a:endParaRPr lang="en-US" sz="1400" dirty="0"/>
          </a:p>
        </p:txBody>
      </p:sp>
      <p:sp>
        <p:nvSpPr>
          <p:cNvPr id="13" name="Text 11"/>
          <p:cNvSpPr/>
          <p:nvPr/>
        </p:nvSpPr>
        <p:spPr>
          <a:xfrm>
            <a:off x="939975" y="2483048"/>
            <a:ext cx="5003476"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Select features using training data only</a:t>
            </a:r>
            <a:endParaRPr lang="en-US" sz="1400" dirty="0"/>
          </a:p>
        </p:txBody>
      </p:sp>
      <p:sp>
        <p:nvSpPr>
          <p:cNvPr id="14" name="Text 12"/>
          <p:cNvSpPr/>
          <p:nvPr/>
        </p:nvSpPr>
        <p:spPr>
          <a:xfrm>
            <a:off x="6248244" y="2518569"/>
            <a:ext cx="835996"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06</a:t>
            </a:r>
            <a:endParaRPr lang="en-US" sz="1400" dirty="0"/>
          </a:p>
        </p:txBody>
      </p:sp>
      <p:sp>
        <p:nvSpPr>
          <p:cNvPr id="15" name="Text 13"/>
          <p:cNvSpPr/>
          <p:nvPr/>
        </p:nvSpPr>
        <p:spPr>
          <a:xfrm>
            <a:off x="6581313" y="2483048"/>
            <a:ext cx="5000798"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Generate multiple hybrid candidates</a:t>
            </a:r>
            <a:endParaRPr lang="en-US" sz="1400" dirty="0"/>
          </a:p>
        </p:txBody>
      </p:sp>
      <p:sp>
        <p:nvSpPr>
          <p:cNvPr id="16" name="Text 14"/>
          <p:cNvSpPr/>
          <p:nvPr/>
        </p:nvSpPr>
        <p:spPr>
          <a:xfrm>
            <a:off x="609585" y="3072110"/>
            <a:ext cx="820320"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07</a:t>
            </a:r>
            <a:endParaRPr lang="en-US" sz="1400" dirty="0"/>
          </a:p>
        </p:txBody>
      </p:sp>
      <p:sp>
        <p:nvSpPr>
          <p:cNvPr id="17" name="Text 15"/>
          <p:cNvSpPr/>
          <p:nvPr/>
        </p:nvSpPr>
        <p:spPr>
          <a:xfrm>
            <a:off x="926978" y="3036590"/>
            <a:ext cx="5016474"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Select using validation data</a:t>
            </a:r>
            <a:endParaRPr lang="en-US" sz="1400" dirty="0"/>
          </a:p>
        </p:txBody>
      </p:sp>
      <p:sp>
        <p:nvSpPr>
          <p:cNvPr id="18" name="Text 16"/>
          <p:cNvSpPr/>
          <p:nvPr/>
        </p:nvSpPr>
        <p:spPr>
          <a:xfrm>
            <a:off x="6248244" y="3072110"/>
            <a:ext cx="836691"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08</a:t>
            </a:r>
            <a:endParaRPr lang="en-US" sz="1400" dirty="0"/>
          </a:p>
        </p:txBody>
      </p:sp>
      <p:sp>
        <p:nvSpPr>
          <p:cNvPr id="19" name="Text 17"/>
          <p:cNvSpPr/>
          <p:nvPr/>
        </p:nvSpPr>
        <p:spPr>
          <a:xfrm>
            <a:off x="6582007" y="3036590"/>
            <a:ext cx="5000103"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Run the final unseen test</a:t>
            </a:r>
            <a:endParaRPr lang="en-US" sz="1400" dirty="0"/>
          </a:p>
        </p:txBody>
      </p:sp>
      <p:sp>
        <p:nvSpPr>
          <p:cNvPr id="20" name="Text 18"/>
          <p:cNvSpPr/>
          <p:nvPr/>
        </p:nvSpPr>
        <p:spPr>
          <a:xfrm>
            <a:off x="609585" y="3625652"/>
            <a:ext cx="829051"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09</a:t>
            </a:r>
            <a:endParaRPr lang="en-US" sz="1400" dirty="0"/>
          </a:p>
        </p:txBody>
      </p:sp>
      <p:sp>
        <p:nvSpPr>
          <p:cNvPr id="21" name="Text 19"/>
          <p:cNvSpPr/>
          <p:nvPr/>
        </p:nvSpPr>
        <p:spPr>
          <a:xfrm>
            <a:off x="935709" y="3590131"/>
            <a:ext cx="5007743"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Compare statistically and visually</a:t>
            </a:r>
            <a:endParaRPr lang="en-US" sz="1400" dirty="0"/>
          </a:p>
        </p:txBody>
      </p:sp>
      <p:sp>
        <p:nvSpPr>
          <p:cNvPr id="22" name="Text 20"/>
          <p:cNvSpPr/>
          <p:nvPr/>
        </p:nvSpPr>
        <p:spPr>
          <a:xfrm>
            <a:off x="6248244" y="3625652"/>
            <a:ext cx="802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10</a:t>
            </a:r>
            <a:endParaRPr lang="en-US" sz="1400" dirty="0"/>
          </a:p>
        </p:txBody>
      </p:sp>
      <p:sp>
        <p:nvSpPr>
          <p:cNvPr id="23" name="Text 21"/>
          <p:cNvSpPr/>
          <p:nvPr/>
        </p:nvSpPr>
        <p:spPr>
          <a:xfrm>
            <a:off x="6548075" y="3590131"/>
            <a:ext cx="5034035"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Explain model behaviour</a:t>
            </a:r>
            <a:endParaRPr lang="en-US" sz="1400" dirty="0"/>
          </a:p>
        </p:txBody>
      </p:sp>
      <p:sp>
        <p:nvSpPr>
          <p:cNvPr id="24" name="Text 22"/>
          <p:cNvSpPr/>
          <p:nvPr/>
        </p:nvSpPr>
        <p:spPr>
          <a:xfrm>
            <a:off x="838179" y="4172347"/>
            <a:ext cx="10743931"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LEAKAGE PROTECTION</a:t>
            </a:r>
            <a:endParaRPr lang="en-US" sz="1050" dirty="0"/>
          </a:p>
        </p:txBody>
      </p:sp>
      <p:sp>
        <p:nvSpPr>
          <p:cNvPr id="25" name="Text 23"/>
          <p:cNvSpPr/>
          <p:nvPr/>
        </p:nvSpPr>
        <p:spPr>
          <a:xfrm>
            <a:off x="838179" y="4437063"/>
            <a:ext cx="10743931" cy="248841"/>
          </a:xfrm>
          <a:prstGeom prst="rect">
            <a:avLst/>
          </a:prstGeom>
          <a:noFill/>
          <a:ln/>
        </p:spPr>
        <p:txBody>
          <a:bodyPr wrap="none" lIns="0" tIns="0" rIns="0" bIns="0" rtlCol="0" anchor="t"/>
          <a:lstStyle/>
          <a:p>
            <a:pPr marL="0" indent="0" algn="l">
              <a:lnSpc>
                <a:spcPct val="117000"/>
              </a:lnSpc>
              <a:buNone/>
            </a:pPr>
            <a:r>
              <a:rPr lang="en-US" sz="1400" b="1" dirty="0">
                <a:solidFill>
                  <a:srgbClr val="2A313A"/>
                </a:solidFill>
                <a:latin typeface="Atkinson Hyperlegible Next Bold" pitchFamily="34" charset="0"/>
                <a:ea typeface="Atkinson Hyperlegible Next Bold" pitchFamily="34" charset="-122"/>
                <a:cs typeface="Atkinson Hyperlegible Next Bold" pitchFamily="34" charset="0"/>
              </a:rPr>
              <a:t>TRAIN</a:t>
            </a:r>
            <a:r>
              <a:rPr lang="en-US" sz="1400" dirty="0">
                <a:solidFill>
                  <a:srgbClr val="2A313A"/>
                </a:solidFill>
                <a:latin typeface="Atkinson Hyperlegible Next" pitchFamily="34" charset="0"/>
                <a:ea typeface="Atkinson Hyperlegible Next" pitchFamily="34" charset="-122"/>
                <a:cs typeface="Atkinson Hyperlegible Next" pitchFamily="34" charset="0"/>
              </a:rPr>
              <a:t> → </a:t>
            </a:r>
            <a:r>
              <a:rPr lang="en-US" sz="1400" b="1" dirty="0">
                <a:solidFill>
                  <a:srgbClr val="2A313A"/>
                </a:solidFill>
                <a:latin typeface="Atkinson Hyperlegible Next Bold" pitchFamily="34" charset="0"/>
                <a:ea typeface="Atkinson Hyperlegible Next Bold" pitchFamily="34" charset="-122"/>
                <a:cs typeface="Atkinson Hyperlegible Next Bold" pitchFamily="34" charset="0"/>
              </a:rPr>
              <a:t>VALIDATION</a:t>
            </a:r>
            <a:r>
              <a:rPr lang="en-US" sz="1400" dirty="0">
                <a:solidFill>
                  <a:srgbClr val="2A313A"/>
                </a:solidFill>
                <a:latin typeface="Atkinson Hyperlegible Next" pitchFamily="34" charset="0"/>
                <a:ea typeface="Atkinson Hyperlegible Next" pitchFamily="34" charset="-122"/>
                <a:cs typeface="Atkinson Hyperlegible Next" pitchFamily="34" charset="0"/>
              </a:rPr>
              <a:t> → </a:t>
            </a:r>
            <a:r>
              <a:rPr lang="en-US" sz="1400" b="1" dirty="0">
                <a:solidFill>
                  <a:srgbClr val="2A313A"/>
                </a:solidFill>
                <a:latin typeface="Atkinson Hyperlegible Next Bold" pitchFamily="34" charset="0"/>
                <a:ea typeface="Atkinson Hyperlegible Next Bold" pitchFamily="34" charset="-122"/>
                <a:cs typeface="Atkinson Hyperlegible Next Bold" pitchFamily="34" charset="0"/>
              </a:rPr>
              <a:t>TEST</a:t>
            </a:r>
            <a:endParaRPr lang="en-US" sz="1400" dirty="0"/>
          </a:p>
        </p:txBody>
      </p:sp>
      <p:sp>
        <p:nvSpPr>
          <p:cNvPr id="26" name="Text 24"/>
          <p:cNvSpPr/>
          <p:nvPr/>
        </p:nvSpPr>
        <p:spPr>
          <a:xfrm>
            <a:off x="838179" y="4793853"/>
            <a:ext cx="10743931" cy="188516"/>
          </a:xfrm>
          <a:prstGeom prst="rect">
            <a:avLst/>
          </a:prstGeom>
          <a:noFill/>
          <a:ln/>
        </p:spPr>
        <p:txBody>
          <a:bodyPr wrap="none" lIns="0" tIns="0" rIns="0" bIns="0" rtlCol="0" anchor="t"/>
          <a:lstStyle/>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No shuffling; test remains unseen; feature selection uses training only; hybrid selection uses validation only; final test is evaluation only.</a:t>
            </a:r>
            <a:endParaRPr lang="en-US" sz="1100" dirty="0"/>
          </a:p>
        </p:txBody>
      </p:sp>
      <p:pic>
        <p:nvPicPr>
          <p:cNvPr id="27"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28" name="Text 25"/>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29" name="Text 26"/>
          <p:cNvSpPr/>
          <p:nvPr/>
        </p:nvSpPr>
        <p:spPr>
          <a:xfrm>
            <a:off x="11419495" y="6406691"/>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03 / 09</a:t>
            </a:r>
            <a:endParaRPr lang="en-US" sz="950" dirty="0"/>
          </a:p>
        </p:txBody>
      </p:sp>
      <p:sp>
        <p:nvSpPr>
          <p:cNvPr id="31" name="Rectangle 30">
            <a:extLst>
              <a:ext uri="{FF2B5EF4-FFF2-40B4-BE49-F238E27FC236}">
                <a16:creationId xmlns:a16="http://schemas.microsoft.com/office/drawing/2014/main" id="{7BA40CDF-D6F5-A599-1C88-7B7E4C5A18CD}"/>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32118"/>
            <a:ext cx="10972526" cy="446980"/>
          </a:xfrm>
          <a:prstGeom prst="rect">
            <a:avLst/>
          </a:prstGeom>
          <a:noFill/>
          <a:ln/>
        </p:spPr>
        <p:txBody>
          <a:bodyPr wrap="none" lIns="0" tIns="0" rIns="0" bIns="0" rtlCol="0" anchor="t"/>
          <a:lstStyle/>
          <a:p>
            <a:pPr marL="0" indent="0" algn="l">
              <a:lnSpc>
                <a:spcPct val="92000"/>
              </a:lnSpc>
              <a:buNone/>
            </a:pPr>
            <a:r>
              <a:rPr lang="en-US" sz="3200" b="1" kern="100" spc="-32" dirty="0">
                <a:solidFill>
                  <a:srgbClr val="1A1F26"/>
                </a:solidFill>
                <a:latin typeface="B612 Bold" pitchFamily="34" charset="0"/>
                <a:ea typeface="B612 Bold" pitchFamily="34" charset="-122"/>
                <a:cs typeface="B612 Bold" pitchFamily="34" charset="0"/>
              </a:rPr>
              <a:t>Prescribed Dataset and Implemented Models</a:t>
            </a:r>
            <a:endParaRPr lang="en-US" sz="3200" dirty="0"/>
          </a:p>
        </p:txBody>
      </p:sp>
      <p:sp>
        <p:nvSpPr>
          <p:cNvPr id="3" name="Text 1"/>
          <p:cNvSpPr/>
          <p:nvPr/>
        </p:nvSpPr>
        <p:spPr>
          <a:xfrm>
            <a:off x="609585" y="1243905"/>
            <a:ext cx="4907137"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DATASET RECORD</a:t>
            </a:r>
            <a:endParaRPr lang="en-US" sz="1050" dirty="0"/>
          </a:p>
        </p:txBody>
      </p:sp>
      <p:sp>
        <p:nvSpPr>
          <p:cNvPr id="4" name="Text 2"/>
          <p:cNvSpPr/>
          <p:nvPr/>
        </p:nvSpPr>
        <p:spPr>
          <a:xfrm>
            <a:off x="609585" y="1489571"/>
            <a:ext cx="4907137"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Actual NN5-001 experiment</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007096"/>
          <a:ext cx="5089894" cy="2904506"/>
        </p:xfrm>
        <a:graphic>
          <a:graphicData uri="http://schemas.openxmlformats.org/drawingml/2006/table">
            <a:tbl>
              <a:tblPr/>
              <a:tblGrid>
                <a:gridCol w="1306877">
                  <a:extLst>
                    <a:ext uri="{9D8B030D-6E8A-4147-A177-3AD203B41FA5}">
                      <a16:colId xmlns:a16="http://schemas.microsoft.com/office/drawing/2014/main" val="20000"/>
                    </a:ext>
                  </a:extLst>
                </a:gridCol>
                <a:gridCol w="3783017">
                  <a:extLst>
                    <a:ext uri="{9D8B030D-6E8A-4147-A177-3AD203B41FA5}">
                      <a16:colId xmlns:a16="http://schemas.microsoft.com/office/drawing/2014/main" val="20001"/>
                    </a:ext>
                  </a:extLst>
                </a:gridCol>
              </a:tblGrid>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File</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NN5_FINAL_DATASET_WITH_TEST_DATA.xlsx</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extLst>
                  <a:ext uri="{0D108BD9-81ED-4DB2-BD59-A6C34878D82A}">
                    <a16:rowId xmlns:a16="http://schemas.microsoft.com/office/drawing/2014/main" val="10000"/>
                  </a:ext>
                </a:extLst>
              </a:tr>
              <a:tr h="646096">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Frequency</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Daily · 791 observations · seasonal period = 7</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extLst>
                  <a:ext uri="{0D108BD9-81ED-4DB2-BD59-A6C34878D82A}">
                    <a16:rowId xmlns:a16="http://schemas.microsoft.com/office/drawing/2014/main" val="10001"/>
                  </a:ext>
                </a:extLst>
              </a:tr>
              <a:tr h="646096">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Split</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Train = 596 | Validation = 106 | Final test = 56</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extLst>
                  <a:ext uri="{0D108BD9-81ED-4DB2-BD59-A6C34878D82A}">
                    <a16:rowId xmlns:a16="http://schemas.microsoft.com/office/drawing/2014/main" val="10002"/>
                  </a:ext>
                </a:extLst>
              </a:tr>
              <a:tr h="646096">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Test period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23 Mar 1998 – 17 May 1998</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C2CCD5"/>
                      </a:solidFill>
                      <a:prstDash val="solid"/>
                      <a:round/>
                      <a:headEnd type="none" w="med" len="med"/>
                      <a:tailEnd type="none" w="med" len="med"/>
                    </a:lnB>
                  </a:tcPr>
                </a:tc>
                <a:extLst>
                  <a:ext uri="{0D108BD9-81ED-4DB2-BD59-A6C34878D82A}">
                    <a16:rowId xmlns:a16="http://schemas.microsoft.com/office/drawing/2014/main" val="10003"/>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Demand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F7F8F5"/>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CV ≈ 0.42 · zero-demand ≈ 0.6%</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C2CCD5"/>
                      </a:solidFill>
                      <a:prstDash val="solid"/>
                      <a:round/>
                      <a:headEnd type="none" w="med" len="med"/>
                      <a:tailEnd type="none" w="med" len="med"/>
                    </a:lnT>
                    <a:lnB w="12700" cap="flat" cmpd="sng" algn="ctr">
                      <a:solidFill>
                        <a:srgbClr val="F7F8F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973811" y="1243905"/>
            <a:ext cx="5608299"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IMPLEMENTED MODELS</a:t>
            </a:r>
            <a:endParaRPr lang="en-US" sz="1050" dirty="0"/>
          </a:p>
        </p:txBody>
      </p:sp>
      <p:sp>
        <p:nvSpPr>
          <p:cNvPr id="7" name="Text 4"/>
          <p:cNvSpPr/>
          <p:nvPr/>
        </p:nvSpPr>
        <p:spPr>
          <a:xfrm>
            <a:off x="5973811" y="1489571"/>
            <a:ext cx="5608299"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Baselines, ML and hybrids</a:t>
            </a:r>
            <a:endParaRPr lang="en-US" sz="2500" dirty="0"/>
          </a:p>
        </p:txBody>
      </p:sp>
      <p:sp>
        <p:nvSpPr>
          <p:cNvPr id="8" name="Shape 5"/>
          <p:cNvSpPr/>
          <p:nvPr/>
        </p:nvSpPr>
        <p:spPr>
          <a:xfrm>
            <a:off x="5973811" y="2007096"/>
            <a:ext cx="1666238" cy="2578795"/>
          </a:xfrm>
          <a:prstGeom prst="roundRect">
            <a:avLst>
              <a:gd name="adj" fmla="val 4573"/>
            </a:avLst>
          </a:prstGeom>
          <a:noFill/>
          <a:ln w="12700">
            <a:solidFill>
              <a:srgbClr val="1A1F26"/>
            </a:solidFill>
            <a:prstDash val="solid"/>
          </a:ln>
        </p:spPr>
      </p:sp>
      <p:sp>
        <p:nvSpPr>
          <p:cNvPr id="9" name="Text 6"/>
          <p:cNvSpPr/>
          <p:nvPr/>
        </p:nvSpPr>
        <p:spPr>
          <a:xfrm>
            <a:off x="6215105" y="2255064"/>
            <a:ext cx="1183650" cy="220960"/>
          </a:xfrm>
          <a:prstGeom prst="rect">
            <a:avLst/>
          </a:prstGeom>
          <a:noFill/>
          <a:ln/>
        </p:spPr>
        <p:txBody>
          <a:bodyPr wrap="none" lIns="0" tIns="0" rIns="0" bIns="0" rtlCol="0" anchor="t"/>
          <a:lstStyle/>
          <a:p>
            <a:pPr marL="0" indent="0" algn="l">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0"/>
              </a:rPr>
              <a:t>Baselines</a:t>
            </a:r>
            <a:endParaRPr lang="en-US" sz="1450" dirty="0"/>
          </a:p>
        </p:txBody>
      </p:sp>
      <p:sp>
        <p:nvSpPr>
          <p:cNvPr id="10" name="Text 7"/>
          <p:cNvSpPr/>
          <p:nvPr/>
        </p:nvSpPr>
        <p:spPr>
          <a:xfrm>
            <a:off x="6215105" y="2602706"/>
            <a:ext cx="1183650"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Naive</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Seasonal Naive</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Holt-Winters</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AutoReg</a:t>
            </a:r>
            <a:endParaRPr lang="en-US" sz="1400" dirty="0"/>
          </a:p>
        </p:txBody>
      </p:sp>
      <p:sp>
        <p:nvSpPr>
          <p:cNvPr id="11" name="Shape 8"/>
          <p:cNvSpPr/>
          <p:nvPr/>
        </p:nvSpPr>
        <p:spPr>
          <a:xfrm>
            <a:off x="7944842" y="2007096"/>
            <a:ext cx="1666238" cy="2578795"/>
          </a:xfrm>
          <a:prstGeom prst="roundRect">
            <a:avLst>
              <a:gd name="adj" fmla="val 4573"/>
            </a:avLst>
          </a:prstGeom>
          <a:noFill/>
          <a:ln w="12700">
            <a:solidFill>
              <a:srgbClr val="1A1F26"/>
            </a:solidFill>
            <a:prstDash val="solid"/>
          </a:ln>
        </p:spPr>
      </p:sp>
      <p:sp>
        <p:nvSpPr>
          <p:cNvPr id="12" name="Text 9"/>
          <p:cNvSpPr/>
          <p:nvPr/>
        </p:nvSpPr>
        <p:spPr>
          <a:xfrm>
            <a:off x="8186136" y="2255064"/>
            <a:ext cx="1183650" cy="220960"/>
          </a:xfrm>
          <a:prstGeom prst="rect">
            <a:avLst/>
          </a:prstGeom>
          <a:noFill/>
          <a:ln/>
        </p:spPr>
        <p:txBody>
          <a:bodyPr wrap="none" lIns="0" tIns="0" rIns="0" bIns="0" rtlCol="0" anchor="t"/>
          <a:lstStyle/>
          <a:p>
            <a:pPr marL="0" indent="0" algn="l">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0"/>
              </a:rPr>
              <a:t>ML</a:t>
            </a:r>
            <a:endParaRPr lang="en-US" sz="1450" dirty="0"/>
          </a:p>
        </p:txBody>
      </p:sp>
      <p:sp>
        <p:nvSpPr>
          <p:cNvPr id="13" name="Text 10"/>
          <p:cNvSpPr/>
          <p:nvPr/>
        </p:nvSpPr>
        <p:spPr>
          <a:xfrm>
            <a:off x="8186136" y="2602706"/>
            <a:ext cx="1183650"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RF Basic</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RF All Features</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RF Selected Features</a:t>
            </a:r>
            <a:endParaRPr lang="en-US" sz="1400" dirty="0"/>
          </a:p>
        </p:txBody>
      </p:sp>
      <p:sp>
        <p:nvSpPr>
          <p:cNvPr id="14" name="Shape 11"/>
          <p:cNvSpPr/>
          <p:nvPr/>
        </p:nvSpPr>
        <p:spPr>
          <a:xfrm>
            <a:off x="9915872" y="2007096"/>
            <a:ext cx="1666238" cy="2578795"/>
          </a:xfrm>
          <a:prstGeom prst="roundRect">
            <a:avLst>
              <a:gd name="adj" fmla="val 4573"/>
            </a:avLst>
          </a:prstGeom>
          <a:solidFill>
            <a:srgbClr val="E8E5FA"/>
          </a:solidFill>
          <a:ln w="12700">
            <a:solidFill>
              <a:srgbClr val="4C3BCF"/>
            </a:solidFill>
            <a:prstDash val="solid"/>
          </a:ln>
        </p:spPr>
      </p:sp>
      <p:sp>
        <p:nvSpPr>
          <p:cNvPr id="15" name="Text 12"/>
          <p:cNvSpPr/>
          <p:nvPr/>
        </p:nvSpPr>
        <p:spPr>
          <a:xfrm>
            <a:off x="10157166" y="2255064"/>
            <a:ext cx="1183650" cy="220960"/>
          </a:xfrm>
          <a:prstGeom prst="rect">
            <a:avLst/>
          </a:prstGeom>
          <a:noFill/>
          <a:ln/>
        </p:spPr>
        <p:txBody>
          <a:bodyPr wrap="none" lIns="0" tIns="0" rIns="0" bIns="0" rtlCol="0" anchor="t"/>
          <a:lstStyle/>
          <a:p>
            <a:pPr marL="0" indent="0" algn="l">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0"/>
              </a:rPr>
              <a:t>Hybrids</a:t>
            </a:r>
            <a:endParaRPr lang="en-US" sz="1450" dirty="0"/>
          </a:p>
        </p:txBody>
      </p:sp>
      <p:sp>
        <p:nvSpPr>
          <p:cNvPr id="16" name="Text 13"/>
          <p:cNvSpPr/>
          <p:nvPr/>
        </p:nvSpPr>
        <p:spPr>
          <a:xfrm>
            <a:off x="10157166" y="2602706"/>
            <a:ext cx="1183650" cy="1741884"/>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H1 Equal Blend</a:t>
            </a:r>
            <a:endParaRPr lang="en-US" sz="1400" dirty="0"/>
          </a:p>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H2 Validation-Optimized Blend</a:t>
            </a:r>
            <a:endParaRPr lang="en-US" sz="1400" dirty="0"/>
          </a:p>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H3 Proposed DCRF Residual Hybrid</a:t>
            </a:r>
            <a:endParaRPr lang="en-US" sz="1400" dirty="0"/>
          </a:p>
        </p:txBody>
      </p:sp>
      <p:sp>
        <p:nvSpPr>
          <p:cNvPr id="17" name="Shape 14"/>
          <p:cNvSpPr/>
          <p:nvPr/>
        </p:nvSpPr>
        <p:spPr>
          <a:xfrm>
            <a:off x="5973811" y="4763691"/>
            <a:ext cx="5608299" cy="942181"/>
          </a:xfrm>
          <a:prstGeom prst="roundRect">
            <a:avLst>
              <a:gd name="adj" fmla="val 1213"/>
            </a:avLst>
          </a:prstGeom>
          <a:solidFill>
            <a:srgbClr val="FCF2B5"/>
          </a:solidFill>
          <a:ln/>
        </p:spPr>
      </p:sp>
      <p:sp>
        <p:nvSpPr>
          <p:cNvPr id="18" name="Text 15"/>
          <p:cNvSpPr/>
          <p:nvPr/>
        </p:nvSpPr>
        <p:spPr>
          <a:xfrm>
            <a:off x="6151607" y="4985941"/>
            <a:ext cx="5252708" cy="497681"/>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Atkinson Hyperlegible Next Bold" pitchFamily="34" charset="0"/>
                <a:ea typeface="Atkinson Hyperlegible Next Bold" pitchFamily="34" charset="-122"/>
                <a:cs typeface="Atkinson Hyperlegible Next Bold" pitchFamily="34" charset="0"/>
              </a:rPr>
              <a:t>Scope note:</a:t>
            </a:r>
            <a:r>
              <a:rPr lang="en-US" sz="1400" dirty="0">
                <a:solidFill>
                  <a:srgbClr val="000000"/>
                </a:solidFill>
                <a:latin typeface="Atkinson Hyperlegible Next" pitchFamily="34" charset="0"/>
                <a:ea typeface="Atkinson Hyperlegible Next" pitchFamily="34" charset="-122"/>
                <a:cs typeface="Atkinson Hyperlegible Next" pitchFamily="34" charset="0"/>
              </a:rPr>
              <a:t> only the supplied NN5-001 run is verified; do not claim all five benchmark datasets were executed.</a:t>
            </a:r>
            <a:endParaRPr lang="en-US" sz="1400" dirty="0"/>
          </a:p>
        </p:txBody>
      </p:sp>
      <p:pic>
        <p:nvPicPr>
          <p:cNvPr id="19"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20" name="Text 16"/>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21" name="Text 17"/>
          <p:cNvSpPr/>
          <p:nvPr/>
        </p:nvSpPr>
        <p:spPr>
          <a:xfrm>
            <a:off x="11419495" y="6438181"/>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04 / 09</a:t>
            </a:r>
            <a:endParaRPr lang="en-US" sz="950" dirty="0"/>
          </a:p>
        </p:txBody>
      </p:sp>
      <p:sp>
        <p:nvSpPr>
          <p:cNvPr id="23" name="Rectangle 22">
            <a:extLst>
              <a:ext uri="{FF2B5EF4-FFF2-40B4-BE49-F238E27FC236}">
                <a16:creationId xmlns:a16="http://schemas.microsoft.com/office/drawing/2014/main" id="{B153B841-B94F-1F8D-5AE3-821DB91FFC0F}"/>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32118"/>
            <a:ext cx="10972526" cy="446980"/>
          </a:xfrm>
          <a:prstGeom prst="rect">
            <a:avLst/>
          </a:prstGeom>
          <a:noFill/>
          <a:ln/>
        </p:spPr>
        <p:txBody>
          <a:bodyPr wrap="none" lIns="0" tIns="0" rIns="0" bIns="0" rtlCol="0" anchor="t"/>
          <a:lstStyle/>
          <a:p>
            <a:pPr marL="0" indent="0" algn="l">
              <a:lnSpc>
                <a:spcPct val="92000"/>
              </a:lnSpc>
              <a:buNone/>
            </a:pPr>
            <a:r>
              <a:rPr lang="en-US" sz="3200" b="1" kern="100" spc="-32" dirty="0">
                <a:solidFill>
                  <a:srgbClr val="1A1F26"/>
                </a:solidFill>
                <a:latin typeface="B612 Bold" pitchFamily="34" charset="0"/>
                <a:ea typeface="B612 Bold" pitchFamily="34" charset="-122"/>
                <a:cs typeface="B612 Bold" pitchFamily="34" charset="0"/>
              </a:rPr>
              <a:t>Feature Selection and Multiple Hybrid Candidates</a:t>
            </a:r>
            <a:endParaRPr lang="en-US" sz="3200" dirty="0"/>
          </a:p>
        </p:txBody>
      </p:sp>
      <p:sp>
        <p:nvSpPr>
          <p:cNvPr id="3" name="Text 1"/>
          <p:cNvSpPr/>
          <p:nvPr/>
        </p:nvSpPr>
        <p:spPr>
          <a:xfrm>
            <a:off x="609585" y="1243905"/>
            <a:ext cx="420607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FEATURE SELECTION</a:t>
            </a:r>
            <a:endParaRPr lang="en-US" sz="1050" dirty="0"/>
          </a:p>
        </p:txBody>
      </p:sp>
      <p:sp>
        <p:nvSpPr>
          <p:cNvPr id="4" name="Text 2"/>
          <p:cNvSpPr/>
          <p:nvPr/>
        </p:nvSpPr>
        <p:spPr>
          <a:xfrm>
            <a:off x="609585" y="1489571"/>
            <a:ext cx="4206075" cy="698500"/>
          </a:xfrm>
          <a:prstGeom prst="rect">
            <a:avLst/>
          </a:prstGeom>
          <a:noFill/>
          <a:ln/>
        </p:spPr>
        <p:txBody>
          <a:bodyPr wrap="square" lIns="0" tIns="0" rIns="0" bIns="0" rtlCol="0" anchor="t">
            <a:normAutofit/>
          </a:bodyPr>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Training-only selection focuses the RF</a:t>
            </a:r>
            <a:endParaRPr lang="en-US" sz="2500" dirty="0"/>
          </a:p>
        </p:txBody>
      </p:sp>
      <p:sp>
        <p:nvSpPr>
          <p:cNvPr id="5" name="Text 3"/>
          <p:cNvSpPr/>
          <p:nvPr/>
        </p:nvSpPr>
        <p:spPr>
          <a:xfrm>
            <a:off x="609585" y="2356346"/>
            <a:ext cx="420607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17 candidate features → 14 after correlation filtering → 8 selected features</a:t>
            </a:r>
            <a:endParaRPr lang="en-US" sz="1400" dirty="0"/>
          </a:p>
        </p:txBody>
      </p:sp>
      <p:sp>
        <p:nvSpPr>
          <p:cNvPr id="6" name="Text 4"/>
          <p:cNvSpPr/>
          <p:nvPr/>
        </p:nvSpPr>
        <p:spPr>
          <a:xfrm>
            <a:off x="609585" y="2965152"/>
            <a:ext cx="420607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SELECTED TEMPORAL SIGNALS</a:t>
            </a:r>
            <a:endParaRPr lang="en-US" sz="1050" dirty="0"/>
          </a:p>
        </p:txBody>
      </p:sp>
      <p:sp>
        <p:nvSpPr>
          <p:cNvPr id="7" name="Text 5"/>
          <p:cNvSpPr/>
          <p:nvPr/>
        </p:nvSpPr>
        <p:spPr>
          <a:xfrm>
            <a:off x="609585" y="3229868"/>
            <a:ext cx="420607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lag_7, lag_28, lag_14, lag_1</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change_1, change_7, growth_7, rolling_std_7</a:t>
            </a:r>
            <a:endParaRPr lang="en-US" sz="1400" dirty="0"/>
          </a:p>
        </p:txBody>
      </p:sp>
      <p:sp>
        <p:nvSpPr>
          <p:cNvPr id="8" name="Text 6"/>
          <p:cNvSpPr/>
          <p:nvPr/>
        </p:nvSpPr>
        <p:spPr>
          <a:xfrm>
            <a:off x="609585" y="3835499"/>
            <a:ext cx="4206075" cy="188516"/>
          </a:xfrm>
          <a:prstGeom prst="rect">
            <a:avLst/>
          </a:prstGeom>
          <a:noFill/>
          <a:ln/>
        </p:spPr>
        <p:txBody>
          <a:bodyPr wrap="none" lIns="0" tIns="0" rIns="0" bIns="0" rtlCol="0" anchor="t"/>
          <a:lstStyle/>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Selection was fitted using training data only.</a:t>
            </a:r>
            <a:endParaRPr lang="en-US" sz="1100" dirty="0"/>
          </a:p>
        </p:txBody>
      </p:sp>
      <p:sp>
        <p:nvSpPr>
          <p:cNvPr id="9" name="Text 7"/>
          <p:cNvSpPr/>
          <p:nvPr/>
        </p:nvSpPr>
        <p:spPr>
          <a:xfrm>
            <a:off x="5272749" y="1243905"/>
            <a:ext cx="6309361"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MULTIPLE HYBRID CANDIDATES</a:t>
            </a:r>
            <a:endParaRPr lang="en-US" sz="1050" dirty="0"/>
          </a:p>
        </p:txBody>
      </p:sp>
      <p:sp>
        <p:nvSpPr>
          <p:cNvPr id="10" name="Text 8"/>
          <p:cNvSpPr/>
          <p:nvPr/>
        </p:nvSpPr>
        <p:spPr>
          <a:xfrm>
            <a:off x="5272749" y="1489571"/>
            <a:ext cx="6309361"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Different correction ideas were tested</a:t>
            </a:r>
            <a:endParaRPr lang="en-US" sz="2500" dirty="0"/>
          </a:p>
        </p:txBody>
      </p:sp>
      <p:sp>
        <p:nvSpPr>
          <p:cNvPr id="11" name="Text 9"/>
          <p:cNvSpPr/>
          <p:nvPr/>
        </p:nvSpPr>
        <p:spPr>
          <a:xfrm>
            <a:off x="5272749" y="2247999"/>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01</a:t>
            </a:r>
            <a:endParaRPr lang="en-US" sz="1400" dirty="0"/>
          </a:p>
        </p:txBody>
      </p:sp>
      <p:sp>
        <p:nvSpPr>
          <p:cNvPr id="12" name="Text 10"/>
          <p:cNvSpPr/>
          <p:nvPr/>
        </p:nvSpPr>
        <p:spPr>
          <a:xfrm>
            <a:off x="5681719" y="2242364"/>
            <a:ext cx="5900391" cy="220960"/>
          </a:xfrm>
          <a:prstGeom prst="rect">
            <a:avLst/>
          </a:prstGeom>
          <a:noFill/>
          <a:ln/>
        </p:spPr>
        <p:txBody>
          <a:bodyPr wrap="none" lIns="0" tIns="0" rIns="0" bIns="0" rtlCol="0" anchor="t"/>
          <a:lstStyle/>
          <a:p>
            <a:pPr marL="0" indent="0" algn="l">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0"/>
              </a:rPr>
              <a:t>H1 · Equal blend</a:t>
            </a:r>
            <a:endParaRPr lang="en-US" sz="1450" dirty="0"/>
          </a:p>
        </p:txBody>
      </p:sp>
      <p:sp>
        <p:nvSpPr>
          <p:cNvPr id="13" name="Text 11"/>
          <p:cNvSpPr/>
          <p:nvPr/>
        </p:nvSpPr>
        <p:spPr>
          <a:xfrm>
            <a:off x="5681719" y="2590006"/>
            <a:ext cx="5900391"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0.5 RF Selected + 0.5 Seasonal Naive</a:t>
            </a:r>
            <a:endParaRPr lang="en-US" sz="1400" dirty="0"/>
          </a:p>
        </p:txBody>
      </p:sp>
      <p:sp>
        <p:nvSpPr>
          <p:cNvPr id="14" name="Text 12"/>
          <p:cNvSpPr/>
          <p:nvPr/>
        </p:nvSpPr>
        <p:spPr>
          <a:xfrm>
            <a:off x="5272749" y="3308350"/>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02</a:t>
            </a:r>
            <a:endParaRPr lang="en-US" sz="1400" dirty="0"/>
          </a:p>
        </p:txBody>
      </p:sp>
      <p:sp>
        <p:nvSpPr>
          <p:cNvPr id="15" name="Text 13"/>
          <p:cNvSpPr/>
          <p:nvPr/>
        </p:nvSpPr>
        <p:spPr>
          <a:xfrm>
            <a:off x="5681719" y="3302714"/>
            <a:ext cx="5900391" cy="220960"/>
          </a:xfrm>
          <a:prstGeom prst="rect">
            <a:avLst/>
          </a:prstGeom>
          <a:noFill/>
          <a:ln/>
        </p:spPr>
        <p:txBody>
          <a:bodyPr wrap="none" lIns="0" tIns="0" rIns="0" bIns="0" rtlCol="0" anchor="t"/>
          <a:lstStyle/>
          <a:p>
            <a:pPr marL="0" indent="0" algn="l">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0"/>
              </a:rPr>
              <a:t>H2 · Optimized blend</a:t>
            </a:r>
            <a:endParaRPr lang="en-US" sz="1450" dirty="0"/>
          </a:p>
        </p:txBody>
      </p:sp>
      <p:sp>
        <p:nvSpPr>
          <p:cNvPr id="16" name="Text 14"/>
          <p:cNvSpPr/>
          <p:nvPr/>
        </p:nvSpPr>
        <p:spPr>
          <a:xfrm>
            <a:off x="5681719" y="3650357"/>
            <a:ext cx="5900391" cy="248841"/>
          </a:xfrm>
          <a:prstGeom prst="rect">
            <a:avLst/>
          </a:prstGeom>
          <a:noFill/>
          <a:ln/>
        </p:spPr>
        <p:txBody>
          <a:bodyPr wrap="none" lIns="0" tIns="0" rIns="0" bIns="0" rtlCol="0" anchor="t"/>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Validation-optimized RF Selected + Seasonal Naive blend</a:t>
            </a:r>
            <a:endParaRPr lang="en-US" sz="1400" dirty="0"/>
          </a:p>
        </p:txBody>
      </p:sp>
      <p:sp>
        <p:nvSpPr>
          <p:cNvPr id="17" name="Shape 15"/>
          <p:cNvSpPr/>
          <p:nvPr/>
        </p:nvSpPr>
        <p:spPr>
          <a:xfrm>
            <a:off x="5272749" y="4127798"/>
            <a:ext cx="6309361" cy="1309191"/>
          </a:xfrm>
          <a:custGeom>
            <a:avLst/>
            <a:gdLst/>
            <a:ahLst/>
            <a:cxnLst/>
            <a:rect l="l" t="t" r="r" b="b"/>
            <a:pathLst>
              <a:path w="6309361" h="1309191">
                <a:moveTo>
                  <a:pt x="0" y="0"/>
                </a:moveTo>
                <a:lnTo>
                  <a:pt x="6309361" y="0"/>
                </a:lnTo>
                <a:lnTo>
                  <a:pt x="6309361" y="1299666"/>
                </a:lnTo>
                <a:arcTo wR="9525" hR="9525" stAng="0" swAng="5400000"/>
                <a:lnTo>
                  <a:pt x="9525" y="1309191"/>
                </a:lnTo>
                <a:arcTo wR="9525" hR="9525" stAng="5400000" swAng="5400000"/>
                <a:lnTo>
                  <a:pt x="0" y="0"/>
                </a:lnTo>
                <a:close/>
              </a:path>
            </a:pathLst>
          </a:custGeom>
          <a:solidFill>
            <a:srgbClr val="E8E5FA"/>
          </a:solidFill>
          <a:ln/>
        </p:spPr>
      </p:sp>
      <p:sp>
        <p:nvSpPr>
          <p:cNvPr id="18" name="Text 16"/>
          <p:cNvSpPr/>
          <p:nvPr/>
        </p:nvSpPr>
        <p:spPr>
          <a:xfrm>
            <a:off x="5501344" y="4368701"/>
            <a:ext cx="840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B612 Mono" pitchFamily="34" charset="0"/>
                <a:ea typeface="B612 Mono" pitchFamily="34" charset="-122"/>
                <a:cs typeface="B612 Mono" pitchFamily="34" charset="0"/>
              </a:rPr>
              <a:t>03</a:t>
            </a:r>
            <a:endParaRPr lang="en-US" sz="1400" dirty="0"/>
          </a:p>
        </p:txBody>
      </p:sp>
      <p:sp>
        <p:nvSpPr>
          <p:cNvPr id="19" name="Text 17"/>
          <p:cNvSpPr/>
          <p:nvPr/>
        </p:nvSpPr>
        <p:spPr>
          <a:xfrm>
            <a:off x="5910313" y="4363065"/>
            <a:ext cx="5443203" cy="220960"/>
          </a:xfrm>
          <a:prstGeom prst="rect">
            <a:avLst/>
          </a:prstGeom>
          <a:noFill/>
          <a:ln/>
        </p:spPr>
        <p:txBody>
          <a:bodyPr wrap="none" lIns="0" tIns="0" rIns="0" bIns="0" rtlCol="0" anchor="t"/>
          <a:lstStyle/>
          <a:p>
            <a:pPr marL="0" indent="0" algn="l">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0"/>
              </a:rPr>
              <a:t>H3 · Proposed DCRF</a:t>
            </a:r>
            <a:endParaRPr lang="en-US" sz="1450" dirty="0"/>
          </a:p>
        </p:txBody>
      </p:sp>
      <p:sp>
        <p:nvSpPr>
          <p:cNvPr id="20" name="Text 18"/>
          <p:cNvSpPr/>
          <p:nvPr/>
        </p:nvSpPr>
        <p:spPr>
          <a:xfrm>
            <a:off x="5910313" y="4710708"/>
            <a:ext cx="5443203"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Seasonal Naive → residual calculation → RF residual correction → final forecast</a:t>
            </a:r>
            <a:endParaRPr lang="en-US" sz="1400" dirty="0"/>
          </a:p>
        </p:txBody>
      </p:sp>
      <p:sp>
        <p:nvSpPr>
          <p:cNvPr id="21" name="Text 19"/>
          <p:cNvSpPr/>
          <p:nvPr/>
        </p:nvSpPr>
        <p:spPr>
          <a:xfrm>
            <a:off x="5272749" y="5544939"/>
            <a:ext cx="6309361" cy="188516"/>
          </a:xfrm>
          <a:prstGeom prst="rect">
            <a:avLst/>
          </a:prstGeom>
          <a:noFill/>
          <a:ln/>
        </p:spPr>
        <p:txBody>
          <a:bodyPr wrap="none" lIns="0" tIns="0" rIns="0" bIns="0" rtlCol="0" anchor="t"/>
          <a:lstStyle/>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Multiple hybrid combinations were implemented and evaluated before final selection.</a:t>
            </a:r>
            <a:endParaRPr lang="en-US" sz="1100" dirty="0"/>
          </a:p>
        </p:txBody>
      </p:sp>
      <p:sp>
        <p:nvSpPr>
          <p:cNvPr id="22" name="Shape 20"/>
          <p:cNvSpPr/>
          <p:nvPr/>
        </p:nvSpPr>
        <p:spPr>
          <a:xfrm>
            <a:off x="5272749" y="3061097"/>
            <a:ext cx="6309361" cy="12700"/>
          </a:xfrm>
          <a:prstGeom prst="rect">
            <a:avLst/>
          </a:prstGeom>
          <a:solidFill>
            <a:srgbClr val="C2CCD5"/>
          </a:solidFill>
          <a:ln/>
        </p:spPr>
      </p:sp>
      <p:sp>
        <p:nvSpPr>
          <p:cNvPr id="23" name="Shape 21"/>
          <p:cNvSpPr/>
          <p:nvPr/>
        </p:nvSpPr>
        <p:spPr>
          <a:xfrm>
            <a:off x="5272749" y="4121448"/>
            <a:ext cx="6309361" cy="12700"/>
          </a:xfrm>
          <a:prstGeom prst="rect">
            <a:avLst/>
          </a:prstGeom>
          <a:solidFill>
            <a:srgbClr val="C2CCD5"/>
          </a:solidFill>
          <a:ln/>
        </p:spPr>
      </p:sp>
      <p:pic>
        <p:nvPicPr>
          <p:cNvPr id="24"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25" name="Text 22"/>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26" name="Text 23"/>
          <p:cNvSpPr/>
          <p:nvPr/>
        </p:nvSpPr>
        <p:spPr>
          <a:xfrm>
            <a:off x="11394629" y="6405265"/>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05 / 09</a:t>
            </a:r>
            <a:endParaRPr lang="en-US" sz="950" dirty="0"/>
          </a:p>
        </p:txBody>
      </p:sp>
      <p:sp>
        <p:nvSpPr>
          <p:cNvPr id="28" name="Rectangle 27">
            <a:extLst>
              <a:ext uri="{FF2B5EF4-FFF2-40B4-BE49-F238E27FC236}">
                <a16:creationId xmlns:a16="http://schemas.microsoft.com/office/drawing/2014/main" id="{0333F94C-8BE7-745A-2463-49B2A250CE79}"/>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VALIDATION → UNSEEN TEST</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Validation selected H2; H3 had the lowest observed test MAE</a:t>
            </a:r>
            <a:endParaRPr lang="en-US" sz="2500" dirty="0"/>
          </a:p>
        </p:txBody>
      </p:sp>
      <p:sp>
        <p:nvSpPr>
          <p:cNvPr id="4" name="Text 2"/>
          <p:cNvSpPr/>
          <p:nvPr/>
        </p:nvSpPr>
        <p:spPr>
          <a:xfrm>
            <a:off x="609585" y="1379141"/>
            <a:ext cx="701022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FINAL UNSEEN-TEST MAE BY MODEL</a:t>
            </a:r>
            <a:endParaRPr lang="en-US" sz="1050" dirty="0"/>
          </a:p>
        </p:txBody>
      </p:sp>
      <p:pic>
        <p:nvPicPr>
          <p:cNvPr id="5" name="Image 0" descr="preencoded.png"/>
          <p:cNvPicPr>
            <a:picLocks noChangeAspect="1"/>
          </p:cNvPicPr>
          <p:nvPr/>
        </p:nvPicPr>
        <p:blipFill>
          <a:blip r:embed="rId3"/>
          <a:stretch>
            <a:fillRect/>
          </a:stretch>
        </p:blipFill>
        <p:spPr>
          <a:xfrm>
            <a:off x="609585" y="1643856"/>
            <a:ext cx="7010225" cy="3505200"/>
          </a:xfrm>
          <a:prstGeom prst="rect">
            <a:avLst/>
          </a:prstGeom>
        </p:spPr>
      </p:pic>
      <p:sp>
        <p:nvSpPr>
          <p:cNvPr id="6" name="Text 3"/>
          <p:cNvSpPr/>
          <p:nvPr/>
        </p:nvSpPr>
        <p:spPr>
          <a:xfrm>
            <a:off x="8305592" y="1592858"/>
            <a:ext cx="3276518"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VALIDATION CANDIDATE COMPARISON</a:t>
            </a:r>
            <a:endParaRPr lang="en-US" sz="1050" dirty="0"/>
          </a:p>
        </p:txBody>
      </p:sp>
      <p:sp>
        <p:nvSpPr>
          <p:cNvPr id="7" name="Text 4"/>
          <p:cNvSpPr/>
          <p:nvPr/>
        </p:nvSpPr>
        <p:spPr>
          <a:xfrm>
            <a:off x="8305592" y="1857573"/>
            <a:ext cx="3047924" cy="1211263"/>
          </a:xfrm>
          <a:prstGeom prst="rect">
            <a:avLst/>
          </a:prstGeom>
          <a:noFill/>
          <a:ln/>
        </p:spPr>
        <p:txBody>
          <a:bodyPr wrap="square" lIns="0" tIns="0" rIns="0" bIns="0" rtlCol="0" anchor="t">
            <a:normAutofit/>
          </a:bodyPr>
          <a:lstStyle/>
          <a:p>
            <a:pPr marL="0" indent="0" algn="l">
              <a:lnSpc>
                <a:spcPct val="117000"/>
              </a:lnSpc>
              <a:spcAft>
                <a:spcPts val="800"/>
              </a:spcAft>
              <a:buNone/>
            </a:pPr>
            <a:r>
              <a:rPr lang="en-US" sz="1400" b="1" dirty="0">
                <a:solidFill>
                  <a:srgbClr val="2A313A"/>
                </a:solidFill>
                <a:latin typeface="Atkinson Hyperlegible Next Bold" pitchFamily="34" charset="0"/>
                <a:ea typeface="Atkinson Hyperlegible Next Bold" pitchFamily="34" charset="-122"/>
                <a:cs typeface="Atkinson Hyperlegible Next Bold" pitchFamily="34" charset="0"/>
              </a:rPr>
              <a:t>H2 = 6.671429 MAE</a:t>
            </a:r>
            <a:r>
              <a:rPr lang="en-US" sz="1400" dirty="0">
                <a:solidFill>
                  <a:srgbClr val="2A313A"/>
                </a:solidFill>
                <a:latin typeface="Atkinson Hyperlegible Next" pitchFamily="34" charset="0"/>
                <a:ea typeface="Atkinson Hyperlegible Next" pitchFamily="34" charset="-122"/>
                <a:cs typeface="Atkinson Hyperlegible Next" pitchFamily="34" charset="0"/>
              </a:rPr>
              <a:t> — validation winner</a:t>
            </a:r>
            <a:endParaRPr lang="en-US" sz="1400" dirty="0"/>
          </a:p>
          <a:p>
            <a:pPr marL="0" indent="0" algn="l">
              <a:lnSpc>
                <a:spcPct val="117000"/>
              </a:lnSpc>
              <a:spcAft>
                <a:spcPts val="800"/>
              </a:spcAft>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H3 = 6.813035 MAE</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H1 = 6.844132 MAE</a:t>
            </a:r>
            <a:endParaRPr lang="en-US" sz="1400" dirty="0"/>
          </a:p>
        </p:txBody>
      </p:sp>
      <p:sp>
        <p:nvSpPr>
          <p:cNvPr id="8" name="Shape 5"/>
          <p:cNvSpPr/>
          <p:nvPr/>
        </p:nvSpPr>
        <p:spPr>
          <a:xfrm>
            <a:off x="8076998" y="3424436"/>
            <a:ext cx="3505112" cy="1688703"/>
          </a:xfrm>
          <a:prstGeom prst="roundRect">
            <a:avLst>
              <a:gd name="adj" fmla="val 677"/>
            </a:avLst>
          </a:prstGeom>
          <a:solidFill>
            <a:srgbClr val="FCF2B5"/>
          </a:solidFill>
          <a:ln/>
        </p:spPr>
      </p:sp>
      <p:sp>
        <p:nvSpPr>
          <p:cNvPr id="9" name="Text 6"/>
          <p:cNvSpPr/>
          <p:nvPr/>
        </p:nvSpPr>
        <p:spPr>
          <a:xfrm>
            <a:off x="8254793" y="3646686"/>
            <a:ext cx="3149521" cy="1244203"/>
          </a:xfrm>
          <a:prstGeom prst="rect">
            <a:avLst/>
          </a:prstGeom>
          <a:noFill/>
          <a:ln/>
        </p:spPr>
        <p:txBody>
          <a:bodyPr wrap="square" lIns="0" tIns="0" rIns="0" bIns="0" rtlCol="0" anchor="t">
            <a:normAutofit/>
          </a:bodyPr>
          <a:lstStyle/>
          <a:p>
            <a:pPr marL="0" indent="0" algn="l">
              <a:lnSpc>
                <a:spcPct val="117000"/>
              </a:lnSpc>
              <a:buNone/>
            </a:pPr>
            <a:r>
              <a:rPr lang="en-US" sz="1400" b="1" dirty="0">
                <a:solidFill>
                  <a:srgbClr val="000000"/>
                </a:solidFill>
                <a:latin typeface="Atkinson Hyperlegible Next Bold" pitchFamily="34" charset="0"/>
                <a:ea typeface="Atkinson Hyperlegible Next Bold" pitchFamily="34" charset="-122"/>
                <a:cs typeface="Atkinson Hyperlegible Next Bold" pitchFamily="34" charset="0"/>
              </a:rPr>
              <a:t>Selection rule:</a:t>
            </a:r>
            <a:r>
              <a:rPr lang="en-US" sz="1400" dirty="0">
                <a:solidFill>
                  <a:srgbClr val="000000"/>
                </a:solidFill>
                <a:latin typeface="Atkinson Hyperlegible Next" pitchFamily="34" charset="0"/>
                <a:ea typeface="Atkinson Hyperlegible Next" pitchFamily="34" charset="-122"/>
                <a:cs typeface="Atkinson Hyperlegible Next" pitchFamily="34" charset="0"/>
              </a:rPr>
              <a:t> H2 was selected using validation data. H3 had the lowest observed test MAE, but was not retroactively selected using test performance.</a:t>
            </a:r>
            <a:endParaRPr lang="en-US" sz="1400" dirty="0"/>
          </a:p>
        </p:txBody>
      </p:sp>
      <p:pic>
        <p:nvPicPr>
          <p:cNvPr id="10" name="Image 1" descr="preencoded.png"/>
          <p:cNvPicPr>
            <a:picLocks noChangeAspect="1"/>
          </p:cNvPicPr>
          <p:nvPr/>
        </p:nvPicPr>
        <p:blipFill>
          <a:blip r:embed="rId4"/>
          <a:stretch>
            <a:fillRect/>
          </a:stretch>
        </p:blipFill>
        <p:spPr>
          <a:xfrm>
            <a:off x="609585" y="6350000"/>
            <a:ext cx="10972526" cy="63500"/>
          </a:xfrm>
          <a:prstGeom prst="rect">
            <a:avLst/>
          </a:prstGeom>
        </p:spPr>
      </p:pic>
      <p:sp>
        <p:nvSpPr>
          <p:cNvPr id="11" name="Text 7"/>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12" name="Text 8"/>
          <p:cNvSpPr/>
          <p:nvPr/>
        </p:nvSpPr>
        <p:spPr>
          <a:xfrm>
            <a:off x="11419495" y="6428851"/>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06 / 09</a:t>
            </a:r>
            <a:endParaRPr lang="en-US" sz="950" dirty="0"/>
          </a:p>
        </p:txBody>
      </p:sp>
      <p:sp>
        <p:nvSpPr>
          <p:cNvPr id="14" name="Rectangle 13">
            <a:extLst>
              <a:ext uri="{FF2B5EF4-FFF2-40B4-BE49-F238E27FC236}">
                <a16:creationId xmlns:a16="http://schemas.microsoft.com/office/drawing/2014/main" id="{2641580E-C0F4-5AA9-05C2-FE3E09000004}"/>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FINAL TEST COMPARISON</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Performance, statistical and visual comparison</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1375966"/>
          <a:ext cx="10972524" cy="3131167"/>
        </p:xfrm>
        <a:graphic>
          <a:graphicData uri="http://schemas.openxmlformats.org/drawingml/2006/table">
            <a:tbl>
              <a:tblPr/>
              <a:tblGrid>
                <a:gridCol w="2743131">
                  <a:extLst>
                    <a:ext uri="{9D8B030D-6E8A-4147-A177-3AD203B41FA5}">
                      <a16:colId xmlns:a16="http://schemas.microsoft.com/office/drawing/2014/main" val="20000"/>
                    </a:ext>
                  </a:extLst>
                </a:gridCol>
                <a:gridCol w="2743131">
                  <a:extLst>
                    <a:ext uri="{9D8B030D-6E8A-4147-A177-3AD203B41FA5}">
                      <a16:colId xmlns:a16="http://schemas.microsoft.com/office/drawing/2014/main" val="20001"/>
                    </a:ext>
                  </a:extLst>
                </a:gridCol>
                <a:gridCol w="2743131">
                  <a:extLst>
                    <a:ext uri="{9D8B030D-6E8A-4147-A177-3AD203B41FA5}">
                      <a16:colId xmlns:a16="http://schemas.microsoft.com/office/drawing/2014/main" val="20002"/>
                    </a:ext>
                  </a:extLst>
                </a:gridCol>
                <a:gridCol w="2743131">
                  <a:extLst>
                    <a:ext uri="{9D8B030D-6E8A-4147-A177-3AD203B41FA5}">
                      <a16:colId xmlns:a16="http://schemas.microsoft.com/office/drawing/2014/main" val="20003"/>
                    </a:ext>
                  </a:extLst>
                </a:gridCol>
              </a:tblGrid>
              <a:tr h="350333">
                <a:tc>
                  <a:txBody>
                    <a:bodyPr/>
                    <a:lstStyle/>
                    <a:p>
                      <a:pPr marL="0" indent="0" algn="l">
                        <a:buNone/>
                      </a:pPr>
                      <a:r>
                        <a:rPr lang="en-US" sz="1100" kern="100" spc="112" dirty="0">
                          <a:solidFill>
                            <a:srgbClr val="1A1F26"/>
                          </a:solidFill>
                          <a:latin typeface="B612 Mono" pitchFamily="34" charset="0"/>
                          <a:ea typeface="B612 Mono" pitchFamily="34" charset="-122"/>
                          <a:cs typeface="B612 Mono" pitchFamily="34" charset="0"/>
                        </a:rPr>
                        <a:t>MODEL</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100" kern="100" spc="112" dirty="0">
                          <a:solidFill>
                            <a:srgbClr val="1A1F26"/>
                          </a:solidFill>
                          <a:latin typeface="B612 Mono" pitchFamily="34" charset="0"/>
                          <a:ea typeface="B612 Mono" pitchFamily="34" charset="-122"/>
                          <a:cs typeface="B612 Mono" pitchFamily="34" charset="0"/>
                        </a:rPr>
                        <a:t>MAE</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100" kern="100" spc="112" dirty="0">
                          <a:solidFill>
                            <a:srgbClr val="1A1F26"/>
                          </a:solidFill>
                          <a:latin typeface="B612 Mono" pitchFamily="34" charset="0"/>
                          <a:ea typeface="B612 Mono" pitchFamily="34" charset="-122"/>
                          <a:cs typeface="B612 Mono" pitchFamily="34" charset="0"/>
                        </a:rPr>
                        <a:t>RMSE</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100" kern="100" spc="112" dirty="0">
                          <a:solidFill>
                            <a:srgbClr val="1A1F26"/>
                          </a:solidFill>
                          <a:latin typeface="B612 Mono" pitchFamily="34" charset="0"/>
                          <a:ea typeface="B612 Mono" pitchFamily="34" charset="-122"/>
                          <a:cs typeface="B612 Mono" pitchFamily="34" charset="0"/>
                        </a:rPr>
                        <a:t>SMAPE</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0"/>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Naive</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10.6867</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12.5965</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27.4590%</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1"/>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Seasonal Naive</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5.4245</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6.6480</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15.2515%</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2"/>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Holt-Winters</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4.7557</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6.1168</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14.1948%</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3"/>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RF All</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4.7101</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6.0615</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13.1242%</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4"/>
                  </a:ext>
                </a:extLst>
              </a:tr>
              <a:tr h="397262">
                <a:tc>
                  <a:txBody>
                    <a:bodyPr/>
                    <a:lstStyle/>
                    <a:p>
                      <a:pPr marL="0" indent="0" algn="l">
                        <a:buNone/>
                      </a:pPr>
                      <a:r>
                        <a:rPr lang="en-US" sz="1400" dirty="0">
                          <a:solidFill>
                            <a:srgbClr val="2A313A"/>
                          </a:solidFill>
                          <a:latin typeface="B612 Mono" pitchFamily="34" charset="0"/>
                          <a:ea typeface="B612 Mono" pitchFamily="34" charset="-122"/>
                          <a:cs typeface="B612 Mono" pitchFamily="34" charset="0"/>
                        </a:rPr>
                        <a:t>RF Selected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4.3733</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5.5679</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marL="0" indent="0" algn="l">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12.2693%</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extLst>
                  <a:ext uri="{0D108BD9-81ED-4DB2-BD59-A6C34878D82A}">
                    <a16:rowId xmlns:a16="http://schemas.microsoft.com/office/drawing/2014/main" val="10005"/>
                  </a:ext>
                </a:extLst>
              </a:tr>
              <a:tr h="397262">
                <a:tc>
                  <a:txBody>
                    <a:bodyPr/>
                    <a:lstStyle/>
                    <a:p>
                      <a:pPr marL="0" indent="0" algn="l">
                        <a:buNone/>
                      </a:pPr>
                      <a:r>
                        <a:rPr lang="en-US" sz="1400" b="1" dirty="0">
                          <a:solidFill>
                            <a:srgbClr val="000000"/>
                          </a:solidFill>
                          <a:latin typeface="B612 Mono" pitchFamily="34" charset="0"/>
                          <a:ea typeface="B612 Mono" pitchFamily="34" charset="-122"/>
                          <a:cs typeface="B612 Mono" pitchFamily="34" charset="0"/>
                        </a:rPr>
                        <a:t>H2</a:t>
                      </a:r>
                      <a:endParaRPr lang="en-US" sz="1400" dirty="0">
                        <a:latin typeface="B612 Mono" charset="0"/>
                        <a:ea typeface="B612 Mono" charset="0"/>
                        <a:cs typeface="B612 Mono"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solidFill>
                      <a:srgbClr val="E1EFE6"/>
                    </a:solidFill>
                  </a:tcPr>
                </a:tc>
                <a:tc>
                  <a:txBody>
                    <a:bodyPr/>
                    <a:lstStyle/>
                    <a:p>
                      <a:pPr marL="0" indent="0" algn="l">
                        <a:buNone/>
                      </a:pPr>
                      <a:r>
                        <a:rPr lang="en-US" sz="1400" b="1" dirty="0">
                          <a:solidFill>
                            <a:srgbClr val="000000"/>
                          </a:solidFill>
                          <a:latin typeface="Atkinson Hyperlegible Next" pitchFamily="34" charset="0"/>
                          <a:ea typeface="Atkinson Hyperlegible Next" pitchFamily="34" charset="-122"/>
                          <a:cs typeface="Atkinson Hyperlegible Next" pitchFamily="34" charset="0"/>
                        </a:rPr>
                        <a:t>4.3471</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solidFill>
                      <a:srgbClr val="E1EFE6"/>
                    </a:solidFill>
                  </a:tcPr>
                </a:tc>
                <a:tc>
                  <a:txBody>
                    <a:bodyPr/>
                    <a:lstStyle/>
                    <a:p>
                      <a:pPr marL="0" indent="0" algn="l">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5.4926</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solidFill>
                      <a:srgbClr val="E1EFE6"/>
                    </a:solidFill>
                  </a:tcPr>
                </a:tc>
                <a:tc>
                  <a:txBody>
                    <a:bodyPr/>
                    <a:lstStyle/>
                    <a:p>
                      <a:pPr marL="0" indent="0" algn="l">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12.2913%</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solidFill>
                      <a:srgbClr val="E1EFE6"/>
                    </a:solidFill>
                  </a:tcPr>
                </a:tc>
                <a:extLst>
                  <a:ext uri="{0D108BD9-81ED-4DB2-BD59-A6C34878D82A}">
                    <a16:rowId xmlns:a16="http://schemas.microsoft.com/office/drawing/2014/main" val="10006"/>
                  </a:ext>
                </a:extLst>
              </a:tr>
              <a:tr h="397262">
                <a:tc>
                  <a:txBody>
                    <a:bodyPr/>
                    <a:lstStyle/>
                    <a:p>
                      <a:pPr marL="0" indent="0" algn="l">
                        <a:buNone/>
                      </a:pPr>
                      <a:r>
                        <a:rPr lang="en-US" sz="1400" b="1" dirty="0">
                          <a:solidFill>
                            <a:srgbClr val="000000"/>
                          </a:solidFill>
                          <a:latin typeface="B612 Mono" pitchFamily="34" charset="0"/>
                          <a:ea typeface="B612 Mono" pitchFamily="34" charset="-122"/>
                          <a:cs typeface="B612 Mono" pitchFamily="34" charset="0"/>
                        </a:rPr>
                        <a:t>H3</a:t>
                      </a:r>
                      <a:endParaRPr lang="en-US" sz="1400" dirty="0">
                        <a:latin typeface="B612 Mono" charset="0"/>
                        <a:ea typeface="B612 Mono" charset="0"/>
                        <a:cs typeface="B612 Mono"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E1EFE6"/>
                      </a:solidFill>
                      <a:prstDash val="solid"/>
                      <a:round/>
                      <a:headEnd type="none" w="med" len="med"/>
                      <a:tailEnd type="none" w="med" len="med"/>
                    </a:lnB>
                    <a:solidFill>
                      <a:srgbClr val="E1EFE6"/>
                    </a:solidFill>
                  </a:tcPr>
                </a:tc>
                <a:tc>
                  <a:txBody>
                    <a:bodyPr/>
                    <a:lstStyle/>
                    <a:p>
                      <a:pPr marL="0" indent="0" algn="l">
                        <a:buNone/>
                      </a:pPr>
                      <a:r>
                        <a:rPr lang="en-US" sz="1400" b="1" dirty="0">
                          <a:solidFill>
                            <a:srgbClr val="000000"/>
                          </a:solidFill>
                          <a:latin typeface="Atkinson Hyperlegible Next" pitchFamily="34" charset="0"/>
                          <a:ea typeface="Atkinson Hyperlegible Next" pitchFamily="34" charset="-122"/>
                          <a:cs typeface="Atkinson Hyperlegible Next" pitchFamily="34" charset="0"/>
                        </a:rPr>
                        <a:t>4.3404</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E1EFE6"/>
                      </a:solidFill>
                      <a:prstDash val="solid"/>
                      <a:round/>
                      <a:headEnd type="none" w="med" len="med"/>
                      <a:tailEnd type="none" w="med" len="med"/>
                    </a:lnB>
                    <a:solidFill>
                      <a:srgbClr val="E1EFE6"/>
                    </a:solidFill>
                  </a:tcPr>
                </a:tc>
                <a:tc>
                  <a:txBody>
                    <a:bodyPr/>
                    <a:lstStyle/>
                    <a:p>
                      <a:pPr marL="0" indent="0" algn="l">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5.6121</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E1EFE6"/>
                      </a:solidFill>
                      <a:prstDash val="solid"/>
                      <a:round/>
                      <a:headEnd type="none" w="med" len="med"/>
                      <a:tailEnd type="none" w="med" len="med"/>
                    </a:lnB>
                    <a:solidFill>
                      <a:srgbClr val="E1EFE6"/>
                    </a:solidFill>
                  </a:tcPr>
                </a:tc>
                <a:tc>
                  <a:txBody>
                    <a:bodyPr/>
                    <a:lstStyle/>
                    <a:p>
                      <a:pPr marL="0" indent="0" algn="l">
                        <a:buNone/>
                      </a:pPr>
                      <a:r>
                        <a:rPr lang="en-US" sz="1400" dirty="0">
                          <a:solidFill>
                            <a:srgbClr val="000000"/>
                          </a:solidFill>
                          <a:latin typeface="Atkinson Hyperlegible Next" pitchFamily="34" charset="0"/>
                          <a:ea typeface="Atkinson Hyperlegible Next" pitchFamily="34" charset="-122"/>
                          <a:cs typeface="Atkinson Hyperlegible Next" pitchFamily="34" charset="0"/>
                        </a:rPr>
                        <a:t>12.3119%</a:t>
                      </a:r>
                      <a:endParaRPr lang="en-US" sz="1400" dirty="0">
                        <a:latin typeface="Atkinson Hyperlegible Next" charset="0"/>
                        <a:ea typeface="Atkinson Hyperlegible Next" charset="0"/>
                        <a:cs typeface="Atkinson Hyperlegible Next" charset="0"/>
                      </a:endParaRPr>
                    </a:p>
                  </a:txBody>
                  <a:tcPr marL="133347" marR="133347" marT="71118" marB="71118" anchor="ctr">
                    <a:lnL w="12700" cap="flat" cmpd="sng" algn="ctr">
                      <a:solidFill>
                        <a:srgbClr val="E1EFE6"/>
                      </a:solidFill>
                      <a:prstDash val="solid"/>
                      <a:round/>
                      <a:headEnd type="none" w="med" len="med"/>
                      <a:tailEnd type="none" w="med" len="med"/>
                    </a:lnL>
                    <a:lnR w="12700" cap="flat" cmpd="sng" algn="ctr">
                      <a:solidFill>
                        <a:srgbClr val="E1EFE6"/>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E1EFE6"/>
                      </a:solidFill>
                      <a:prstDash val="solid"/>
                      <a:round/>
                      <a:headEnd type="none" w="med" len="med"/>
                      <a:tailEnd type="none" w="med" len="med"/>
                    </a:lnB>
                    <a:solidFill>
                      <a:srgbClr val="E1EFE6"/>
                    </a:solidFill>
                  </a:tcPr>
                </a:tc>
                <a:extLst>
                  <a:ext uri="{0D108BD9-81ED-4DB2-BD59-A6C34878D82A}">
                    <a16:rowId xmlns:a16="http://schemas.microsoft.com/office/drawing/2014/main" val="10007"/>
                  </a:ext>
                </a:extLst>
              </a:tr>
            </a:tbl>
          </a:graphicData>
        </a:graphic>
      </p:graphicFrame>
      <p:sp>
        <p:nvSpPr>
          <p:cNvPr id="5" name="Text 2"/>
          <p:cNvSpPr/>
          <p:nvPr/>
        </p:nvSpPr>
        <p:spPr>
          <a:xfrm>
            <a:off x="609585" y="4637385"/>
            <a:ext cx="3505112"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FEATURE-SELECTION IMPACT</a:t>
            </a:r>
            <a:endParaRPr lang="en-US" sz="1050" dirty="0"/>
          </a:p>
        </p:txBody>
      </p:sp>
      <p:sp>
        <p:nvSpPr>
          <p:cNvPr id="6" name="Text 3"/>
          <p:cNvSpPr/>
          <p:nvPr/>
        </p:nvSpPr>
        <p:spPr>
          <a:xfrm>
            <a:off x="609585" y="4902101"/>
            <a:ext cx="3505112" cy="854472"/>
          </a:xfrm>
          <a:prstGeom prst="rect">
            <a:avLst/>
          </a:prstGeom>
          <a:noFill/>
          <a:ln/>
        </p:spPr>
        <p:txBody>
          <a:bodyPr wrap="square" lIns="0" tIns="0" rIns="0" bIns="0" rtlCol="0" anchor="t">
            <a:normAutofit/>
          </a:bodyPr>
          <a:lstStyle/>
          <a:p>
            <a:pPr marL="0" indent="0" algn="l">
              <a:lnSpc>
                <a:spcPct val="117000"/>
              </a:lnSpc>
              <a:spcAft>
                <a:spcPts val="800"/>
              </a:spcAft>
              <a:buNone/>
            </a:pPr>
            <a:r>
              <a:rPr lang="en-US" sz="1400" b="1" dirty="0">
                <a:solidFill>
                  <a:srgbClr val="2A313A"/>
                </a:solidFill>
                <a:latin typeface="Atkinson Hyperlegible Next Bold" pitchFamily="34" charset="0"/>
                <a:ea typeface="Atkinson Hyperlegible Next Bold" pitchFamily="34" charset="-122"/>
                <a:cs typeface="Atkinson Hyperlegible Next Bold" pitchFamily="34" charset="0"/>
              </a:rPr>
              <a:t>RF All MAE 4.7101 → RF Selected MAE 4.3733</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Observed reduction ≈ 7.15%</a:t>
            </a:r>
            <a:endParaRPr lang="en-US" sz="1400" dirty="0"/>
          </a:p>
        </p:txBody>
      </p:sp>
      <p:sp>
        <p:nvSpPr>
          <p:cNvPr id="7" name="Text 4"/>
          <p:cNvSpPr/>
          <p:nvPr/>
        </p:nvSpPr>
        <p:spPr>
          <a:xfrm>
            <a:off x="4571886" y="4637385"/>
            <a:ext cx="701022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EXPLORATORY PAIRED-ERROR COMPARISONS</a:t>
            </a:r>
            <a:endParaRPr lang="en-US" sz="1050" dirty="0"/>
          </a:p>
        </p:txBody>
      </p:sp>
      <p:sp>
        <p:nvSpPr>
          <p:cNvPr id="4" name="Text 5"/>
          <p:cNvSpPr/>
          <p:nvPr/>
        </p:nvSpPr>
        <p:spPr>
          <a:xfrm>
            <a:off x="4571886" y="4902101"/>
            <a:ext cx="7010225"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Hybrid vs Seasonal Naive p = 0.006766</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Hybrid vs Holt-Winters p = 0.348211</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Hybrid vs RF All p = 0.288953</a:t>
            </a:r>
            <a:endParaRPr lang="en-US" sz="1400" dirty="0"/>
          </a:p>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Hybrid vs RF Selected p = 0.993492</a:t>
            </a:r>
            <a:endParaRPr lang="en-US" sz="1400" dirty="0"/>
          </a:p>
        </p:txBody>
      </p:sp>
      <p:sp>
        <p:nvSpPr>
          <p:cNvPr id="9" name="Text 6"/>
          <p:cNvSpPr/>
          <p:nvPr/>
        </p:nvSpPr>
        <p:spPr>
          <a:xfrm>
            <a:off x="4571886" y="6005413"/>
            <a:ext cx="7010225" cy="188516"/>
          </a:xfrm>
          <a:prstGeom prst="rect">
            <a:avLst/>
          </a:prstGeom>
          <a:noFill/>
          <a:ln/>
        </p:spPr>
        <p:txBody>
          <a:bodyPr wrap="none" lIns="0" tIns="0" rIns="0" bIns="0" rtlCol="0" anchor="t"/>
          <a:lstStyle/>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Do not claim universal statistical superiority.</a:t>
            </a:r>
            <a:endParaRPr lang="en-US" sz="1100" dirty="0"/>
          </a:p>
        </p:txBody>
      </p:sp>
      <p:sp>
        <p:nvSpPr>
          <p:cNvPr id="10" name="Text 7"/>
          <p:cNvSpPr/>
          <p:nvPr/>
        </p:nvSpPr>
        <p:spPr>
          <a:xfrm>
            <a:off x="609585" y="6359029"/>
            <a:ext cx="11582110" cy="188516"/>
          </a:xfrm>
          <a:prstGeom prst="rect">
            <a:avLst/>
          </a:prstGeom>
          <a:noFill/>
          <a:ln/>
        </p:spPr>
        <p:txBody>
          <a:bodyPr wrap="none" lIns="0" tIns="0" rIns="0" bIns="0" rtlCol="0" anchor="t"/>
          <a:lstStyle/>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Visual evidence: actual vs predicted test-period plot, model MAE comparison, feature-importance plot, residual/error comparison.</a:t>
            </a:r>
            <a:endParaRPr lang="en-US" sz="1100" dirty="0"/>
          </a:p>
        </p:txBody>
      </p:sp>
      <p:pic>
        <p:nvPicPr>
          <p:cNvPr id="11"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12" name="Text 8"/>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13" name="Text 9"/>
          <p:cNvSpPr/>
          <p:nvPr/>
        </p:nvSpPr>
        <p:spPr>
          <a:xfrm>
            <a:off x="11419495" y="6422529"/>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07 / 09</a:t>
            </a:r>
            <a:endParaRPr lang="en-US" sz="950" dirty="0"/>
          </a:p>
        </p:txBody>
      </p:sp>
      <p:sp>
        <p:nvSpPr>
          <p:cNvPr id="15" name="Rectangle 14">
            <a:extLst>
              <a:ext uri="{FF2B5EF4-FFF2-40B4-BE49-F238E27FC236}">
                <a16:creationId xmlns:a16="http://schemas.microsoft.com/office/drawing/2014/main" id="{6914497F-89C0-C238-359B-F2BEB5151231}"/>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MODEL INTERPRETATION</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Why does the hybrid behave differently?</a:t>
            </a:r>
            <a:endParaRPr lang="en-US" sz="2500" dirty="0"/>
          </a:p>
        </p:txBody>
      </p:sp>
      <p:pic>
        <p:nvPicPr>
          <p:cNvPr id="4" name="Image 0" descr="preencoded.png"/>
          <p:cNvPicPr>
            <a:picLocks noChangeAspect="1"/>
          </p:cNvPicPr>
          <p:nvPr/>
        </p:nvPicPr>
        <p:blipFill>
          <a:blip r:embed="rId3"/>
          <a:stretch>
            <a:fillRect/>
          </a:stretch>
        </p:blipFill>
        <p:spPr>
          <a:xfrm>
            <a:off x="609585" y="1375966"/>
            <a:ext cx="10972526" cy="2041426"/>
          </a:xfrm>
          <a:prstGeom prst="rect">
            <a:avLst/>
          </a:prstGeom>
        </p:spPr>
      </p:pic>
      <p:sp>
        <p:nvSpPr>
          <p:cNvPr id="5" name="Text 2"/>
          <p:cNvSpPr/>
          <p:nvPr/>
        </p:nvSpPr>
        <p:spPr>
          <a:xfrm>
            <a:off x="609585" y="3573562"/>
            <a:ext cx="802759"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01</a:t>
            </a:r>
            <a:endParaRPr lang="en-US" sz="1400" dirty="0"/>
          </a:p>
        </p:txBody>
      </p:sp>
      <p:sp>
        <p:nvSpPr>
          <p:cNvPr id="6" name="Text 3"/>
          <p:cNvSpPr/>
          <p:nvPr/>
        </p:nvSpPr>
        <p:spPr>
          <a:xfrm>
            <a:off x="980554" y="3585666"/>
            <a:ext cx="2143567"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STRUCTURE</a:t>
            </a:r>
            <a:endParaRPr lang="en-US" sz="1050" dirty="0"/>
          </a:p>
        </p:txBody>
      </p:sp>
      <p:sp>
        <p:nvSpPr>
          <p:cNvPr id="7" name="Text 4"/>
          <p:cNvSpPr/>
          <p:nvPr/>
        </p:nvSpPr>
        <p:spPr>
          <a:xfrm>
            <a:off x="980554" y="3850382"/>
            <a:ext cx="2143567"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Seasonal Naive captures recurring weekly demand structure.</a:t>
            </a:r>
            <a:endParaRPr lang="en-US" sz="1400" dirty="0"/>
          </a:p>
        </p:txBody>
      </p:sp>
      <p:sp>
        <p:nvSpPr>
          <p:cNvPr id="8" name="Text 5"/>
          <p:cNvSpPr/>
          <p:nvPr/>
        </p:nvSpPr>
        <p:spPr>
          <a:xfrm>
            <a:off x="3428914" y="3573562"/>
            <a:ext cx="827464"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02</a:t>
            </a:r>
            <a:endParaRPr lang="en-US" sz="1400" dirty="0"/>
          </a:p>
        </p:txBody>
      </p:sp>
      <p:sp>
        <p:nvSpPr>
          <p:cNvPr id="9" name="Text 6"/>
          <p:cNvSpPr/>
          <p:nvPr/>
        </p:nvSpPr>
        <p:spPr>
          <a:xfrm>
            <a:off x="3824589" y="3585666"/>
            <a:ext cx="2118863"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NONLINEARITY</a:t>
            </a:r>
            <a:endParaRPr lang="en-US" sz="1050" dirty="0"/>
          </a:p>
        </p:txBody>
      </p:sp>
      <p:sp>
        <p:nvSpPr>
          <p:cNvPr id="10" name="Text 7"/>
          <p:cNvSpPr/>
          <p:nvPr/>
        </p:nvSpPr>
        <p:spPr>
          <a:xfrm>
            <a:off x="3824589" y="3850382"/>
            <a:ext cx="2118863" cy="99536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Random Forest captures nonlinear relationships among lag, change and rolling temporal features.</a:t>
            </a:r>
            <a:endParaRPr lang="en-US" sz="1400" dirty="0"/>
          </a:p>
        </p:txBody>
      </p:sp>
      <p:sp>
        <p:nvSpPr>
          <p:cNvPr id="11" name="Text 8"/>
          <p:cNvSpPr/>
          <p:nvPr/>
        </p:nvSpPr>
        <p:spPr>
          <a:xfrm>
            <a:off x="6248244" y="3573562"/>
            <a:ext cx="831532"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03</a:t>
            </a:r>
            <a:endParaRPr lang="en-US" sz="1400" dirty="0"/>
          </a:p>
        </p:txBody>
      </p:sp>
      <p:sp>
        <p:nvSpPr>
          <p:cNvPr id="12" name="Text 9"/>
          <p:cNvSpPr/>
          <p:nvPr/>
        </p:nvSpPr>
        <p:spPr>
          <a:xfrm>
            <a:off x="6647986" y="3585666"/>
            <a:ext cx="2114795"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FOCUS</a:t>
            </a:r>
            <a:endParaRPr lang="en-US" sz="1050" dirty="0"/>
          </a:p>
        </p:txBody>
      </p:sp>
      <p:sp>
        <p:nvSpPr>
          <p:cNvPr id="13" name="Text 10"/>
          <p:cNvSpPr/>
          <p:nvPr/>
        </p:nvSpPr>
        <p:spPr>
          <a:xfrm>
            <a:off x="6647986" y="3850382"/>
            <a:ext cx="2114795"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Feature selection reduces redundant or less useful predictors and focuses RF on stronger temporal signals.</a:t>
            </a:r>
            <a:endParaRPr lang="en-US" sz="1400" dirty="0"/>
          </a:p>
        </p:txBody>
      </p:sp>
      <p:sp>
        <p:nvSpPr>
          <p:cNvPr id="14" name="Text 11"/>
          <p:cNvSpPr/>
          <p:nvPr/>
        </p:nvSpPr>
        <p:spPr>
          <a:xfrm>
            <a:off x="9067573" y="3573562"/>
            <a:ext cx="836691" cy="177800"/>
          </a:xfrm>
          <a:prstGeom prst="rect">
            <a:avLst/>
          </a:prstGeom>
          <a:noFill/>
          <a:ln/>
        </p:spPr>
        <p:txBody>
          <a:bodyPr wrap="none" lIns="0" tIns="0" rIns="0" bIns="0" rtlCol="0" anchor="t"/>
          <a:lstStyle/>
          <a:p>
            <a:pPr marL="0" indent="0" algn="l">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0"/>
              </a:rPr>
              <a:t>04</a:t>
            </a:r>
            <a:endParaRPr lang="en-US" sz="1400" dirty="0"/>
          </a:p>
        </p:txBody>
      </p:sp>
      <p:sp>
        <p:nvSpPr>
          <p:cNvPr id="15" name="Text 12"/>
          <p:cNvSpPr/>
          <p:nvPr/>
        </p:nvSpPr>
        <p:spPr>
          <a:xfrm>
            <a:off x="9472475" y="3585666"/>
            <a:ext cx="2109636"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TASK SHIFT</a:t>
            </a:r>
            <a:endParaRPr lang="en-US" sz="1050" dirty="0"/>
          </a:p>
        </p:txBody>
      </p:sp>
      <p:sp>
        <p:nvSpPr>
          <p:cNvPr id="16" name="Text 13"/>
          <p:cNvSpPr/>
          <p:nvPr/>
        </p:nvSpPr>
        <p:spPr>
          <a:xfrm>
            <a:off x="9472475" y="3850382"/>
            <a:ext cx="2109636" cy="1244203"/>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Residual learning targets systematic errors remaining after the structural forecast, not the entire demand series.</a:t>
            </a:r>
            <a:endParaRPr lang="en-US" sz="1400" dirty="0"/>
          </a:p>
        </p:txBody>
      </p:sp>
      <p:sp>
        <p:nvSpPr>
          <p:cNvPr id="17" name="Text 14"/>
          <p:cNvSpPr/>
          <p:nvPr/>
        </p:nvSpPr>
        <p:spPr>
          <a:xfrm>
            <a:off x="609585" y="5259685"/>
            <a:ext cx="10972526" cy="730647"/>
          </a:xfrm>
          <a:prstGeom prst="rect">
            <a:avLst/>
          </a:prstGeom>
          <a:noFill/>
          <a:ln/>
        </p:spPr>
        <p:txBody>
          <a:bodyPr wrap="square" lIns="0" tIns="0" rIns="0" bIns="0" rtlCol="0" anchor="t"/>
          <a:lstStyle/>
          <a:p>
            <a:pPr marL="0" indent="0" algn="l">
              <a:lnSpc>
                <a:spcPct val="112000"/>
              </a:lnSpc>
              <a:spcAft>
                <a:spcPts val="1250"/>
              </a:spcAft>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Seasonal Naive MAE = 5.4245 · RF Selected MAE = 4.3733 · H2 MAE = 4.3471 · H3 MAE = 4.3404</a:t>
            </a:r>
            <a:endParaRPr lang="en-US" sz="1100" dirty="0"/>
          </a:p>
          <a:p>
            <a:pPr marL="0" indent="0" algn="l">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0"/>
              </a:rPr>
              <a:t>Interpretation: the hybrid can improve forecasts when the baseline captures structure and residuals contain learnable temporal information; improvement is dataset/series dependent.</a:t>
            </a:r>
            <a:endParaRPr lang="en-US" sz="1100" dirty="0"/>
          </a:p>
        </p:txBody>
      </p:sp>
      <p:pic>
        <p:nvPicPr>
          <p:cNvPr id="18" name="Image 1" descr="preencoded.png"/>
          <p:cNvPicPr>
            <a:picLocks noChangeAspect="1"/>
          </p:cNvPicPr>
          <p:nvPr/>
        </p:nvPicPr>
        <p:blipFill>
          <a:blip r:embed="rId4"/>
          <a:stretch>
            <a:fillRect/>
          </a:stretch>
        </p:blipFill>
        <p:spPr>
          <a:xfrm>
            <a:off x="609585" y="6350000"/>
            <a:ext cx="10972526" cy="63500"/>
          </a:xfrm>
          <a:prstGeom prst="rect">
            <a:avLst/>
          </a:prstGeom>
        </p:spPr>
      </p:pic>
      <p:sp>
        <p:nvSpPr>
          <p:cNvPr id="19" name="Text 15"/>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20" name="Text 16"/>
          <p:cNvSpPr/>
          <p:nvPr/>
        </p:nvSpPr>
        <p:spPr>
          <a:xfrm>
            <a:off x="11419800" y="6393405"/>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08 / 09</a:t>
            </a:r>
            <a:endParaRPr lang="en-US" sz="950" dirty="0"/>
          </a:p>
        </p:txBody>
      </p:sp>
      <p:sp>
        <p:nvSpPr>
          <p:cNvPr id="22" name="Rectangle 21">
            <a:extLst>
              <a:ext uri="{FF2B5EF4-FFF2-40B4-BE49-F238E27FC236}">
                <a16:creationId xmlns:a16="http://schemas.microsoft.com/office/drawing/2014/main" id="{0C1C0CF2-737F-09EC-907F-286FF2375025}"/>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2775"/>
            <a:ext cx="5257668"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CONCLUSION</a:t>
            </a:r>
            <a:endParaRPr lang="en-US" sz="1050" dirty="0"/>
          </a:p>
        </p:txBody>
      </p:sp>
      <p:sp>
        <p:nvSpPr>
          <p:cNvPr id="3" name="Text 1"/>
          <p:cNvSpPr/>
          <p:nvPr/>
        </p:nvSpPr>
        <p:spPr>
          <a:xfrm>
            <a:off x="609585" y="858440"/>
            <a:ext cx="4648084" cy="349250"/>
          </a:xfrm>
          <a:prstGeom prst="rect">
            <a:avLst/>
          </a:prstGeom>
          <a:noFill/>
          <a:ln/>
        </p:spPr>
        <p:txBody>
          <a:bodyPr wrap="none" lIns="0" tIns="0" rIns="0" bIns="0" rtlCol="0" anchor="t"/>
          <a:lstStyle/>
          <a:p>
            <a:pPr marL="0" indent="0" algn="l">
              <a:lnSpc>
                <a:spcPct val="92000"/>
              </a:lnSpc>
              <a:buNone/>
            </a:pPr>
            <a:r>
              <a:rPr lang="en-US" sz="2500" b="1" kern="100" spc="-25" dirty="0">
                <a:solidFill>
                  <a:srgbClr val="1A1F26"/>
                </a:solidFill>
                <a:latin typeface="B612 Bold" pitchFamily="34" charset="0"/>
                <a:ea typeface="B612 Bold" pitchFamily="34" charset="-122"/>
                <a:cs typeface="B612 Bold" pitchFamily="34" charset="0"/>
              </a:rPr>
              <a:t>Research findings</a:t>
            </a:r>
            <a:endParaRPr lang="en-US" sz="2500" dirty="0"/>
          </a:p>
        </p:txBody>
      </p:sp>
      <p:sp>
        <p:nvSpPr>
          <p:cNvPr id="4" name="Text 2"/>
          <p:cNvSpPr/>
          <p:nvPr/>
        </p:nvSpPr>
        <p:spPr>
          <a:xfrm>
            <a:off x="609585" y="1375966"/>
            <a:ext cx="4648084" cy="3224213"/>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Existing forecasting and hybrid literature reviewed; baseline and literature-grounded models implemented.</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Research gap identified and existing workflow modified.</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Three hybrid candidates evaluated with validation-based selection.</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Prescribed NN5-001 dataset executed; final 56-step unseen test completed.</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Multiple forecasting metrics, statistical comparisons and visual comparisons performed.</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Hybrid behaviour explained; preliminary literature-based novelty verification completed.</a:t>
            </a:r>
            <a:endParaRPr lang="en-US" sz="1400" dirty="0"/>
          </a:p>
        </p:txBody>
      </p:sp>
      <p:sp>
        <p:nvSpPr>
          <p:cNvPr id="5" name="Text 3"/>
          <p:cNvSpPr/>
          <p:nvPr/>
        </p:nvSpPr>
        <p:spPr>
          <a:xfrm>
            <a:off x="6934027" y="1540272"/>
            <a:ext cx="5257668" cy="159941"/>
          </a:xfrm>
          <a:prstGeom prst="rect">
            <a:avLst/>
          </a:prstGeom>
          <a:noFill/>
          <a:ln/>
        </p:spPr>
        <p:txBody>
          <a:bodyPr wrap="none" lIns="0" tIns="0" rIns="0" bIns="0" rtlCol="0" anchor="t"/>
          <a:lstStyle/>
          <a:p>
            <a:pPr marL="0" indent="0" algn="l">
              <a:lnSpc>
                <a:spcPct val="100000"/>
              </a:lnSpc>
              <a:buNone/>
            </a:pPr>
            <a:r>
              <a:rPr lang="en-US" sz="1050" kern="100" spc="84" dirty="0">
                <a:solidFill>
                  <a:srgbClr val="5B6570"/>
                </a:solidFill>
                <a:latin typeface="B612 Mono" pitchFamily="34" charset="0"/>
                <a:ea typeface="B612 Mono" pitchFamily="34" charset="-122"/>
                <a:cs typeface="B612 Mono" pitchFamily="34" charset="0"/>
              </a:rPr>
              <a:t>KEY FINDINGS</a:t>
            </a:r>
            <a:endParaRPr lang="en-US" sz="1050" dirty="0"/>
          </a:p>
        </p:txBody>
      </p:sp>
      <p:sp>
        <p:nvSpPr>
          <p:cNvPr id="6" name="Text 4"/>
          <p:cNvSpPr/>
          <p:nvPr/>
        </p:nvSpPr>
        <p:spPr>
          <a:xfrm>
            <a:off x="7162621" y="2039938"/>
            <a:ext cx="4190895" cy="2382441"/>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Seasonal Naive strongly outperformed Naive.</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RF benefited from temporal features; feature selection reduced RF test MAE by ≈7.15% on NN5-001.</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H2 was the validation-selected hybrid; H3 achieved the lowest observed test MAE.</a:t>
            </a:r>
            <a:endParaRPr lang="en-US" sz="1400" dirty="0"/>
          </a:p>
          <a:p>
            <a:pPr marL="284480" indent="-284480" algn="l">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0"/>
              </a:rPr>
              <a:t>Test performance was not used to select the model; hybrid superiority is not assumed universal.</a:t>
            </a:r>
            <a:endParaRPr lang="en-US" sz="1400" dirty="0"/>
          </a:p>
        </p:txBody>
      </p:sp>
      <p:sp>
        <p:nvSpPr>
          <p:cNvPr id="7" name="Text 5"/>
          <p:cNvSpPr/>
          <p:nvPr/>
        </p:nvSpPr>
        <p:spPr>
          <a:xfrm>
            <a:off x="228594" y="5705078"/>
            <a:ext cx="11734506"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0"/>
              </a:rPr>
              <a:t>The project provides a leakage-safe, reproducible framework for evaluating how temporal feature selection and hybrid residual correction affect demand forecasting performance.</a:t>
            </a:r>
            <a:endParaRPr lang="en-US" sz="1400" dirty="0"/>
          </a:p>
        </p:txBody>
      </p:sp>
      <p:pic>
        <p:nvPicPr>
          <p:cNvPr id="8" name="Image 0" descr="preencoded.png"/>
          <p:cNvPicPr>
            <a:picLocks noChangeAspect="1"/>
          </p:cNvPicPr>
          <p:nvPr/>
        </p:nvPicPr>
        <p:blipFill>
          <a:blip r:embed="rId3"/>
          <a:stretch>
            <a:fillRect/>
          </a:stretch>
        </p:blipFill>
        <p:spPr>
          <a:xfrm>
            <a:off x="609585" y="6350000"/>
            <a:ext cx="10972526" cy="63500"/>
          </a:xfrm>
          <a:prstGeom prst="rect">
            <a:avLst/>
          </a:prstGeom>
        </p:spPr>
      </p:pic>
      <p:sp>
        <p:nvSpPr>
          <p:cNvPr id="9" name="Text 6"/>
          <p:cNvSpPr/>
          <p:nvPr/>
        </p:nvSpPr>
        <p:spPr>
          <a:xfrm>
            <a:off x="172438" y="6397030"/>
            <a:ext cx="3948907" cy="337741"/>
          </a:xfrm>
          <a:prstGeom prst="rect">
            <a:avLst/>
          </a:prstGeom>
          <a:noFill/>
          <a:ln/>
        </p:spPr>
        <p:txBody>
          <a:bodyPr wrap="square" lIns="0" tIns="0" rIns="0" bIns="0" rtlCol="0" anchor="ctr">
            <a:normAutofit/>
          </a:bodyP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TIME-SERIES DEMAND FORECASTING: FEATURE SELECTION AND HYBRID RESIDUAL CORRECTION</a:t>
            </a:r>
            <a:endParaRPr lang="en-US" sz="950" dirty="0"/>
          </a:p>
        </p:txBody>
      </p:sp>
      <p:sp>
        <p:nvSpPr>
          <p:cNvPr id="10" name="Text 7"/>
          <p:cNvSpPr/>
          <p:nvPr/>
        </p:nvSpPr>
        <p:spPr>
          <a:xfrm>
            <a:off x="11419495" y="6413500"/>
            <a:ext cx="772200" cy="168870"/>
          </a:xfrm>
          <a:prstGeom prst="rect">
            <a:avLst/>
          </a:prstGeom>
          <a:noFill/>
          <a:ln/>
        </p:spPr>
        <p:txBody>
          <a:bodyPr wrap="none" lIns="0" tIns="0" rIns="0" bIns="0" rtlCol="0" anchor="ctr"/>
          <a:lstStyle/>
          <a:p>
            <a:pPr marL="0" indent="0" algn="l">
              <a:lnSpc>
                <a:spcPct val="117000"/>
              </a:lnSpc>
              <a:buNone/>
            </a:pPr>
            <a:r>
              <a:rPr lang="en-US" sz="950" kern="100" spc="57" dirty="0">
                <a:solidFill>
                  <a:srgbClr val="2A313A"/>
                </a:solidFill>
                <a:latin typeface="B612 Mono" pitchFamily="34" charset="0"/>
                <a:ea typeface="B612 Mono" pitchFamily="34" charset="-122"/>
                <a:cs typeface="B612 Mono" pitchFamily="34" charset="0"/>
              </a:rPr>
              <a:t>09 / 09</a:t>
            </a:r>
            <a:endParaRPr lang="en-US" sz="950" dirty="0"/>
          </a:p>
        </p:txBody>
      </p:sp>
      <p:sp>
        <p:nvSpPr>
          <p:cNvPr id="12" name="Rectangle 11">
            <a:extLst>
              <a:ext uri="{FF2B5EF4-FFF2-40B4-BE49-F238E27FC236}">
                <a16:creationId xmlns:a16="http://schemas.microsoft.com/office/drawing/2014/main" id="{71F76F9F-E18D-7496-E9C1-A6A4C2CB8F5B}"/>
              </a:ext>
            </a:extLst>
          </p:cNvPr>
          <p:cNvSpPr/>
          <p:nvPr/>
        </p:nvSpPr>
        <p:spPr>
          <a:xfrm>
            <a:off x="11084767" y="6568751"/>
            <a:ext cx="1035698" cy="216819"/>
          </a:xfrm>
          <a:prstGeom prst="rect">
            <a:avLst/>
          </a:prstGeom>
          <a:solidFill>
            <a:srgbClr val="F7F8F5"/>
          </a:solidFill>
          <a:ln>
            <a:solidFill>
              <a:srgbClr val="F7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1565</Words>
  <Application>Microsoft Office PowerPoint</Application>
  <PresentationFormat>Widescreen</PresentationFormat>
  <Paragraphs>231</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B612</vt:lpstr>
      <vt:lpstr>Atkinson Hyperlegible Next Bold</vt:lpstr>
      <vt:lpstr>Atkinson Hyperlegible Next</vt:lpstr>
      <vt:lpstr>Atkinson Hyperlegible Next SemiBold</vt:lpstr>
      <vt:lpstr>B612 Bold</vt:lpstr>
      <vt:lpstr>B612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Abhinav</dc:creator>
  <cp:lastModifiedBy>Anirudh Guthula</cp:lastModifiedBy>
  <cp:revision>2</cp:revision>
  <dcterms:created xsi:type="dcterms:W3CDTF">2026-10-28T06:52:32Z</dcterms:created>
  <dcterms:modified xsi:type="dcterms:W3CDTF">2026-10-28T07:08:30Z</dcterms:modified>
</cp:coreProperties>
</file>