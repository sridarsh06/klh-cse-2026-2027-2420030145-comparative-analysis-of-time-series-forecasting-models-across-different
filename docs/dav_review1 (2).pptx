
<file path=[Content_Types].xml><?xml version="1.0" encoding="utf-8"?>
<Types xmlns="http://schemas.openxmlformats.org/package/2006/content-types">
  <Default Extension="fntdata" ContentType="application/x-fontdata"/>
  <Default Extension="jpeg" ContentType="image/jpeg"/>
  <Default Extension="jpg" ContentType="image/pn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embeddedFontLst>
    <p:embeddedFont>
      <p:font typeface="Noto Serif SemiBold" panose="02020502060505020204" pitchFamily="18" charset="0"/>
      <p:regular r:id="rId13"/>
      <p:bold r:id="rId14"/>
    </p:embeddedFont>
    <p:embeddedFont>
      <p:font typeface="Source Sans 3" panose="020B0303030403020204" pitchFamily="34" charset="0"/>
      <p:regular r:id="rId15"/>
    </p:embeddedFont>
    <p:embeddedFont>
      <p:font typeface="Source Sans 3 Bold" panose="020B0303030403020204" pitchFamily="34" charset="0"/>
      <p:regular r:id="rId16"/>
      <p:bold r:id="rId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1"/>
    <p:restoredTop sz="94610"/>
  </p:normalViewPr>
  <p:slideViewPr>
    <p:cSldViewPr snapToGrid="0" snapToObjects="1">
      <p:cViewPr varScale="1">
        <p:scale>
          <a:sx n="139" d="100"/>
          <a:sy n="139" d="100"/>
        </p:scale>
        <p:origin x="176" y="672"/>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snapToObjects="1">
      <p:cViewPr varScale="1">
        <p:scale>
          <a:sx n="96" d="100"/>
          <a:sy n="96" d="100"/>
        </p:scale>
        <p:origin x="4848" y="17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011988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alpha val="95000"/>
            </a:srgbClr>
          </a:solidFill>
          <a:ln/>
        </p:spPr>
        <p:txBody>
          <a:bodyPr/>
          <a:lstStyle/>
          <a:p>
            <a:endParaRPr lang="en-US"/>
          </a:p>
        </p:txBody>
      </p:sp>
      <p:pic>
        <p:nvPicPr>
          <p:cNvPr id="5" name="Picture 4">
            <a:extLst>
              <a:ext uri="{FF2B5EF4-FFF2-40B4-BE49-F238E27FC236}">
                <a16:creationId xmlns:a16="http://schemas.microsoft.com/office/drawing/2014/main" id="{D6343BE8-7CE7-932C-BA64-DE0F62EC3B7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486185" y="104078"/>
            <a:ext cx="1524000" cy="685801"/>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71BF453-5DB8-41ED-7D90-F93875124D4E}"/>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486185" y="104078"/>
            <a:ext cx="1524000" cy="685801"/>
          </a:xfrm>
          <a:prstGeom prst="rect">
            <a:avLst/>
          </a:prstGeom>
          <a:noFill/>
          <a:ln>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0.svg"/><Relationship Id="rId5" Type="http://schemas.openxmlformats.org/officeDocument/2006/relationships/image" Target="../media/image9.svg"/><Relationship Id="rId4" Type="http://schemas.openxmlformats.org/officeDocument/2006/relationships/image" Target="../media/image8.svg"/><Relationship Id="rId9" Type="http://schemas.openxmlformats.org/officeDocument/2006/relationships/image" Target="../media/image13.sv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331553" y="265831"/>
            <a:ext cx="6370999" cy="1498961"/>
          </a:xfrm>
          <a:prstGeom prst="rect">
            <a:avLst/>
          </a:prstGeom>
          <a:noFill/>
          <a:ln/>
        </p:spPr>
        <p:txBody>
          <a:bodyPr wrap="square" lIns="0" tIns="0" rIns="0" bIns="0" rtlCol="0" anchor="t">
            <a:normAutofit/>
          </a:bodyPr>
          <a:lstStyle/>
          <a:p>
            <a:pPr marL="0" indent="0" algn="l">
              <a:lnSpc>
                <a:spcPct val="104000"/>
              </a:lnSpc>
              <a:buNone/>
            </a:pPr>
            <a:r>
              <a:rPr lang="en-US" sz="2750" dirty="0">
                <a:solidFill>
                  <a:srgbClr val="371A2D"/>
                </a:solidFill>
                <a:latin typeface="Noto Serif SemiBold" pitchFamily="34" charset="0"/>
                <a:ea typeface="Noto Serif SemiBold" pitchFamily="34" charset="-122"/>
                <a:cs typeface="Noto Serif SemiBold" pitchFamily="34" charset="-120"/>
              </a:rPr>
              <a:t>Comparative Analysis of Time Series Forecasting Models Across Different Demand Characteristics</a:t>
            </a:r>
            <a:endParaRPr lang="en-US" sz="2750" dirty="0"/>
          </a:p>
        </p:txBody>
      </p:sp>
      <p:pic>
        <p:nvPicPr>
          <p:cNvPr id="6" name="Picture 5">
            <a:extLst>
              <a:ext uri="{FF2B5EF4-FFF2-40B4-BE49-F238E27FC236}">
                <a16:creationId xmlns:a16="http://schemas.microsoft.com/office/drawing/2014/main" id="{C054862A-96DC-39A8-C0DB-0A8C55E60376}"/>
              </a:ext>
            </a:extLst>
          </p:cNvPr>
          <p:cNvPicPr>
            <a:picLocks noChangeAspect="1"/>
          </p:cNvPicPr>
          <p:nvPr/>
        </p:nvPicPr>
        <p:blipFill>
          <a:blip r:embed="rId3"/>
          <a:srcRect t="13640" r="50780" b="27601"/>
          <a:stretch>
            <a:fillRect/>
          </a:stretch>
        </p:blipFill>
        <p:spPr>
          <a:xfrm>
            <a:off x="4572000" y="1271016"/>
            <a:ext cx="4531777" cy="3606653"/>
          </a:xfrm>
          <a:prstGeom prst="rect">
            <a:avLst/>
          </a:prstGeom>
        </p:spPr>
      </p:pic>
      <p:sp>
        <p:nvSpPr>
          <p:cNvPr id="9" name="Text 1">
            <a:extLst>
              <a:ext uri="{FF2B5EF4-FFF2-40B4-BE49-F238E27FC236}">
                <a16:creationId xmlns:a16="http://schemas.microsoft.com/office/drawing/2014/main" id="{16269BF8-9DCC-DF3B-B9B0-0936335E79B8}"/>
              </a:ext>
            </a:extLst>
          </p:cNvPr>
          <p:cNvSpPr/>
          <p:nvPr/>
        </p:nvSpPr>
        <p:spPr>
          <a:xfrm>
            <a:off x="331553" y="2985423"/>
            <a:ext cx="4667845" cy="1294061"/>
          </a:xfrm>
          <a:prstGeom prst="rect">
            <a:avLst/>
          </a:prstGeom>
          <a:noFill/>
          <a:ln/>
        </p:spPr>
        <p:txBody>
          <a:bodyPr wrap="square" lIns="0" tIns="0" rIns="0" bIns="0" rtlCol="0" anchor="t"/>
          <a:lstStyle/>
          <a:p>
            <a:pPr marL="0" indent="0" algn="l">
              <a:lnSpc>
                <a:spcPct val="133000"/>
              </a:lnSpc>
              <a:spcAft>
                <a:spcPts val="1300"/>
              </a:spcAft>
              <a:buNone/>
            </a:pPr>
            <a:r>
              <a:rPr lang="en-US" sz="1150" dirty="0">
                <a:solidFill>
                  <a:srgbClr val="432338"/>
                </a:solidFill>
                <a:latin typeface="Source Sans 3" pitchFamily="34" charset="0"/>
                <a:ea typeface="Source Sans 3" pitchFamily="34" charset="-122"/>
                <a:cs typeface="Source Sans 3" pitchFamily="34" charset="-120"/>
              </a:rPr>
              <a:t>Team: J Saidarsh ,M Siddardha ,Nekkanti Abhinav, G Anirudh</a:t>
            </a:r>
            <a:endParaRPr lang="en-US" sz="1150" dirty="0"/>
          </a:p>
          <a:p>
            <a:pPr marL="0" indent="0" algn="l">
              <a:lnSpc>
                <a:spcPct val="133000"/>
              </a:lnSpc>
              <a:spcAft>
                <a:spcPts val="1300"/>
              </a:spcAft>
              <a:buNone/>
            </a:pPr>
            <a:r>
              <a:rPr lang="en-US" sz="1150" dirty="0">
                <a:solidFill>
                  <a:srgbClr val="432338"/>
                </a:solidFill>
                <a:latin typeface="Source Sans 3" pitchFamily="34" charset="0"/>
                <a:ea typeface="Source Sans 3" pitchFamily="34" charset="-122"/>
                <a:cs typeface="Source Sans 3" pitchFamily="34" charset="-120"/>
              </a:rPr>
              <a:t>University IDs: 2420030145 / 2420030214 / 2420030470 / 2420030758 </a:t>
            </a:r>
          </a:p>
          <a:p>
            <a:pPr marL="0" indent="0" algn="l">
              <a:lnSpc>
                <a:spcPct val="133000"/>
              </a:lnSpc>
              <a:spcAft>
                <a:spcPts val="1300"/>
              </a:spcAft>
              <a:buNone/>
            </a:pPr>
            <a:r>
              <a:rPr lang="en-US" sz="1150" dirty="0">
                <a:solidFill>
                  <a:srgbClr val="432338"/>
                </a:solidFill>
                <a:latin typeface="Source Sans 3" pitchFamily="34" charset="0"/>
                <a:ea typeface="Source Sans 3" pitchFamily="34" charset="-122"/>
                <a:cs typeface="Source Sans 3" pitchFamily="34" charset="-120"/>
              </a:rPr>
              <a:t>Guide: Dr. Swapnika— Section: 1</a:t>
            </a:r>
            <a:endParaRPr lang="en-US" sz="1150" dirty="0"/>
          </a:p>
          <a:p>
            <a:pPr marL="0" indent="0" algn="l">
              <a:lnSpc>
                <a:spcPct val="133000"/>
              </a:lnSpc>
              <a:buNone/>
            </a:pPr>
            <a:r>
              <a:rPr lang="en-US" sz="1150" dirty="0">
                <a:solidFill>
                  <a:srgbClr val="432338"/>
                </a:solidFill>
                <a:latin typeface="Source Sans 3" pitchFamily="34" charset="0"/>
                <a:ea typeface="Source Sans 3" pitchFamily="34" charset="-122"/>
                <a:cs typeface="Source Sans 3" pitchFamily="34" charset="-120"/>
              </a:rPr>
              <a:t>Department of Computer Science &amp; Engineering</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Shape 0"/>
          <p:cNvSpPr/>
          <p:nvPr/>
        </p:nvSpPr>
        <p:spPr>
          <a:xfrm>
            <a:off x="3952577" y="654844"/>
            <a:ext cx="1295326" cy="227335"/>
          </a:xfrm>
          <a:prstGeom prst="roundRect">
            <a:avLst>
              <a:gd name="adj" fmla="val 22113"/>
            </a:avLst>
          </a:prstGeom>
          <a:solidFill>
            <a:srgbClr val="F9D2EB"/>
          </a:solidFill>
          <a:ln/>
        </p:spPr>
        <p:txBody>
          <a:bodyPr/>
          <a:lstStyle/>
          <a:p>
            <a:endParaRPr lang="en-US"/>
          </a:p>
        </p:txBody>
      </p:sp>
      <p:sp>
        <p:nvSpPr>
          <p:cNvPr id="4" name="Text 1"/>
          <p:cNvSpPr/>
          <p:nvPr/>
        </p:nvSpPr>
        <p:spPr>
          <a:xfrm>
            <a:off x="4042321" y="699715"/>
            <a:ext cx="1573039" cy="137592"/>
          </a:xfrm>
          <a:prstGeom prst="rect">
            <a:avLst/>
          </a:prstGeom>
          <a:noFill/>
          <a:ln/>
        </p:spPr>
        <p:txBody>
          <a:bodyPr wrap="none" lIns="0" tIns="0" rIns="0" bIns="0" rtlCol="0" anchor="t"/>
          <a:lstStyle/>
          <a:p>
            <a:pPr marL="0" indent="0" algn="l">
              <a:lnSpc>
                <a:spcPct val="96000"/>
              </a:lnSpc>
              <a:buNone/>
            </a:pPr>
            <a:r>
              <a:rPr lang="en-US" sz="900" dirty="0">
                <a:solidFill>
                  <a:srgbClr val="432338"/>
                </a:solidFill>
                <a:latin typeface="Source Sans 3" pitchFamily="34" charset="0"/>
                <a:ea typeface="Source Sans 3" pitchFamily="34" charset="-122"/>
                <a:cs typeface="Source Sans 3" pitchFamily="34" charset="-120"/>
              </a:rPr>
              <a:t>PROBLEM STATEMENT</a:t>
            </a:r>
            <a:endParaRPr lang="en-US" sz="900" dirty="0"/>
          </a:p>
        </p:txBody>
      </p:sp>
      <p:sp>
        <p:nvSpPr>
          <p:cNvPr id="5" name="Text 2"/>
          <p:cNvSpPr/>
          <p:nvPr/>
        </p:nvSpPr>
        <p:spPr>
          <a:xfrm>
            <a:off x="3952577" y="942008"/>
            <a:ext cx="4667845" cy="880021"/>
          </a:xfrm>
          <a:prstGeom prst="rect">
            <a:avLst/>
          </a:prstGeom>
          <a:noFill/>
          <a:ln/>
        </p:spPr>
        <p:txBody>
          <a:bodyPr wrap="square" lIns="0" tIns="0" rIns="0" bIns="0" rtlCol="0" anchor="t">
            <a:normAutofit/>
          </a:bodyPr>
          <a:lstStyle/>
          <a:p>
            <a:pPr marL="0" indent="0" algn="l">
              <a:lnSpc>
                <a:spcPct val="104000"/>
              </a:lnSpc>
              <a:buNone/>
            </a:pPr>
            <a:r>
              <a:rPr lang="en-US" sz="2750" dirty="0">
                <a:solidFill>
                  <a:srgbClr val="371A2D"/>
                </a:solidFill>
                <a:latin typeface="Noto Serif SemiBold" pitchFamily="34" charset="0"/>
                <a:ea typeface="Noto Serif SemiBold" pitchFamily="34" charset="-122"/>
                <a:cs typeface="Noto Serif SemiBold" pitchFamily="34" charset="-120"/>
              </a:rPr>
              <a:t>The Central Research Problem</a:t>
            </a:r>
            <a:endParaRPr lang="en-US" sz="2750" dirty="0"/>
          </a:p>
        </p:txBody>
      </p:sp>
      <p:sp>
        <p:nvSpPr>
          <p:cNvPr id="6" name="Text 3"/>
          <p:cNvSpPr/>
          <p:nvPr/>
        </p:nvSpPr>
        <p:spPr>
          <a:xfrm>
            <a:off x="3952577" y="2046387"/>
            <a:ext cx="4667845" cy="1196950"/>
          </a:xfrm>
          <a:prstGeom prst="rect">
            <a:avLst/>
          </a:prstGeom>
          <a:noFill/>
          <a:ln/>
        </p:spPr>
        <p:txBody>
          <a:bodyPr wrap="square" lIns="0" tIns="0" rIns="0" bIns="0" rtlCol="0" anchor="t">
            <a:normAutofit/>
          </a:bodyPr>
          <a:lstStyle/>
          <a:p>
            <a:pPr marL="0" indent="0" algn="l">
              <a:lnSpc>
                <a:spcPct val="133000"/>
              </a:lnSpc>
              <a:buNone/>
            </a:pPr>
            <a:r>
              <a:rPr lang="en-US" sz="1150" dirty="0">
                <a:solidFill>
                  <a:srgbClr val="432338"/>
                </a:solidFill>
                <a:latin typeface="Source Sans 3" pitchFamily="34" charset="0"/>
                <a:ea typeface="Source Sans 3" pitchFamily="34" charset="-122"/>
                <a:cs typeface="Source Sans 3" pitchFamily="34" charset="-120"/>
              </a:rPr>
              <a:t>Demand forecasting estimates future demand from historical observations, critical across retail, inventory, production, transportation, energy, and resource allocation. Demand series vary in trend, seasonality, intermittency, variability, and temporal dependence — each influencing how forecasting approaches perform.</a:t>
            </a:r>
            <a:endParaRPr lang="en-US" sz="1150" dirty="0"/>
          </a:p>
        </p:txBody>
      </p:sp>
      <p:sp>
        <p:nvSpPr>
          <p:cNvPr id="7" name="Shape 4"/>
          <p:cNvSpPr/>
          <p:nvPr/>
        </p:nvSpPr>
        <p:spPr>
          <a:xfrm>
            <a:off x="3952577" y="3411587"/>
            <a:ext cx="4667845" cy="1077069"/>
          </a:xfrm>
          <a:prstGeom prst="roundRect">
            <a:avLst>
              <a:gd name="adj" fmla="val 5834"/>
            </a:avLst>
          </a:prstGeom>
          <a:solidFill>
            <a:srgbClr val="F9D2EB"/>
          </a:solidFill>
          <a:ln/>
        </p:spPr>
        <p:txBody>
          <a:bodyPr/>
          <a:lstStyle/>
          <a:p>
            <a:endParaRPr lang="en-US"/>
          </a:p>
        </p:txBody>
      </p:sp>
      <p:pic>
        <p:nvPicPr>
          <p:cNvPr id="8" name="Image 1" descr="preencoded.png"/>
          <p:cNvPicPr>
            <a:picLocks noChangeAspect="1"/>
          </p:cNvPicPr>
          <p:nvPr/>
        </p:nvPicPr>
        <p:blipFill>
          <a:blip r:embed="rId3"/>
          <a:stretch>
            <a:fillRect/>
          </a:stretch>
        </p:blipFill>
        <p:spPr>
          <a:xfrm>
            <a:off x="4102150" y="3629546"/>
            <a:ext cx="187003" cy="149572"/>
          </a:xfrm>
          <a:prstGeom prst="rect">
            <a:avLst/>
          </a:prstGeom>
        </p:spPr>
      </p:pic>
      <p:sp>
        <p:nvSpPr>
          <p:cNvPr id="9" name="Text 5"/>
          <p:cNvSpPr/>
          <p:nvPr/>
        </p:nvSpPr>
        <p:spPr>
          <a:xfrm>
            <a:off x="4438724" y="3598515"/>
            <a:ext cx="4032126" cy="718170"/>
          </a:xfrm>
          <a:prstGeom prst="rect">
            <a:avLst/>
          </a:prstGeom>
          <a:noFill/>
          <a:ln/>
        </p:spPr>
        <p:txBody>
          <a:bodyPr wrap="square" lIns="0" tIns="0" rIns="0" bIns="0" rtlCol="0" anchor="t">
            <a:normAutofit/>
          </a:bodyPr>
          <a:lstStyle/>
          <a:p>
            <a:pPr marL="0" indent="0" algn="l">
              <a:lnSpc>
                <a:spcPct val="133000"/>
              </a:lnSpc>
              <a:buNone/>
            </a:pPr>
            <a:r>
              <a:rPr lang="en-US" sz="1150" b="1" dirty="0">
                <a:solidFill>
                  <a:srgbClr val="000000"/>
                </a:solidFill>
                <a:latin typeface="Source Sans 3 Bold" pitchFamily="34" charset="0"/>
                <a:ea typeface="Source Sans 3 Bold" pitchFamily="34" charset="-122"/>
                <a:cs typeface="Source Sans 3 Bold" pitchFamily="34" charset="-120"/>
              </a:rPr>
              <a:t>Research Question:</a:t>
            </a:r>
            <a:r>
              <a:rPr lang="en-US" sz="1150" dirty="0">
                <a:solidFill>
                  <a:srgbClr val="000000"/>
                </a:solidFill>
                <a:latin typeface="Source Sans 3" pitchFamily="34" charset="0"/>
                <a:ea typeface="Source Sans 3" pitchFamily="34" charset="-122"/>
                <a:cs typeface="Source Sans 3" pitchFamily="34" charset="-120"/>
              </a:rPr>
              <a:t> "How does the relative performance and practical suitability of established time-series forecasting models change across different demand characteristics?"</a:t>
            </a:r>
            <a:endParaRPr lang="en-US" sz="1150" dirty="0"/>
          </a:p>
        </p:txBody>
      </p:sp>
      <p:pic>
        <p:nvPicPr>
          <p:cNvPr id="14" name="Picture 13">
            <a:extLst>
              <a:ext uri="{FF2B5EF4-FFF2-40B4-BE49-F238E27FC236}">
                <a16:creationId xmlns:a16="http://schemas.microsoft.com/office/drawing/2014/main" id="{3E316556-42E5-10F4-FF32-65E47747CE0D}"/>
              </a:ext>
            </a:extLst>
          </p:cNvPr>
          <p:cNvPicPr>
            <a:picLocks noChangeAspect="1"/>
          </p:cNvPicPr>
          <p:nvPr/>
        </p:nvPicPr>
        <p:blipFill>
          <a:blip r:embed="rId4"/>
          <a:srcRect l="46335" t="3470" r="1249"/>
          <a:stretch>
            <a:fillRect/>
          </a:stretch>
        </p:blipFill>
        <p:spPr>
          <a:xfrm>
            <a:off x="38073" y="173736"/>
            <a:ext cx="3801090" cy="486460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23577" y="518071"/>
            <a:ext cx="798165" cy="227335"/>
          </a:xfrm>
          <a:prstGeom prst="roundRect">
            <a:avLst>
              <a:gd name="adj" fmla="val 22113"/>
            </a:avLst>
          </a:prstGeom>
          <a:solidFill>
            <a:srgbClr val="F9D2EB"/>
          </a:solidFill>
          <a:ln/>
        </p:spPr>
        <p:txBody>
          <a:bodyPr/>
          <a:lstStyle/>
          <a:p>
            <a:endParaRPr lang="en-US"/>
          </a:p>
        </p:txBody>
      </p:sp>
      <p:sp>
        <p:nvSpPr>
          <p:cNvPr id="3" name="Text 1"/>
          <p:cNvSpPr/>
          <p:nvPr/>
        </p:nvSpPr>
        <p:spPr>
          <a:xfrm>
            <a:off x="613321" y="562942"/>
            <a:ext cx="1075879" cy="137592"/>
          </a:xfrm>
          <a:prstGeom prst="rect">
            <a:avLst/>
          </a:prstGeom>
          <a:noFill/>
          <a:ln/>
        </p:spPr>
        <p:txBody>
          <a:bodyPr wrap="none" lIns="0" tIns="0" rIns="0" bIns="0" rtlCol="0" anchor="t"/>
          <a:lstStyle/>
          <a:p>
            <a:pPr marL="0" indent="0" algn="l">
              <a:lnSpc>
                <a:spcPct val="96000"/>
              </a:lnSpc>
              <a:buNone/>
            </a:pPr>
            <a:r>
              <a:rPr lang="en-US" sz="900" dirty="0">
                <a:solidFill>
                  <a:srgbClr val="432338"/>
                </a:solidFill>
                <a:latin typeface="Source Sans 3" pitchFamily="34" charset="0"/>
                <a:ea typeface="Source Sans 3" pitchFamily="34" charset="-122"/>
                <a:cs typeface="Source Sans 3" pitchFamily="34" charset="-120"/>
              </a:rPr>
              <a:t>OBJECTIVES</a:t>
            </a:r>
            <a:endParaRPr lang="en-US" sz="900" dirty="0"/>
          </a:p>
        </p:txBody>
      </p:sp>
      <p:sp>
        <p:nvSpPr>
          <p:cNvPr id="4" name="Text 2"/>
          <p:cNvSpPr/>
          <p:nvPr/>
        </p:nvSpPr>
        <p:spPr>
          <a:xfrm>
            <a:off x="523577" y="805235"/>
            <a:ext cx="8096845" cy="440010"/>
          </a:xfrm>
          <a:prstGeom prst="rect">
            <a:avLst/>
          </a:prstGeom>
          <a:noFill/>
          <a:ln/>
        </p:spPr>
        <p:txBody>
          <a:bodyPr wrap="none" lIns="0" tIns="0" rIns="0" bIns="0" rtlCol="0" anchor="t"/>
          <a:lstStyle/>
          <a:p>
            <a:pPr marL="0" indent="0" algn="l">
              <a:lnSpc>
                <a:spcPct val="104000"/>
              </a:lnSpc>
              <a:buNone/>
            </a:pPr>
            <a:r>
              <a:rPr lang="en-US" sz="2750" dirty="0">
                <a:solidFill>
                  <a:srgbClr val="371A2D"/>
                </a:solidFill>
                <a:latin typeface="Noto Serif SemiBold" pitchFamily="34" charset="0"/>
                <a:ea typeface="Noto Serif SemiBold" pitchFamily="34" charset="-122"/>
                <a:cs typeface="Noto Serif SemiBold" pitchFamily="34" charset="-120"/>
              </a:rPr>
              <a:t>Research Objectives</a:t>
            </a:r>
            <a:endParaRPr lang="en-US" sz="2750" dirty="0"/>
          </a:p>
        </p:txBody>
      </p:sp>
      <p:sp>
        <p:nvSpPr>
          <p:cNvPr id="5" name="Shape 3"/>
          <p:cNvSpPr/>
          <p:nvPr/>
        </p:nvSpPr>
        <p:spPr>
          <a:xfrm>
            <a:off x="415900" y="1469603"/>
            <a:ext cx="4081314" cy="2748111"/>
          </a:xfrm>
          <a:prstGeom prst="roundRect">
            <a:avLst>
              <a:gd name="adj" fmla="val 3920"/>
            </a:avLst>
          </a:prstGeom>
          <a:solidFill>
            <a:srgbClr val="E851B2">
              <a:alpha val="95000"/>
            </a:srgbClr>
          </a:solidFill>
          <a:ln/>
        </p:spPr>
        <p:txBody>
          <a:bodyPr/>
          <a:lstStyle/>
          <a:p>
            <a:endParaRPr lang="en-US"/>
          </a:p>
        </p:txBody>
      </p:sp>
      <p:sp>
        <p:nvSpPr>
          <p:cNvPr id="6" name="Text 4"/>
          <p:cNvSpPr/>
          <p:nvPr/>
        </p:nvSpPr>
        <p:spPr>
          <a:xfrm>
            <a:off x="565472" y="1619176"/>
            <a:ext cx="3782169" cy="219968"/>
          </a:xfrm>
          <a:prstGeom prst="rect">
            <a:avLst/>
          </a:prstGeom>
          <a:noFill/>
          <a:ln/>
        </p:spPr>
        <p:txBody>
          <a:bodyPr wrap="none" lIns="0" tIns="0" rIns="0" bIns="0" rtlCol="0" anchor="t"/>
          <a:lstStyle/>
          <a:p>
            <a:pPr marL="0" indent="0" algn="l">
              <a:lnSpc>
                <a:spcPct val="104000"/>
              </a:lnSpc>
              <a:buNone/>
            </a:pPr>
            <a:r>
              <a:rPr lang="en-US" sz="1350" dirty="0">
                <a:solidFill>
                  <a:srgbClr val="371A2D"/>
                </a:solidFill>
                <a:latin typeface="Noto Serif SemiBold" pitchFamily="34" charset="0"/>
                <a:ea typeface="Noto Serif SemiBold" pitchFamily="34" charset="-122"/>
                <a:cs typeface="Noto Serif SemiBold" pitchFamily="34" charset="-120"/>
              </a:rPr>
              <a:t>Research &amp; Experiment Design (1–6)</a:t>
            </a:r>
            <a:endParaRPr lang="en-US" sz="1350" dirty="0"/>
          </a:p>
        </p:txBody>
      </p:sp>
      <p:sp>
        <p:nvSpPr>
          <p:cNvPr id="7" name="Text 5"/>
          <p:cNvSpPr/>
          <p:nvPr/>
        </p:nvSpPr>
        <p:spPr>
          <a:xfrm>
            <a:off x="565472" y="1988716"/>
            <a:ext cx="3782169" cy="2176686"/>
          </a:xfrm>
          <a:prstGeom prst="rect">
            <a:avLst/>
          </a:prstGeom>
          <a:noFill/>
          <a:ln/>
        </p:spPr>
        <p:txBody>
          <a:bodyPr wrap="square" lIns="0" tIns="0" rIns="0" bIns="0" rtlCol="0" anchor="t">
            <a:normAutofit/>
          </a:bodyPr>
          <a:lstStyle/>
          <a:p>
            <a:pPr marL="233680" indent="-233680" algn="l">
              <a:lnSpc>
                <a:spcPct val="133000"/>
              </a:lnSpc>
              <a:buSzPct val="100000"/>
              <a:buFont typeface="+mj-lt"/>
              <a:buAutoNum type="arabicPeriod"/>
            </a:pPr>
            <a:r>
              <a:rPr lang="en-US" sz="1150" dirty="0">
                <a:solidFill>
                  <a:srgbClr val="000000"/>
                </a:solidFill>
                <a:latin typeface="Source Sans 3" pitchFamily="34" charset="0"/>
                <a:ea typeface="Source Sans 3" pitchFamily="34" charset="-122"/>
                <a:cs typeface="Source Sans 3" pitchFamily="34" charset="-120"/>
              </a:rPr>
              <a:t>Study recent forecasting research and benchmarks</a:t>
            </a:r>
            <a:endParaRPr lang="en-US" sz="1150" dirty="0"/>
          </a:p>
          <a:p>
            <a:pPr marL="233680" indent="-233680" algn="l">
              <a:lnSpc>
                <a:spcPct val="133000"/>
              </a:lnSpc>
              <a:buSzPct val="100000"/>
              <a:buFont typeface="+mj-lt"/>
              <a:buAutoNum type="arabicPeriod" startAt="2"/>
            </a:pPr>
            <a:r>
              <a:rPr lang="en-US" sz="1150" dirty="0">
                <a:solidFill>
                  <a:srgbClr val="000000"/>
                </a:solidFill>
                <a:latin typeface="Source Sans 3" pitchFamily="34" charset="0"/>
                <a:ea typeface="Source Sans 3" pitchFamily="34" charset="-122"/>
                <a:cs typeface="Source Sans 3" pitchFamily="34" charset="-120"/>
              </a:rPr>
              <a:t>Identify gaps in fair comparison and model suitability</a:t>
            </a:r>
            <a:endParaRPr lang="en-US" sz="1150" dirty="0"/>
          </a:p>
          <a:p>
            <a:pPr marL="233680" indent="-233680" algn="l">
              <a:lnSpc>
                <a:spcPct val="133000"/>
              </a:lnSpc>
              <a:buSzPct val="100000"/>
              <a:buFont typeface="+mj-lt"/>
              <a:buAutoNum type="arabicPeriod" startAt="3"/>
            </a:pPr>
            <a:r>
              <a:rPr lang="en-US" sz="1150" dirty="0">
                <a:solidFill>
                  <a:srgbClr val="000000"/>
                </a:solidFill>
                <a:latin typeface="Source Sans 3" pitchFamily="34" charset="0"/>
                <a:ea typeface="Source Sans 3" pitchFamily="34" charset="-122"/>
                <a:cs typeface="Source Sans 3" pitchFamily="34" charset="-120"/>
              </a:rPr>
              <a:t>Select benchmark datasets with diverse demand characteristics</a:t>
            </a:r>
            <a:endParaRPr lang="en-US" sz="1150" dirty="0"/>
          </a:p>
          <a:p>
            <a:pPr marL="233680" indent="-233680" algn="l">
              <a:lnSpc>
                <a:spcPct val="133000"/>
              </a:lnSpc>
              <a:buSzPct val="100000"/>
              <a:buFont typeface="+mj-lt"/>
              <a:buAutoNum type="arabicPeriod" startAt="4"/>
            </a:pPr>
            <a:r>
              <a:rPr lang="en-US" sz="1150" dirty="0">
                <a:solidFill>
                  <a:srgbClr val="000000"/>
                </a:solidFill>
                <a:latin typeface="Source Sans 3" pitchFamily="34" charset="0"/>
                <a:ea typeface="Source Sans 3" pitchFamily="34" charset="-122"/>
                <a:cs typeface="Source Sans 3" pitchFamily="34" charset="-120"/>
              </a:rPr>
              <a:t>Analyze datasets for trend, seasonality, intermittency, variability</a:t>
            </a:r>
            <a:endParaRPr lang="en-US" sz="1150" dirty="0"/>
          </a:p>
          <a:p>
            <a:pPr marL="233680" indent="-233680" algn="l">
              <a:lnSpc>
                <a:spcPct val="133000"/>
              </a:lnSpc>
              <a:buSzPct val="100000"/>
              <a:buFont typeface="+mj-lt"/>
              <a:buAutoNum type="arabicPeriod" startAt="5"/>
            </a:pPr>
            <a:r>
              <a:rPr lang="en-US" sz="1150" dirty="0">
                <a:solidFill>
                  <a:srgbClr val="000000"/>
                </a:solidFill>
                <a:latin typeface="Source Sans 3" pitchFamily="34" charset="0"/>
                <a:ea typeface="Source Sans 3" pitchFamily="34" charset="-122"/>
                <a:cs typeface="Source Sans 3" pitchFamily="34" charset="-120"/>
              </a:rPr>
              <a:t>Select established models with suitable baselines</a:t>
            </a:r>
            <a:endParaRPr lang="en-US" sz="1150" dirty="0"/>
          </a:p>
          <a:p>
            <a:pPr marL="233680" indent="-233680" algn="l">
              <a:lnSpc>
                <a:spcPct val="133000"/>
              </a:lnSpc>
              <a:buSzPct val="100000"/>
              <a:buFont typeface="+mj-lt"/>
              <a:buAutoNum type="arabicPeriod" startAt="6"/>
            </a:pPr>
            <a:r>
              <a:rPr lang="en-US" sz="1150" dirty="0">
                <a:solidFill>
                  <a:srgbClr val="000000"/>
                </a:solidFill>
                <a:latin typeface="Source Sans 3" pitchFamily="34" charset="0"/>
                <a:ea typeface="Source Sans 3" pitchFamily="34" charset="-122"/>
                <a:cs typeface="Source Sans 3" pitchFamily="34" charset="-120"/>
              </a:rPr>
              <a:t>Design chronological train/val/test avoiding data leakage</a:t>
            </a:r>
            <a:endParaRPr lang="en-US" sz="1150" dirty="0"/>
          </a:p>
        </p:txBody>
      </p:sp>
      <p:sp>
        <p:nvSpPr>
          <p:cNvPr id="8" name="Text 6"/>
          <p:cNvSpPr/>
          <p:nvPr/>
        </p:nvSpPr>
        <p:spPr>
          <a:xfrm>
            <a:off x="4759226" y="1619176"/>
            <a:ext cx="3865959" cy="439936"/>
          </a:xfrm>
          <a:prstGeom prst="rect">
            <a:avLst/>
          </a:prstGeom>
          <a:noFill/>
          <a:ln/>
        </p:spPr>
        <p:txBody>
          <a:bodyPr wrap="square" lIns="0" tIns="0" rIns="0" bIns="0" rtlCol="0" anchor="t">
            <a:normAutofit/>
          </a:bodyPr>
          <a:lstStyle/>
          <a:p>
            <a:pPr marL="0" indent="0" algn="l">
              <a:lnSpc>
                <a:spcPct val="104000"/>
              </a:lnSpc>
              <a:buNone/>
            </a:pPr>
            <a:r>
              <a:rPr lang="en-US" sz="1350" dirty="0">
                <a:solidFill>
                  <a:srgbClr val="371A2D"/>
                </a:solidFill>
                <a:latin typeface="Noto Serif SemiBold" pitchFamily="34" charset="0"/>
                <a:ea typeface="Noto Serif SemiBold" pitchFamily="34" charset="-122"/>
                <a:cs typeface="Noto Serif SemiBold" pitchFamily="34" charset="-120"/>
              </a:rPr>
              <a:t>Implementation, Evaluation &amp; Findings (7–11)</a:t>
            </a:r>
            <a:endParaRPr lang="en-US" sz="1350" dirty="0"/>
          </a:p>
        </p:txBody>
      </p:sp>
      <p:sp>
        <p:nvSpPr>
          <p:cNvPr id="9" name="Text 7"/>
          <p:cNvSpPr/>
          <p:nvPr/>
        </p:nvSpPr>
        <p:spPr>
          <a:xfrm>
            <a:off x="4759226" y="2208684"/>
            <a:ext cx="3865959" cy="1406203"/>
          </a:xfrm>
          <a:prstGeom prst="rect">
            <a:avLst/>
          </a:prstGeom>
          <a:noFill/>
          <a:ln/>
        </p:spPr>
        <p:txBody>
          <a:bodyPr wrap="square" lIns="0" tIns="0" rIns="0" bIns="0" rtlCol="0" anchor="t">
            <a:normAutofit/>
          </a:bodyPr>
          <a:lstStyle/>
          <a:p>
            <a:pPr marL="233680" indent="-233680" algn="l">
              <a:lnSpc>
                <a:spcPct val="133000"/>
              </a:lnSpc>
              <a:buSzPct val="100000"/>
              <a:buFont typeface="+mj-lt"/>
              <a:buAutoNum type="arabicPeriod"/>
            </a:pPr>
            <a:r>
              <a:rPr lang="en-US" sz="1150" dirty="0">
                <a:solidFill>
                  <a:srgbClr val="432338"/>
                </a:solidFill>
                <a:latin typeface="Source Sans 3" pitchFamily="34" charset="0"/>
                <a:ea typeface="Source Sans 3" pitchFamily="34" charset="-122"/>
                <a:cs typeface="Source Sans 3" pitchFamily="34" charset="-120"/>
              </a:rPr>
              <a:t>Implement methods and generate forecasts</a:t>
            </a:r>
            <a:endParaRPr lang="en-US" sz="1150" dirty="0"/>
          </a:p>
          <a:p>
            <a:pPr marL="233680" indent="-233680" algn="l">
              <a:lnSpc>
                <a:spcPct val="133000"/>
              </a:lnSpc>
              <a:buSzPct val="100000"/>
              <a:buFont typeface="+mj-lt"/>
              <a:buAutoNum type="arabicPeriod" startAt="2"/>
            </a:pPr>
            <a:r>
              <a:rPr lang="en-US" sz="1150" dirty="0">
                <a:solidFill>
                  <a:srgbClr val="432338"/>
                </a:solidFill>
                <a:latin typeface="Source Sans 3" pitchFamily="34" charset="0"/>
                <a:ea typeface="Source Sans 3" pitchFamily="34" charset="-122"/>
                <a:cs typeface="Source Sans 3" pitchFamily="34" charset="-120"/>
              </a:rPr>
              <a:t>Evaluate using multiple error measures</a:t>
            </a:r>
            <a:endParaRPr lang="en-US" sz="1150" dirty="0"/>
          </a:p>
          <a:p>
            <a:pPr marL="233680" indent="-233680" algn="l">
              <a:lnSpc>
                <a:spcPct val="133000"/>
              </a:lnSpc>
              <a:buSzPct val="100000"/>
              <a:buFont typeface="+mj-lt"/>
              <a:buAutoNum type="arabicPeriod" startAt="3"/>
            </a:pPr>
            <a:r>
              <a:rPr lang="en-US" sz="1150" dirty="0">
                <a:solidFill>
                  <a:srgbClr val="432338"/>
                </a:solidFill>
                <a:latin typeface="Source Sans 3" pitchFamily="34" charset="0"/>
                <a:ea typeface="Source Sans 3" pitchFamily="34" charset="-122"/>
                <a:cs typeface="Source Sans 3" pitchFamily="34" charset="-120"/>
              </a:rPr>
              <a:t>Compare performance across datasets and characteristics</a:t>
            </a:r>
            <a:endParaRPr lang="en-US" sz="1150" dirty="0"/>
          </a:p>
          <a:p>
            <a:pPr marL="233680" indent="-233680" algn="l">
              <a:lnSpc>
                <a:spcPct val="133000"/>
              </a:lnSpc>
              <a:buSzPct val="100000"/>
              <a:buFont typeface="+mj-lt"/>
              <a:buAutoNum type="arabicPeriod" startAt="4"/>
            </a:pPr>
            <a:r>
              <a:rPr lang="en-US" sz="1150" dirty="0">
                <a:solidFill>
                  <a:srgbClr val="432338"/>
                </a:solidFill>
                <a:latin typeface="Source Sans 3" pitchFamily="34" charset="0"/>
                <a:ea typeface="Source Sans 3" pitchFamily="34" charset="-122"/>
                <a:cs typeface="Source Sans 3" pitchFamily="34" charset="-120"/>
              </a:rPr>
              <a:t>Derive suitability conclusions per demand behavior</a:t>
            </a:r>
            <a:endParaRPr lang="en-US" sz="1150" dirty="0"/>
          </a:p>
          <a:p>
            <a:pPr marL="233680" indent="-233680" algn="l">
              <a:lnSpc>
                <a:spcPct val="133000"/>
              </a:lnSpc>
              <a:buSzPct val="100000"/>
              <a:buFont typeface="+mj-lt"/>
              <a:buAutoNum type="arabicPeriod" startAt="5"/>
            </a:pPr>
            <a:r>
              <a:rPr lang="en-US" sz="1150" dirty="0">
                <a:solidFill>
                  <a:srgbClr val="432338"/>
                </a:solidFill>
                <a:latin typeface="Source Sans 3" pitchFamily="34" charset="0"/>
                <a:ea typeface="Source Sans 3" pitchFamily="34" charset="-122"/>
                <a:cs typeface="Source Sans 3" pitchFamily="34" charset="-120"/>
              </a:rPr>
              <a:t>Maintain reproducible workflow for final submission</a:t>
            </a:r>
            <a:endParaRPr lang="en-US" sz="1150" dirty="0"/>
          </a:p>
        </p:txBody>
      </p:sp>
      <p:sp>
        <p:nvSpPr>
          <p:cNvPr id="10" name="Text 8"/>
          <p:cNvSpPr/>
          <p:nvPr/>
        </p:nvSpPr>
        <p:spPr>
          <a:xfrm>
            <a:off x="523577" y="4385965"/>
            <a:ext cx="8554045" cy="239390"/>
          </a:xfrm>
          <a:prstGeom prst="rect">
            <a:avLst/>
          </a:prstGeom>
          <a:noFill/>
          <a:ln/>
        </p:spPr>
        <p:txBody>
          <a:bodyPr wrap="none" lIns="0" tIns="0" rIns="0" bIns="0" rtlCol="0" anchor="t"/>
          <a:lstStyle/>
          <a:p>
            <a:pPr marL="0" indent="0" algn="l">
              <a:lnSpc>
                <a:spcPct val="133000"/>
              </a:lnSpc>
              <a:buNone/>
            </a:pPr>
            <a:r>
              <a:rPr lang="en-US" sz="1150" dirty="0">
                <a:solidFill>
                  <a:srgbClr val="432338"/>
                </a:solidFill>
                <a:latin typeface="Source Sans 3" pitchFamily="34" charset="0"/>
                <a:ea typeface="Source Sans 3" pitchFamily="34" charset="-122"/>
                <a:cs typeface="Source Sans 3" pitchFamily="34" charset="-120"/>
              </a:rPr>
              <a:t>Literature → Gap → Datasets → Characterization → Models → Evaluation → Comparison → Findings</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23577" y="457944"/>
            <a:ext cx="964109" cy="181124"/>
          </a:xfrm>
          <a:prstGeom prst="roundRect">
            <a:avLst>
              <a:gd name="adj" fmla="val 22117"/>
            </a:avLst>
          </a:prstGeom>
          <a:solidFill>
            <a:srgbClr val="F9D2EB"/>
          </a:solidFill>
          <a:ln/>
        </p:spPr>
        <p:txBody>
          <a:bodyPr/>
          <a:lstStyle/>
          <a:p>
            <a:endParaRPr lang="en-US"/>
          </a:p>
        </p:txBody>
      </p:sp>
      <p:sp>
        <p:nvSpPr>
          <p:cNvPr id="3" name="Text 1"/>
          <p:cNvSpPr/>
          <p:nvPr/>
        </p:nvSpPr>
        <p:spPr>
          <a:xfrm>
            <a:off x="595089" y="493663"/>
            <a:ext cx="1278285" cy="109686"/>
          </a:xfrm>
          <a:prstGeom prst="rect">
            <a:avLst/>
          </a:prstGeom>
          <a:noFill/>
          <a:ln/>
        </p:spPr>
        <p:txBody>
          <a:bodyPr wrap="none" lIns="0" tIns="0" rIns="0" bIns="0" rtlCol="0" anchor="t"/>
          <a:lstStyle/>
          <a:p>
            <a:pPr marL="0" indent="0" algn="l">
              <a:lnSpc>
                <a:spcPct val="96000"/>
              </a:lnSpc>
              <a:buNone/>
            </a:pPr>
            <a:r>
              <a:rPr lang="en-US" sz="750" dirty="0">
                <a:solidFill>
                  <a:srgbClr val="432338"/>
                </a:solidFill>
                <a:latin typeface="Source Sans 3" pitchFamily="34" charset="0"/>
                <a:ea typeface="Source Sans 3" pitchFamily="34" charset="-122"/>
                <a:cs typeface="Source Sans 3" pitchFamily="34" charset="-120"/>
              </a:rPr>
              <a:t>LITERATURE SURVEY</a:t>
            </a:r>
            <a:endParaRPr lang="en-US" sz="750" dirty="0"/>
          </a:p>
        </p:txBody>
      </p:sp>
      <p:sp>
        <p:nvSpPr>
          <p:cNvPr id="4" name="Text 2"/>
          <p:cNvSpPr/>
          <p:nvPr/>
        </p:nvSpPr>
        <p:spPr>
          <a:xfrm>
            <a:off x="523577" y="677019"/>
            <a:ext cx="8096845" cy="350639"/>
          </a:xfrm>
          <a:prstGeom prst="rect">
            <a:avLst/>
          </a:prstGeom>
          <a:noFill/>
          <a:ln/>
        </p:spPr>
        <p:txBody>
          <a:bodyPr wrap="none" lIns="0" tIns="0" rIns="0" bIns="0" rtlCol="0" anchor="t"/>
          <a:lstStyle/>
          <a:p>
            <a:pPr marL="0" indent="0" algn="l">
              <a:lnSpc>
                <a:spcPct val="104000"/>
              </a:lnSpc>
              <a:buNone/>
            </a:pPr>
            <a:r>
              <a:rPr lang="en-US" sz="2200" dirty="0">
                <a:solidFill>
                  <a:srgbClr val="371A2D"/>
                </a:solidFill>
                <a:latin typeface="Noto Serif SemiBold" pitchFamily="34" charset="0"/>
                <a:ea typeface="Noto Serif SemiBold" pitchFamily="34" charset="-122"/>
                <a:cs typeface="Noto Serif SemiBold" pitchFamily="34" charset="-120"/>
              </a:rPr>
              <a:t>Recent Research — Papers 1–5</a:t>
            </a:r>
            <a:endParaRPr lang="en-US" sz="2200" dirty="0"/>
          </a:p>
        </p:txBody>
      </p:sp>
      <p:sp>
        <p:nvSpPr>
          <p:cNvPr id="5" name="Shape 3"/>
          <p:cNvSpPr/>
          <p:nvPr/>
        </p:nvSpPr>
        <p:spPr>
          <a:xfrm>
            <a:off x="523577" y="1170161"/>
            <a:ext cx="8096845" cy="3515320"/>
          </a:xfrm>
          <a:prstGeom prst="roundRect">
            <a:avLst>
              <a:gd name="adj" fmla="val 1424"/>
            </a:avLst>
          </a:prstGeom>
          <a:noFill/>
          <a:ln w="4763">
            <a:solidFill>
              <a:srgbClr val="000000">
                <a:alpha val="8000"/>
              </a:srgbClr>
            </a:solidFill>
            <a:prstDash val="solid"/>
          </a:ln>
        </p:spPr>
        <p:txBody>
          <a:bodyPr/>
          <a:lstStyle/>
          <a:p>
            <a:endParaRPr lang="en-US"/>
          </a:p>
        </p:txBody>
      </p:sp>
      <p:sp>
        <p:nvSpPr>
          <p:cNvPr id="6" name="Shape 4"/>
          <p:cNvSpPr/>
          <p:nvPr/>
        </p:nvSpPr>
        <p:spPr>
          <a:xfrm>
            <a:off x="523577" y="1472133"/>
            <a:ext cx="8096845" cy="7451"/>
          </a:xfrm>
          <a:prstGeom prst="rect">
            <a:avLst/>
          </a:prstGeom>
          <a:solidFill>
            <a:srgbClr val="000000">
              <a:alpha val="8000"/>
            </a:srgbClr>
          </a:solidFill>
          <a:ln/>
        </p:spPr>
        <p:txBody>
          <a:bodyPr/>
          <a:lstStyle/>
          <a:p>
            <a:endParaRPr lang="en-US"/>
          </a:p>
        </p:txBody>
      </p:sp>
      <p:sp>
        <p:nvSpPr>
          <p:cNvPr id="7" name="Shape 5"/>
          <p:cNvSpPr/>
          <p:nvPr/>
        </p:nvSpPr>
        <p:spPr>
          <a:xfrm>
            <a:off x="523577" y="2114327"/>
            <a:ext cx="8096845" cy="7451"/>
          </a:xfrm>
          <a:prstGeom prst="rect">
            <a:avLst/>
          </a:prstGeom>
          <a:solidFill>
            <a:srgbClr val="000000">
              <a:alpha val="8000"/>
            </a:srgbClr>
          </a:solidFill>
          <a:ln/>
        </p:spPr>
        <p:txBody>
          <a:bodyPr/>
          <a:lstStyle/>
          <a:p>
            <a:endParaRPr lang="en-US"/>
          </a:p>
        </p:txBody>
      </p:sp>
      <p:sp>
        <p:nvSpPr>
          <p:cNvPr id="8" name="Shape 6"/>
          <p:cNvSpPr/>
          <p:nvPr/>
        </p:nvSpPr>
        <p:spPr>
          <a:xfrm>
            <a:off x="523577" y="2585219"/>
            <a:ext cx="8096845" cy="7451"/>
          </a:xfrm>
          <a:prstGeom prst="rect">
            <a:avLst/>
          </a:prstGeom>
          <a:solidFill>
            <a:srgbClr val="000000">
              <a:alpha val="8000"/>
            </a:srgbClr>
          </a:solidFill>
          <a:ln/>
        </p:spPr>
        <p:txBody>
          <a:bodyPr/>
          <a:lstStyle/>
          <a:p>
            <a:endParaRPr lang="en-US"/>
          </a:p>
        </p:txBody>
      </p:sp>
      <p:sp>
        <p:nvSpPr>
          <p:cNvPr id="9" name="Shape 7"/>
          <p:cNvSpPr/>
          <p:nvPr/>
        </p:nvSpPr>
        <p:spPr>
          <a:xfrm>
            <a:off x="523577" y="3227412"/>
            <a:ext cx="8096845" cy="7451"/>
          </a:xfrm>
          <a:prstGeom prst="rect">
            <a:avLst/>
          </a:prstGeom>
          <a:solidFill>
            <a:srgbClr val="000000">
              <a:alpha val="8000"/>
            </a:srgbClr>
          </a:solidFill>
          <a:ln/>
        </p:spPr>
        <p:txBody>
          <a:bodyPr/>
          <a:lstStyle/>
          <a:p>
            <a:endParaRPr lang="en-US"/>
          </a:p>
        </p:txBody>
      </p:sp>
      <p:sp>
        <p:nvSpPr>
          <p:cNvPr id="10" name="Shape 8"/>
          <p:cNvSpPr/>
          <p:nvPr/>
        </p:nvSpPr>
        <p:spPr>
          <a:xfrm>
            <a:off x="523577" y="4040907"/>
            <a:ext cx="8096845" cy="7451"/>
          </a:xfrm>
          <a:prstGeom prst="rect">
            <a:avLst/>
          </a:prstGeom>
          <a:solidFill>
            <a:srgbClr val="000000">
              <a:alpha val="8000"/>
            </a:srgbClr>
          </a:solidFill>
          <a:ln/>
        </p:spPr>
        <p:txBody>
          <a:bodyPr/>
          <a:lstStyle/>
          <a:p>
            <a:endParaRPr lang="en-US"/>
          </a:p>
        </p:txBody>
      </p:sp>
      <p:sp>
        <p:nvSpPr>
          <p:cNvPr id="11" name="Text 9"/>
          <p:cNvSpPr/>
          <p:nvPr/>
        </p:nvSpPr>
        <p:spPr>
          <a:xfrm>
            <a:off x="647626" y="1236687"/>
            <a:ext cx="623143" cy="171301"/>
          </a:xfrm>
          <a:prstGeom prst="rect">
            <a:avLst/>
          </a:prstGeom>
          <a:noFill/>
          <a:ln/>
        </p:spPr>
        <p:txBody>
          <a:bodyPr wrap="none" lIns="0" tIns="0" rIns="0" bIns="0" rtlCol="0" anchor="t"/>
          <a:lstStyle/>
          <a:p>
            <a:pPr marL="0" indent="0" algn="l">
              <a:lnSpc>
                <a:spcPct val="120000"/>
              </a:lnSpc>
              <a:buNone/>
            </a:pPr>
            <a:r>
              <a:rPr lang="en-US" sz="900" b="1" dirty="0">
                <a:solidFill>
                  <a:srgbClr val="432338"/>
                </a:solidFill>
                <a:latin typeface="Source Sans 3 Bold" pitchFamily="34" charset="0"/>
                <a:ea typeface="Source Sans 3 Bold" pitchFamily="34" charset="-122"/>
                <a:cs typeface="Source Sans 3 Bold" pitchFamily="34" charset="-120"/>
              </a:rPr>
              <a:t>#</a:t>
            </a:r>
            <a:endParaRPr lang="en-US" sz="900" dirty="0"/>
          </a:p>
        </p:txBody>
      </p:sp>
      <p:sp>
        <p:nvSpPr>
          <p:cNvPr id="12" name="Text 10"/>
          <p:cNvSpPr/>
          <p:nvPr/>
        </p:nvSpPr>
        <p:spPr>
          <a:xfrm>
            <a:off x="1051992" y="1236687"/>
            <a:ext cx="2887563" cy="171301"/>
          </a:xfrm>
          <a:prstGeom prst="rect">
            <a:avLst/>
          </a:prstGeom>
          <a:noFill/>
          <a:ln/>
        </p:spPr>
        <p:txBody>
          <a:bodyPr wrap="none" lIns="0" tIns="0" rIns="0" bIns="0" rtlCol="0" anchor="t"/>
          <a:lstStyle/>
          <a:p>
            <a:pPr marL="0" indent="0" algn="l">
              <a:lnSpc>
                <a:spcPct val="120000"/>
              </a:lnSpc>
              <a:buNone/>
            </a:pPr>
            <a:r>
              <a:rPr lang="en-US" sz="900" b="1" dirty="0">
                <a:solidFill>
                  <a:srgbClr val="432338"/>
                </a:solidFill>
                <a:latin typeface="Source Sans 3 Bold" pitchFamily="34" charset="0"/>
                <a:ea typeface="Source Sans 3 Bold" pitchFamily="34" charset="-122"/>
                <a:cs typeface="Source Sans 3 Bold" pitchFamily="34" charset="-120"/>
              </a:rPr>
              <a:t>Paper Title</a:t>
            </a:r>
            <a:endParaRPr lang="en-US" sz="900" dirty="0"/>
          </a:p>
        </p:txBody>
      </p:sp>
      <p:sp>
        <p:nvSpPr>
          <p:cNvPr id="13" name="Text 11"/>
          <p:cNvSpPr/>
          <p:nvPr/>
        </p:nvSpPr>
        <p:spPr>
          <a:xfrm>
            <a:off x="3720778" y="1236687"/>
            <a:ext cx="1189211" cy="171301"/>
          </a:xfrm>
          <a:prstGeom prst="rect">
            <a:avLst/>
          </a:prstGeom>
          <a:noFill/>
          <a:ln/>
        </p:spPr>
        <p:txBody>
          <a:bodyPr wrap="none" lIns="0" tIns="0" rIns="0" bIns="0" rtlCol="0" anchor="t"/>
          <a:lstStyle/>
          <a:p>
            <a:pPr marL="0" indent="0" algn="l">
              <a:lnSpc>
                <a:spcPct val="120000"/>
              </a:lnSpc>
              <a:buNone/>
            </a:pPr>
            <a:r>
              <a:rPr lang="en-US" sz="900" b="1" dirty="0">
                <a:solidFill>
                  <a:srgbClr val="432338"/>
                </a:solidFill>
                <a:latin typeface="Source Sans 3 Bold" pitchFamily="34" charset="0"/>
                <a:ea typeface="Source Sans 3 Bold" pitchFamily="34" charset="-122"/>
                <a:cs typeface="Source Sans 3 Bold" pitchFamily="34" charset="-120"/>
              </a:rPr>
              <a:t>Year · Venue</a:t>
            </a:r>
            <a:endParaRPr lang="en-US" sz="900" dirty="0"/>
          </a:p>
        </p:txBody>
      </p:sp>
      <p:sp>
        <p:nvSpPr>
          <p:cNvPr id="14" name="Text 12"/>
          <p:cNvSpPr/>
          <p:nvPr/>
        </p:nvSpPr>
        <p:spPr>
          <a:xfrm>
            <a:off x="4691211" y="1236687"/>
            <a:ext cx="4262438" cy="171301"/>
          </a:xfrm>
          <a:prstGeom prst="rect">
            <a:avLst/>
          </a:prstGeom>
          <a:noFill/>
          <a:ln/>
        </p:spPr>
        <p:txBody>
          <a:bodyPr wrap="none" lIns="0" tIns="0" rIns="0" bIns="0" rtlCol="0" anchor="t"/>
          <a:lstStyle/>
          <a:p>
            <a:pPr marL="0" indent="0" algn="l">
              <a:lnSpc>
                <a:spcPct val="120000"/>
              </a:lnSpc>
              <a:buNone/>
            </a:pPr>
            <a:r>
              <a:rPr lang="en-US" sz="900" b="1" dirty="0">
                <a:solidFill>
                  <a:srgbClr val="432338"/>
                </a:solidFill>
                <a:latin typeface="Source Sans 3 Bold" pitchFamily="34" charset="0"/>
                <a:ea typeface="Source Sans 3 Bold" pitchFamily="34" charset="-122"/>
                <a:cs typeface="Source Sans 3 Bold" pitchFamily="34" charset="-120"/>
              </a:rPr>
              <a:t>Contribution &amp; Relevance</a:t>
            </a:r>
            <a:endParaRPr lang="en-US" sz="900" dirty="0"/>
          </a:p>
        </p:txBody>
      </p:sp>
      <p:sp>
        <p:nvSpPr>
          <p:cNvPr id="15" name="Text 13"/>
          <p:cNvSpPr/>
          <p:nvPr/>
        </p:nvSpPr>
        <p:spPr>
          <a:xfrm>
            <a:off x="647626" y="1536278"/>
            <a:ext cx="623143" cy="171301"/>
          </a:xfrm>
          <a:prstGeom prst="rect">
            <a:avLst/>
          </a:prstGeom>
          <a:noFill/>
          <a:ln/>
        </p:spPr>
        <p:txBody>
          <a:bodyPr wrap="none" lIns="0" tIns="0" rIns="0" bIns="0" rtlCol="0" anchor="t"/>
          <a:lstStyle/>
          <a:p>
            <a:pPr marL="0" indent="0" algn="l">
              <a:lnSpc>
                <a:spcPct val="120000"/>
              </a:lnSpc>
              <a:buNone/>
            </a:pPr>
            <a:r>
              <a:rPr lang="en-US" sz="900" dirty="0">
                <a:solidFill>
                  <a:srgbClr val="432338"/>
                </a:solidFill>
                <a:latin typeface="Source Sans 3" pitchFamily="34" charset="0"/>
                <a:ea typeface="Source Sans 3" pitchFamily="34" charset="-122"/>
                <a:cs typeface="Source Sans 3" pitchFamily="34" charset="-120"/>
              </a:rPr>
              <a:t>1</a:t>
            </a:r>
            <a:endParaRPr lang="en-US" sz="900" dirty="0"/>
          </a:p>
        </p:txBody>
      </p:sp>
      <p:sp>
        <p:nvSpPr>
          <p:cNvPr id="16" name="Text 14"/>
          <p:cNvSpPr/>
          <p:nvPr/>
        </p:nvSpPr>
        <p:spPr>
          <a:xfrm>
            <a:off x="1051992" y="1536278"/>
            <a:ext cx="2430363" cy="513904"/>
          </a:xfrm>
          <a:prstGeom prst="rect">
            <a:avLst/>
          </a:prstGeom>
          <a:noFill/>
          <a:ln/>
        </p:spPr>
        <p:txBody>
          <a:bodyPr wrap="square" lIns="0" tIns="0" rIns="0" bIns="0" rtlCol="0" anchor="t">
            <a:normAutofit/>
          </a:bodyPr>
          <a:lstStyle/>
          <a:p>
            <a:pPr marL="0" indent="0" algn="l">
              <a:lnSpc>
                <a:spcPct val="120000"/>
              </a:lnSpc>
              <a:buNone/>
            </a:pPr>
            <a:r>
              <a:rPr lang="en-US" sz="900" dirty="0">
                <a:solidFill>
                  <a:srgbClr val="432338"/>
                </a:solidFill>
                <a:latin typeface="Source Sans 3" pitchFamily="34" charset="0"/>
                <a:ea typeface="Source Sans 3" pitchFamily="34" charset="-122"/>
                <a:cs typeface="Source Sans 3" pitchFamily="34" charset="-120"/>
              </a:rPr>
              <a:t>A Survey of Deep Learning for Time Series Forecasting: Taxonomy, Analysis and Future Directions</a:t>
            </a:r>
            <a:endParaRPr lang="en-US" sz="900" dirty="0"/>
          </a:p>
        </p:txBody>
      </p:sp>
      <p:sp>
        <p:nvSpPr>
          <p:cNvPr id="17" name="Text 15"/>
          <p:cNvSpPr/>
          <p:nvPr/>
        </p:nvSpPr>
        <p:spPr>
          <a:xfrm>
            <a:off x="3720778" y="1536278"/>
            <a:ext cx="732011" cy="342602"/>
          </a:xfrm>
          <a:prstGeom prst="rect">
            <a:avLst/>
          </a:prstGeom>
          <a:noFill/>
          <a:ln/>
        </p:spPr>
        <p:txBody>
          <a:bodyPr wrap="square" lIns="0" tIns="0" rIns="0" bIns="0" rtlCol="0" anchor="t">
            <a:normAutofit/>
          </a:bodyPr>
          <a:lstStyle/>
          <a:p>
            <a:pPr marL="0" indent="0" algn="l">
              <a:lnSpc>
                <a:spcPct val="120000"/>
              </a:lnSpc>
              <a:buNone/>
            </a:pPr>
            <a:r>
              <a:rPr lang="en-US" sz="900" dirty="0">
                <a:solidFill>
                  <a:srgbClr val="432338"/>
                </a:solidFill>
                <a:latin typeface="Source Sans 3" pitchFamily="34" charset="0"/>
                <a:ea typeface="Source Sans 3" pitchFamily="34" charset="-122"/>
                <a:cs typeface="Source Sans 3" pitchFamily="34" charset="-120"/>
              </a:rPr>
              <a:t>2026 · IEEE TKDE</a:t>
            </a:r>
            <a:endParaRPr lang="en-US" sz="900" dirty="0"/>
          </a:p>
        </p:txBody>
      </p:sp>
      <p:sp>
        <p:nvSpPr>
          <p:cNvPr id="18" name="Text 16"/>
          <p:cNvSpPr/>
          <p:nvPr/>
        </p:nvSpPr>
        <p:spPr>
          <a:xfrm>
            <a:off x="4691211" y="1536278"/>
            <a:ext cx="4262438" cy="171301"/>
          </a:xfrm>
          <a:prstGeom prst="rect">
            <a:avLst/>
          </a:prstGeom>
          <a:noFill/>
          <a:ln/>
        </p:spPr>
        <p:txBody>
          <a:bodyPr wrap="none" lIns="0" tIns="0" rIns="0" bIns="0" rtlCol="0" anchor="t"/>
          <a:lstStyle/>
          <a:p>
            <a:pPr marL="0" indent="0" algn="l">
              <a:lnSpc>
                <a:spcPct val="120000"/>
              </a:lnSpc>
              <a:buNone/>
            </a:pPr>
            <a:r>
              <a:rPr lang="en-US" sz="900" dirty="0">
                <a:solidFill>
                  <a:srgbClr val="432338"/>
                </a:solidFill>
                <a:latin typeface="Source Sans 3" pitchFamily="34" charset="0"/>
                <a:ea typeface="Source Sans 3" pitchFamily="34" charset="-122"/>
                <a:cs typeface="Source Sans 3" pitchFamily="34" charset="-120"/>
              </a:rPr>
              <a:t>Taxonomy of DL methods; guides model selection</a:t>
            </a:r>
            <a:endParaRPr lang="en-US" sz="900" dirty="0"/>
          </a:p>
        </p:txBody>
      </p:sp>
      <p:sp>
        <p:nvSpPr>
          <p:cNvPr id="19" name="Text 17"/>
          <p:cNvSpPr/>
          <p:nvPr/>
        </p:nvSpPr>
        <p:spPr>
          <a:xfrm>
            <a:off x="647626" y="2178472"/>
            <a:ext cx="623143" cy="171301"/>
          </a:xfrm>
          <a:prstGeom prst="rect">
            <a:avLst/>
          </a:prstGeom>
          <a:noFill/>
          <a:ln/>
        </p:spPr>
        <p:txBody>
          <a:bodyPr wrap="none" lIns="0" tIns="0" rIns="0" bIns="0" rtlCol="0" anchor="t"/>
          <a:lstStyle/>
          <a:p>
            <a:pPr marL="0" indent="0" algn="l">
              <a:lnSpc>
                <a:spcPct val="120000"/>
              </a:lnSpc>
              <a:buNone/>
            </a:pPr>
            <a:r>
              <a:rPr lang="en-US" sz="900" dirty="0">
                <a:solidFill>
                  <a:srgbClr val="432338"/>
                </a:solidFill>
                <a:latin typeface="Source Sans 3" pitchFamily="34" charset="0"/>
                <a:ea typeface="Source Sans 3" pitchFamily="34" charset="-122"/>
                <a:cs typeface="Source Sans 3" pitchFamily="34" charset="-120"/>
              </a:rPr>
              <a:t>2</a:t>
            </a:r>
            <a:endParaRPr lang="en-US" sz="900" dirty="0"/>
          </a:p>
        </p:txBody>
      </p:sp>
      <p:sp>
        <p:nvSpPr>
          <p:cNvPr id="20" name="Text 18"/>
          <p:cNvSpPr/>
          <p:nvPr/>
        </p:nvSpPr>
        <p:spPr>
          <a:xfrm>
            <a:off x="1051992" y="2178472"/>
            <a:ext cx="2430363" cy="342602"/>
          </a:xfrm>
          <a:prstGeom prst="rect">
            <a:avLst/>
          </a:prstGeom>
          <a:noFill/>
          <a:ln/>
        </p:spPr>
        <p:txBody>
          <a:bodyPr wrap="square" lIns="0" tIns="0" rIns="0" bIns="0" rtlCol="0" anchor="t">
            <a:normAutofit/>
          </a:bodyPr>
          <a:lstStyle/>
          <a:p>
            <a:pPr marL="0" indent="0" algn="l">
              <a:lnSpc>
                <a:spcPct val="120000"/>
              </a:lnSpc>
              <a:buNone/>
            </a:pPr>
            <a:r>
              <a:rPr lang="en-US" sz="900" dirty="0">
                <a:solidFill>
                  <a:srgbClr val="432338"/>
                </a:solidFill>
                <a:latin typeface="Source Sans 3" pitchFamily="34" charset="0"/>
                <a:ea typeface="Source Sans 3" pitchFamily="34" charset="-122"/>
                <a:cs typeface="Source Sans 3" pitchFamily="34" charset="-120"/>
              </a:rPr>
              <a:t>An autoregressive lag aware sparse transformer framework for demand forecasting</a:t>
            </a:r>
            <a:endParaRPr lang="en-US" sz="900" dirty="0"/>
          </a:p>
        </p:txBody>
      </p:sp>
      <p:sp>
        <p:nvSpPr>
          <p:cNvPr id="21" name="Text 19"/>
          <p:cNvSpPr/>
          <p:nvPr/>
        </p:nvSpPr>
        <p:spPr>
          <a:xfrm>
            <a:off x="3720778" y="2178472"/>
            <a:ext cx="732011" cy="342602"/>
          </a:xfrm>
          <a:prstGeom prst="rect">
            <a:avLst/>
          </a:prstGeom>
          <a:noFill/>
          <a:ln/>
        </p:spPr>
        <p:txBody>
          <a:bodyPr wrap="square" lIns="0" tIns="0" rIns="0" bIns="0" rtlCol="0" anchor="t">
            <a:normAutofit/>
          </a:bodyPr>
          <a:lstStyle/>
          <a:p>
            <a:pPr marL="0" indent="0" algn="l">
              <a:lnSpc>
                <a:spcPct val="120000"/>
              </a:lnSpc>
              <a:buNone/>
            </a:pPr>
            <a:r>
              <a:rPr lang="en-US" sz="900" dirty="0">
                <a:solidFill>
                  <a:srgbClr val="432338"/>
                </a:solidFill>
                <a:latin typeface="Source Sans 3" pitchFamily="34" charset="0"/>
                <a:ea typeface="Source Sans 3" pitchFamily="34" charset="-122"/>
                <a:cs typeface="Source Sans 3" pitchFamily="34" charset="-120"/>
              </a:rPr>
              <a:t>2026 · Discov. AI, Springer</a:t>
            </a:r>
            <a:endParaRPr lang="en-US" sz="900" dirty="0"/>
          </a:p>
        </p:txBody>
      </p:sp>
      <p:sp>
        <p:nvSpPr>
          <p:cNvPr id="22" name="Text 20"/>
          <p:cNvSpPr/>
          <p:nvPr/>
        </p:nvSpPr>
        <p:spPr>
          <a:xfrm>
            <a:off x="4691211" y="2178472"/>
            <a:ext cx="4262438" cy="171301"/>
          </a:xfrm>
          <a:prstGeom prst="rect">
            <a:avLst/>
          </a:prstGeom>
          <a:noFill/>
          <a:ln/>
        </p:spPr>
        <p:txBody>
          <a:bodyPr wrap="none" lIns="0" tIns="0" rIns="0" bIns="0" rtlCol="0" anchor="t"/>
          <a:lstStyle/>
          <a:p>
            <a:pPr marL="0" indent="0" algn="l">
              <a:lnSpc>
                <a:spcPct val="120000"/>
              </a:lnSpc>
              <a:buNone/>
            </a:pPr>
            <a:r>
              <a:rPr lang="en-US" sz="900" dirty="0">
                <a:solidFill>
                  <a:srgbClr val="432338"/>
                </a:solidFill>
                <a:latin typeface="Source Sans 3" pitchFamily="34" charset="0"/>
                <a:ea typeface="Source Sans 3" pitchFamily="34" charset="-122"/>
                <a:cs typeface="Source Sans 3" pitchFamily="34" charset="-120"/>
              </a:rPr>
              <a:t>Sparse transformer for demand; links architecture to demand patterns</a:t>
            </a:r>
            <a:endParaRPr lang="en-US" sz="900" dirty="0"/>
          </a:p>
        </p:txBody>
      </p:sp>
      <p:sp>
        <p:nvSpPr>
          <p:cNvPr id="23" name="Text 21"/>
          <p:cNvSpPr/>
          <p:nvPr/>
        </p:nvSpPr>
        <p:spPr>
          <a:xfrm>
            <a:off x="647626" y="2649364"/>
            <a:ext cx="623143" cy="171301"/>
          </a:xfrm>
          <a:prstGeom prst="rect">
            <a:avLst/>
          </a:prstGeom>
          <a:noFill/>
          <a:ln/>
        </p:spPr>
        <p:txBody>
          <a:bodyPr wrap="none" lIns="0" tIns="0" rIns="0" bIns="0" rtlCol="0" anchor="t"/>
          <a:lstStyle/>
          <a:p>
            <a:pPr marL="0" indent="0" algn="l">
              <a:lnSpc>
                <a:spcPct val="120000"/>
              </a:lnSpc>
              <a:buNone/>
            </a:pPr>
            <a:r>
              <a:rPr lang="en-US" sz="900" dirty="0">
                <a:solidFill>
                  <a:srgbClr val="432338"/>
                </a:solidFill>
                <a:latin typeface="Source Sans 3" pitchFamily="34" charset="0"/>
                <a:ea typeface="Source Sans 3" pitchFamily="34" charset="-122"/>
                <a:cs typeface="Source Sans 3" pitchFamily="34" charset="-120"/>
              </a:rPr>
              <a:t>3</a:t>
            </a:r>
            <a:endParaRPr lang="en-US" sz="900" dirty="0"/>
          </a:p>
        </p:txBody>
      </p:sp>
      <p:sp>
        <p:nvSpPr>
          <p:cNvPr id="24" name="Text 22"/>
          <p:cNvSpPr/>
          <p:nvPr/>
        </p:nvSpPr>
        <p:spPr>
          <a:xfrm>
            <a:off x="1051992" y="2649364"/>
            <a:ext cx="2430363" cy="513904"/>
          </a:xfrm>
          <a:prstGeom prst="rect">
            <a:avLst/>
          </a:prstGeom>
          <a:noFill/>
          <a:ln/>
        </p:spPr>
        <p:txBody>
          <a:bodyPr wrap="square" lIns="0" tIns="0" rIns="0" bIns="0" rtlCol="0" anchor="t">
            <a:normAutofit/>
          </a:bodyPr>
          <a:lstStyle/>
          <a:p>
            <a:pPr marL="0" indent="0" algn="l">
              <a:lnSpc>
                <a:spcPct val="120000"/>
              </a:lnSpc>
              <a:buNone/>
            </a:pPr>
            <a:r>
              <a:rPr lang="en-US" sz="900" dirty="0">
                <a:solidFill>
                  <a:srgbClr val="432338"/>
                </a:solidFill>
                <a:latin typeface="Source Sans 3" pitchFamily="34" charset="0"/>
                <a:ea typeface="Source Sans 3" pitchFamily="34" charset="-122"/>
                <a:cs typeface="Source Sans 3" pitchFamily="34" charset="-120"/>
              </a:rPr>
              <a:t>Artificial intelligence and classical statistical models for time series forecasting: a comprehensive review</a:t>
            </a:r>
            <a:endParaRPr lang="en-US" sz="900" dirty="0"/>
          </a:p>
        </p:txBody>
      </p:sp>
      <p:sp>
        <p:nvSpPr>
          <p:cNvPr id="25" name="Text 23"/>
          <p:cNvSpPr/>
          <p:nvPr/>
        </p:nvSpPr>
        <p:spPr>
          <a:xfrm>
            <a:off x="3720778" y="2649364"/>
            <a:ext cx="732011" cy="342602"/>
          </a:xfrm>
          <a:prstGeom prst="rect">
            <a:avLst/>
          </a:prstGeom>
          <a:noFill/>
          <a:ln/>
        </p:spPr>
        <p:txBody>
          <a:bodyPr wrap="square" lIns="0" tIns="0" rIns="0" bIns="0" rtlCol="0" anchor="t">
            <a:normAutofit/>
          </a:bodyPr>
          <a:lstStyle/>
          <a:p>
            <a:pPr marL="0" indent="0" algn="l">
              <a:lnSpc>
                <a:spcPct val="120000"/>
              </a:lnSpc>
              <a:buNone/>
            </a:pPr>
            <a:r>
              <a:rPr lang="en-US" sz="900" dirty="0">
                <a:solidFill>
                  <a:srgbClr val="432338"/>
                </a:solidFill>
                <a:latin typeface="Source Sans 3" pitchFamily="34" charset="0"/>
                <a:ea typeface="Source Sans 3" pitchFamily="34" charset="-122"/>
                <a:cs typeface="Source Sans 3" pitchFamily="34" charset="-120"/>
              </a:rPr>
              <a:t>2025 · J. Big Data, Springer</a:t>
            </a:r>
            <a:endParaRPr lang="en-US" sz="900" dirty="0"/>
          </a:p>
        </p:txBody>
      </p:sp>
      <p:sp>
        <p:nvSpPr>
          <p:cNvPr id="26" name="Text 24"/>
          <p:cNvSpPr/>
          <p:nvPr/>
        </p:nvSpPr>
        <p:spPr>
          <a:xfrm>
            <a:off x="4691211" y="2649364"/>
            <a:ext cx="4262438" cy="171301"/>
          </a:xfrm>
          <a:prstGeom prst="rect">
            <a:avLst/>
          </a:prstGeom>
          <a:noFill/>
          <a:ln/>
        </p:spPr>
        <p:txBody>
          <a:bodyPr wrap="none" lIns="0" tIns="0" rIns="0" bIns="0" rtlCol="0" anchor="t"/>
          <a:lstStyle/>
          <a:p>
            <a:pPr marL="0" indent="0" algn="l">
              <a:lnSpc>
                <a:spcPct val="120000"/>
              </a:lnSpc>
              <a:buNone/>
            </a:pPr>
            <a:r>
              <a:rPr lang="en-US" sz="900" dirty="0">
                <a:solidFill>
                  <a:srgbClr val="432338"/>
                </a:solidFill>
                <a:latin typeface="Source Sans 3" pitchFamily="34" charset="0"/>
                <a:ea typeface="Source Sans 3" pitchFamily="34" charset="-122"/>
                <a:cs typeface="Source Sans 3" pitchFamily="34" charset="-120"/>
              </a:rPr>
              <a:t>AI vs. statistical comparison; informs baseline inclusion</a:t>
            </a:r>
            <a:endParaRPr lang="en-US" sz="900" dirty="0"/>
          </a:p>
        </p:txBody>
      </p:sp>
      <p:sp>
        <p:nvSpPr>
          <p:cNvPr id="27" name="Text 25"/>
          <p:cNvSpPr/>
          <p:nvPr/>
        </p:nvSpPr>
        <p:spPr>
          <a:xfrm>
            <a:off x="647626" y="3291557"/>
            <a:ext cx="623143" cy="171301"/>
          </a:xfrm>
          <a:prstGeom prst="rect">
            <a:avLst/>
          </a:prstGeom>
          <a:noFill/>
          <a:ln/>
        </p:spPr>
        <p:txBody>
          <a:bodyPr wrap="none" lIns="0" tIns="0" rIns="0" bIns="0" rtlCol="0" anchor="t"/>
          <a:lstStyle/>
          <a:p>
            <a:pPr marL="0" indent="0" algn="l">
              <a:lnSpc>
                <a:spcPct val="120000"/>
              </a:lnSpc>
              <a:buNone/>
            </a:pPr>
            <a:r>
              <a:rPr lang="en-US" sz="900" dirty="0">
                <a:solidFill>
                  <a:srgbClr val="432338"/>
                </a:solidFill>
                <a:latin typeface="Source Sans 3" pitchFamily="34" charset="0"/>
                <a:ea typeface="Source Sans 3" pitchFamily="34" charset="-122"/>
                <a:cs typeface="Source Sans 3" pitchFamily="34" charset="-120"/>
              </a:rPr>
              <a:t>4</a:t>
            </a:r>
            <a:endParaRPr lang="en-US" sz="900" dirty="0"/>
          </a:p>
        </p:txBody>
      </p:sp>
      <p:sp>
        <p:nvSpPr>
          <p:cNvPr id="28" name="Text 26"/>
          <p:cNvSpPr/>
          <p:nvPr/>
        </p:nvSpPr>
        <p:spPr>
          <a:xfrm>
            <a:off x="1051992" y="3291557"/>
            <a:ext cx="2430363" cy="342602"/>
          </a:xfrm>
          <a:prstGeom prst="rect">
            <a:avLst/>
          </a:prstGeom>
          <a:noFill/>
          <a:ln/>
        </p:spPr>
        <p:txBody>
          <a:bodyPr wrap="square" lIns="0" tIns="0" rIns="0" bIns="0" rtlCol="0" anchor="t">
            <a:normAutofit/>
          </a:bodyPr>
          <a:lstStyle/>
          <a:p>
            <a:pPr marL="0" indent="0" algn="l">
              <a:lnSpc>
                <a:spcPct val="120000"/>
              </a:lnSpc>
              <a:buNone/>
            </a:pPr>
            <a:r>
              <a:rPr lang="en-US" sz="900" dirty="0">
                <a:solidFill>
                  <a:srgbClr val="432338"/>
                </a:solidFill>
                <a:latin typeface="Source Sans 3" pitchFamily="34" charset="0"/>
                <a:ea typeface="Source Sans 3" pitchFamily="34" charset="-122"/>
                <a:cs typeface="Source Sans 3" pitchFamily="34" charset="-120"/>
              </a:rPr>
              <a:t>Deep learning for time series forecasting: a survey</a:t>
            </a:r>
            <a:endParaRPr lang="en-US" sz="900" dirty="0"/>
          </a:p>
        </p:txBody>
      </p:sp>
      <p:sp>
        <p:nvSpPr>
          <p:cNvPr id="29" name="Text 27"/>
          <p:cNvSpPr/>
          <p:nvPr/>
        </p:nvSpPr>
        <p:spPr>
          <a:xfrm>
            <a:off x="3720778" y="3291557"/>
            <a:ext cx="732011" cy="685205"/>
          </a:xfrm>
          <a:prstGeom prst="rect">
            <a:avLst/>
          </a:prstGeom>
          <a:noFill/>
          <a:ln/>
        </p:spPr>
        <p:txBody>
          <a:bodyPr wrap="square" lIns="0" tIns="0" rIns="0" bIns="0" rtlCol="0" anchor="t">
            <a:normAutofit/>
          </a:bodyPr>
          <a:lstStyle/>
          <a:p>
            <a:pPr marL="0" indent="0" algn="l">
              <a:lnSpc>
                <a:spcPct val="120000"/>
              </a:lnSpc>
              <a:buNone/>
            </a:pPr>
            <a:r>
              <a:rPr lang="en-US" sz="900" dirty="0">
                <a:solidFill>
                  <a:srgbClr val="432338"/>
                </a:solidFill>
                <a:latin typeface="Source Sans 3" pitchFamily="34" charset="0"/>
                <a:ea typeface="Source Sans 3" pitchFamily="34" charset="-122"/>
                <a:cs typeface="Source Sans 3" pitchFamily="34" charset="-120"/>
              </a:rPr>
              <a:t>2025 · Int. J. Mach. Learn. Cybern., Springer</a:t>
            </a:r>
            <a:endParaRPr lang="en-US" sz="900" dirty="0"/>
          </a:p>
        </p:txBody>
      </p:sp>
      <p:sp>
        <p:nvSpPr>
          <p:cNvPr id="30" name="Text 28"/>
          <p:cNvSpPr/>
          <p:nvPr/>
        </p:nvSpPr>
        <p:spPr>
          <a:xfrm>
            <a:off x="4691211" y="3291557"/>
            <a:ext cx="4262438" cy="171301"/>
          </a:xfrm>
          <a:prstGeom prst="rect">
            <a:avLst/>
          </a:prstGeom>
          <a:noFill/>
          <a:ln/>
        </p:spPr>
        <p:txBody>
          <a:bodyPr wrap="none" lIns="0" tIns="0" rIns="0" bIns="0" rtlCol="0" anchor="t"/>
          <a:lstStyle/>
          <a:p>
            <a:pPr marL="0" indent="0" algn="l">
              <a:lnSpc>
                <a:spcPct val="120000"/>
              </a:lnSpc>
              <a:buNone/>
            </a:pPr>
            <a:r>
              <a:rPr lang="en-US" sz="900" dirty="0">
                <a:solidFill>
                  <a:srgbClr val="432338"/>
                </a:solidFill>
                <a:latin typeface="Source Sans 3" pitchFamily="34" charset="0"/>
                <a:ea typeface="Source Sans 3" pitchFamily="34" charset="-122"/>
                <a:cs typeface="Source Sans 3" pitchFamily="34" charset="-120"/>
              </a:rPr>
              <a:t>DL survey; contextualizes deep-learning scope</a:t>
            </a:r>
            <a:endParaRPr lang="en-US" sz="900" dirty="0"/>
          </a:p>
        </p:txBody>
      </p:sp>
      <p:sp>
        <p:nvSpPr>
          <p:cNvPr id="31" name="Text 29"/>
          <p:cNvSpPr/>
          <p:nvPr/>
        </p:nvSpPr>
        <p:spPr>
          <a:xfrm>
            <a:off x="647626" y="4105052"/>
            <a:ext cx="623143" cy="171301"/>
          </a:xfrm>
          <a:prstGeom prst="rect">
            <a:avLst/>
          </a:prstGeom>
          <a:noFill/>
          <a:ln/>
        </p:spPr>
        <p:txBody>
          <a:bodyPr wrap="none" lIns="0" tIns="0" rIns="0" bIns="0" rtlCol="0" anchor="t"/>
          <a:lstStyle/>
          <a:p>
            <a:pPr marL="0" indent="0" algn="l">
              <a:lnSpc>
                <a:spcPct val="120000"/>
              </a:lnSpc>
              <a:buNone/>
            </a:pPr>
            <a:r>
              <a:rPr lang="en-US" sz="900" dirty="0">
                <a:solidFill>
                  <a:srgbClr val="432338"/>
                </a:solidFill>
                <a:latin typeface="Source Sans 3" pitchFamily="34" charset="0"/>
                <a:ea typeface="Source Sans 3" pitchFamily="34" charset="-122"/>
                <a:cs typeface="Source Sans 3" pitchFamily="34" charset="-120"/>
              </a:rPr>
              <a:t>5</a:t>
            </a:r>
            <a:endParaRPr lang="en-US" sz="900" dirty="0"/>
          </a:p>
        </p:txBody>
      </p:sp>
      <p:sp>
        <p:nvSpPr>
          <p:cNvPr id="32" name="Text 30"/>
          <p:cNvSpPr/>
          <p:nvPr/>
        </p:nvSpPr>
        <p:spPr>
          <a:xfrm>
            <a:off x="1051992" y="4105052"/>
            <a:ext cx="2430363" cy="513904"/>
          </a:xfrm>
          <a:prstGeom prst="rect">
            <a:avLst/>
          </a:prstGeom>
          <a:noFill/>
          <a:ln/>
        </p:spPr>
        <p:txBody>
          <a:bodyPr wrap="square" lIns="0" tIns="0" rIns="0" bIns="0" rtlCol="0" anchor="t">
            <a:normAutofit/>
          </a:bodyPr>
          <a:lstStyle/>
          <a:p>
            <a:pPr marL="0" indent="0" algn="l">
              <a:lnSpc>
                <a:spcPct val="120000"/>
              </a:lnSpc>
              <a:buNone/>
            </a:pPr>
            <a:r>
              <a:rPr lang="en-US" sz="900" dirty="0">
                <a:solidFill>
                  <a:srgbClr val="432338"/>
                </a:solidFill>
                <a:latin typeface="Source Sans 3" pitchFamily="34" charset="0"/>
                <a:ea typeface="Source Sans 3" pitchFamily="34" charset="-122"/>
                <a:cs typeface="Source Sans 3" pitchFamily="34" charset="-120"/>
              </a:rPr>
              <a:t>A comprehensive survey of deep learning for time series forecasting: architectural diversity and open challenges</a:t>
            </a:r>
            <a:endParaRPr lang="en-US" sz="900" dirty="0"/>
          </a:p>
        </p:txBody>
      </p:sp>
      <p:sp>
        <p:nvSpPr>
          <p:cNvPr id="33" name="Text 31"/>
          <p:cNvSpPr/>
          <p:nvPr/>
        </p:nvSpPr>
        <p:spPr>
          <a:xfrm>
            <a:off x="3720778" y="4105052"/>
            <a:ext cx="732011" cy="513904"/>
          </a:xfrm>
          <a:prstGeom prst="rect">
            <a:avLst/>
          </a:prstGeom>
          <a:noFill/>
          <a:ln/>
        </p:spPr>
        <p:txBody>
          <a:bodyPr wrap="square" lIns="0" tIns="0" rIns="0" bIns="0" rtlCol="0" anchor="t">
            <a:normAutofit/>
          </a:bodyPr>
          <a:lstStyle/>
          <a:p>
            <a:pPr marL="0" indent="0" algn="l">
              <a:lnSpc>
                <a:spcPct val="120000"/>
              </a:lnSpc>
              <a:buNone/>
            </a:pPr>
            <a:r>
              <a:rPr lang="en-US" sz="900" dirty="0">
                <a:solidFill>
                  <a:srgbClr val="432338"/>
                </a:solidFill>
                <a:latin typeface="Source Sans 3" pitchFamily="34" charset="0"/>
                <a:ea typeface="Source Sans 3" pitchFamily="34" charset="-122"/>
                <a:cs typeface="Source Sans 3" pitchFamily="34" charset="-120"/>
              </a:rPr>
              <a:t>2025 · Artif. Intell. Rev., Springer</a:t>
            </a:r>
            <a:endParaRPr lang="en-US" sz="900" dirty="0"/>
          </a:p>
        </p:txBody>
      </p:sp>
      <p:sp>
        <p:nvSpPr>
          <p:cNvPr id="34" name="Text 32"/>
          <p:cNvSpPr/>
          <p:nvPr/>
        </p:nvSpPr>
        <p:spPr>
          <a:xfrm>
            <a:off x="4691211" y="4105052"/>
            <a:ext cx="4262438" cy="171301"/>
          </a:xfrm>
          <a:prstGeom prst="rect">
            <a:avLst/>
          </a:prstGeom>
          <a:noFill/>
          <a:ln/>
        </p:spPr>
        <p:txBody>
          <a:bodyPr wrap="none" lIns="0" tIns="0" rIns="0" bIns="0" rtlCol="0" anchor="t"/>
          <a:lstStyle/>
          <a:p>
            <a:pPr marL="0" indent="0" algn="l">
              <a:lnSpc>
                <a:spcPct val="120000"/>
              </a:lnSpc>
              <a:buNone/>
            </a:pPr>
            <a:r>
              <a:rPr lang="en-US" sz="900" dirty="0">
                <a:solidFill>
                  <a:srgbClr val="432338"/>
                </a:solidFill>
                <a:latin typeface="Source Sans 3" pitchFamily="34" charset="0"/>
                <a:ea typeface="Source Sans 3" pitchFamily="34" charset="-122"/>
                <a:cs typeface="Source Sans 3" pitchFamily="34" charset="-120"/>
              </a:rPr>
              <a:t>Architectural diversity and open challenges; informs benchmarking design</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23577" y="529233"/>
            <a:ext cx="926381" cy="173906"/>
          </a:xfrm>
          <a:prstGeom prst="roundRect">
            <a:avLst>
              <a:gd name="adj" fmla="val 22131"/>
            </a:avLst>
          </a:prstGeom>
          <a:solidFill>
            <a:srgbClr val="F9D2EB"/>
          </a:solidFill>
          <a:ln/>
        </p:spPr>
        <p:txBody>
          <a:bodyPr/>
          <a:lstStyle/>
          <a:p>
            <a:endParaRPr lang="en-US"/>
          </a:p>
        </p:txBody>
      </p:sp>
      <p:sp>
        <p:nvSpPr>
          <p:cNvPr id="3" name="Text 1"/>
          <p:cNvSpPr/>
          <p:nvPr/>
        </p:nvSpPr>
        <p:spPr>
          <a:xfrm>
            <a:off x="592262" y="563538"/>
            <a:ext cx="1246212" cy="105296"/>
          </a:xfrm>
          <a:prstGeom prst="rect">
            <a:avLst/>
          </a:prstGeom>
          <a:noFill/>
          <a:ln/>
        </p:spPr>
        <p:txBody>
          <a:bodyPr wrap="none" lIns="0" tIns="0" rIns="0" bIns="0" rtlCol="0" anchor="t"/>
          <a:lstStyle/>
          <a:p>
            <a:pPr marL="0" indent="0" algn="l">
              <a:lnSpc>
                <a:spcPct val="96000"/>
              </a:lnSpc>
              <a:buNone/>
            </a:pPr>
            <a:r>
              <a:rPr lang="en-US" sz="700" dirty="0">
                <a:solidFill>
                  <a:srgbClr val="432338"/>
                </a:solidFill>
                <a:latin typeface="Source Sans 3" pitchFamily="34" charset="0"/>
                <a:ea typeface="Source Sans 3" pitchFamily="34" charset="-122"/>
                <a:cs typeface="Source Sans 3" pitchFamily="34" charset="-120"/>
              </a:rPr>
              <a:t>LITERATURE SURVEY</a:t>
            </a:r>
            <a:endParaRPr lang="en-US" sz="700" dirty="0"/>
          </a:p>
        </p:txBody>
      </p:sp>
      <p:sp>
        <p:nvSpPr>
          <p:cNvPr id="4" name="Text 2"/>
          <p:cNvSpPr/>
          <p:nvPr/>
        </p:nvSpPr>
        <p:spPr>
          <a:xfrm>
            <a:off x="523577" y="738188"/>
            <a:ext cx="8096845" cy="336872"/>
          </a:xfrm>
          <a:prstGeom prst="rect">
            <a:avLst/>
          </a:prstGeom>
          <a:noFill/>
          <a:ln/>
        </p:spPr>
        <p:txBody>
          <a:bodyPr wrap="none" lIns="0" tIns="0" rIns="0" bIns="0" rtlCol="0" anchor="t"/>
          <a:lstStyle/>
          <a:p>
            <a:pPr marL="0" indent="0" algn="l">
              <a:lnSpc>
                <a:spcPct val="104000"/>
              </a:lnSpc>
              <a:buNone/>
            </a:pPr>
            <a:r>
              <a:rPr lang="en-US" sz="2100" dirty="0">
                <a:solidFill>
                  <a:srgbClr val="371A2D"/>
                </a:solidFill>
                <a:latin typeface="Noto Serif SemiBold" pitchFamily="34" charset="0"/>
                <a:ea typeface="Noto Serif SemiBold" pitchFamily="34" charset="-122"/>
                <a:cs typeface="Noto Serif SemiBold" pitchFamily="34" charset="-120"/>
              </a:rPr>
              <a:t>Recent Research — Papers 6–10</a:t>
            </a:r>
            <a:endParaRPr lang="en-US" sz="2100" dirty="0"/>
          </a:p>
        </p:txBody>
      </p:sp>
      <p:sp>
        <p:nvSpPr>
          <p:cNvPr id="5" name="Shape 3"/>
          <p:cNvSpPr/>
          <p:nvPr/>
        </p:nvSpPr>
        <p:spPr>
          <a:xfrm>
            <a:off x="523577" y="1206550"/>
            <a:ext cx="8096845" cy="3147343"/>
          </a:xfrm>
          <a:prstGeom prst="roundRect">
            <a:avLst>
              <a:gd name="adj" fmla="val 1529"/>
            </a:avLst>
          </a:prstGeom>
          <a:noFill/>
          <a:ln w="4763">
            <a:solidFill>
              <a:srgbClr val="000000">
                <a:alpha val="8000"/>
              </a:srgbClr>
            </a:solidFill>
            <a:prstDash val="solid"/>
          </a:ln>
        </p:spPr>
        <p:txBody>
          <a:bodyPr/>
          <a:lstStyle/>
          <a:p>
            <a:endParaRPr lang="en-US"/>
          </a:p>
        </p:txBody>
      </p:sp>
      <p:sp>
        <p:nvSpPr>
          <p:cNvPr id="6" name="Shape 4"/>
          <p:cNvSpPr/>
          <p:nvPr/>
        </p:nvSpPr>
        <p:spPr>
          <a:xfrm>
            <a:off x="523577" y="1490142"/>
            <a:ext cx="8096845" cy="7159"/>
          </a:xfrm>
          <a:prstGeom prst="rect">
            <a:avLst/>
          </a:prstGeom>
          <a:solidFill>
            <a:srgbClr val="000000">
              <a:alpha val="8000"/>
            </a:srgbClr>
          </a:solidFill>
          <a:ln/>
        </p:spPr>
        <p:txBody>
          <a:bodyPr/>
          <a:lstStyle/>
          <a:p>
            <a:endParaRPr lang="en-US"/>
          </a:p>
        </p:txBody>
      </p:sp>
      <p:sp>
        <p:nvSpPr>
          <p:cNvPr id="7" name="Shape 5"/>
          <p:cNvSpPr/>
          <p:nvPr/>
        </p:nvSpPr>
        <p:spPr>
          <a:xfrm>
            <a:off x="523577" y="2094756"/>
            <a:ext cx="8096845" cy="7159"/>
          </a:xfrm>
          <a:prstGeom prst="rect">
            <a:avLst/>
          </a:prstGeom>
          <a:solidFill>
            <a:srgbClr val="000000">
              <a:alpha val="8000"/>
            </a:srgbClr>
          </a:solidFill>
          <a:ln/>
        </p:spPr>
        <p:txBody>
          <a:bodyPr/>
          <a:lstStyle/>
          <a:p>
            <a:endParaRPr lang="en-US"/>
          </a:p>
        </p:txBody>
      </p:sp>
      <p:sp>
        <p:nvSpPr>
          <p:cNvPr id="8" name="Shape 6"/>
          <p:cNvSpPr/>
          <p:nvPr/>
        </p:nvSpPr>
        <p:spPr>
          <a:xfrm>
            <a:off x="523577" y="2699370"/>
            <a:ext cx="8096845" cy="7159"/>
          </a:xfrm>
          <a:prstGeom prst="rect">
            <a:avLst/>
          </a:prstGeom>
          <a:solidFill>
            <a:srgbClr val="000000">
              <a:alpha val="8000"/>
            </a:srgbClr>
          </a:solidFill>
          <a:ln/>
        </p:spPr>
        <p:txBody>
          <a:bodyPr/>
          <a:lstStyle/>
          <a:p>
            <a:endParaRPr lang="en-US"/>
          </a:p>
        </p:txBody>
      </p:sp>
      <p:sp>
        <p:nvSpPr>
          <p:cNvPr id="9" name="Shape 7"/>
          <p:cNvSpPr/>
          <p:nvPr/>
        </p:nvSpPr>
        <p:spPr>
          <a:xfrm>
            <a:off x="523577" y="3303984"/>
            <a:ext cx="8096845" cy="7159"/>
          </a:xfrm>
          <a:prstGeom prst="rect">
            <a:avLst/>
          </a:prstGeom>
          <a:solidFill>
            <a:srgbClr val="000000">
              <a:alpha val="8000"/>
            </a:srgbClr>
          </a:solidFill>
          <a:ln/>
        </p:spPr>
        <p:txBody>
          <a:bodyPr/>
          <a:lstStyle/>
          <a:p>
            <a:endParaRPr lang="en-US"/>
          </a:p>
        </p:txBody>
      </p:sp>
      <p:sp>
        <p:nvSpPr>
          <p:cNvPr id="10" name="Shape 8"/>
          <p:cNvSpPr/>
          <p:nvPr/>
        </p:nvSpPr>
        <p:spPr>
          <a:xfrm>
            <a:off x="523577" y="3746897"/>
            <a:ext cx="8096845" cy="7159"/>
          </a:xfrm>
          <a:prstGeom prst="rect">
            <a:avLst/>
          </a:prstGeom>
          <a:solidFill>
            <a:srgbClr val="000000">
              <a:alpha val="8000"/>
            </a:srgbClr>
          </a:solidFill>
          <a:ln/>
        </p:spPr>
        <p:txBody>
          <a:bodyPr/>
          <a:lstStyle/>
          <a:p>
            <a:endParaRPr lang="en-US"/>
          </a:p>
        </p:txBody>
      </p:sp>
      <p:sp>
        <p:nvSpPr>
          <p:cNvPr id="11" name="Text 9"/>
          <p:cNvSpPr/>
          <p:nvPr/>
        </p:nvSpPr>
        <p:spPr>
          <a:xfrm>
            <a:off x="642938" y="1268685"/>
            <a:ext cx="632520" cy="161702"/>
          </a:xfrm>
          <a:prstGeom prst="rect">
            <a:avLst/>
          </a:prstGeom>
          <a:noFill/>
          <a:ln/>
        </p:spPr>
        <p:txBody>
          <a:bodyPr wrap="none" lIns="0" tIns="0" rIns="0" bIns="0" rtlCol="0" anchor="t"/>
          <a:lstStyle/>
          <a:p>
            <a:pPr marL="0" indent="0" algn="l">
              <a:lnSpc>
                <a:spcPct val="118000"/>
              </a:lnSpc>
              <a:buNone/>
            </a:pPr>
            <a:r>
              <a:rPr lang="en-US" sz="900" b="1" dirty="0">
                <a:solidFill>
                  <a:srgbClr val="432338"/>
                </a:solidFill>
                <a:latin typeface="Source Sans 3 Bold" pitchFamily="34" charset="0"/>
                <a:ea typeface="Source Sans 3 Bold" pitchFamily="34" charset="-122"/>
                <a:cs typeface="Source Sans 3 Bold" pitchFamily="34" charset="-120"/>
              </a:rPr>
              <a:t>#</a:t>
            </a:r>
            <a:endParaRPr lang="en-US" sz="900" dirty="0"/>
          </a:p>
        </p:txBody>
      </p:sp>
      <p:sp>
        <p:nvSpPr>
          <p:cNvPr id="12" name="Text 10"/>
          <p:cNvSpPr/>
          <p:nvPr/>
        </p:nvSpPr>
        <p:spPr>
          <a:xfrm>
            <a:off x="1047304" y="1268685"/>
            <a:ext cx="2896939" cy="161702"/>
          </a:xfrm>
          <a:prstGeom prst="rect">
            <a:avLst/>
          </a:prstGeom>
          <a:noFill/>
          <a:ln/>
        </p:spPr>
        <p:txBody>
          <a:bodyPr wrap="none" lIns="0" tIns="0" rIns="0" bIns="0" rtlCol="0" anchor="t"/>
          <a:lstStyle/>
          <a:p>
            <a:pPr marL="0" indent="0" algn="l">
              <a:lnSpc>
                <a:spcPct val="118000"/>
              </a:lnSpc>
              <a:buNone/>
            </a:pPr>
            <a:r>
              <a:rPr lang="en-US" sz="900" b="1" dirty="0">
                <a:solidFill>
                  <a:srgbClr val="432338"/>
                </a:solidFill>
                <a:latin typeface="Source Sans 3 Bold" pitchFamily="34" charset="0"/>
                <a:ea typeface="Source Sans 3 Bold" pitchFamily="34" charset="-122"/>
                <a:cs typeface="Source Sans 3 Bold" pitchFamily="34" charset="-120"/>
              </a:rPr>
              <a:t>Paper Title</a:t>
            </a:r>
            <a:endParaRPr lang="en-US" sz="900" dirty="0"/>
          </a:p>
        </p:txBody>
      </p:sp>
      <p:sp>
        <p:nvSpPr>
          <p:cNvPr id="13" name="Text 11"/>
          <p:cNvSpPr/>
          <p:nvPr/>
        </p:nvSpPr>
        <p:spPr>
          <a:xfrm>
            <a:off x="3716089" y="1268685"/>
            <a:ext cx="1198587" cy="161702"/>
          </a:xfrm>
          <a:prstGeom prst="rect">
            <a:avLst/>
          </a:prstGeom>
          <a:noFill/>
          <a:ln/>
        </p:spPr>
        <p:txBody>
          <a:bodyPr wrap="none" lIns="0" tIns="0" rIns="0" bIns="0" rtlCol="0" anchor="t"/>
          <a:lstStyle/>
          <a:p>
            <a:pPr marL="0" indent="0" algn="l">
              <a:lnSpc>
                <a:spcPct val="118000"/>
              </a:lnSpc>
              <a:buNone/>
            </a:pPr>
            <a:r>
              <a:rPr lang="en-US" sz="900" b="1" dirty="0">
                <a:solidFill>
                  <a:srgbClr val="432338"/>
                </a:solidFill>
                <a:latin typeface="Source Sans 3 Bold" pitchFamily="34" charset="0"/>
                <a:ea typeface="Source Sans 3 Bold" pitchFamily="34" charset="-122"/>
                <a:cs typeface="Source Sans 3 Bold" pitchFamily="34" charset="-120"/>
              </a:rPr>
              <a:t>Year · Venue</a:t>
            </a:r>
            <a:endParaRPr lang="en-US" sz="900" dirty="0"/>
          </a:p>
        </p:txBody>
      </p:sp>
      <p:sp>
        <p:nvSpPr>
          <p:cNvPr id="14" name="Text 12"/>
          <p:cNvSpPr/>
          <p:nvPr/>
        </p:nvSpPr>
        <p:spPr>
          <a:xfrm>
            <a:off x="4686523" y="1268685"/>
            <a:ext cx="4271814" cy="161702"/>
          </a:xfrm>
          <a:prstGeom prst="rect">
            <a:avLst/>
          </a:prstGeom>
          <a:noFill/>
          <a:ln/>
        </p:spPr>
        <p:txBody>
          <a:bodyPr wrap="none" lIns="0" tIns="0" rIns="0" bIns="0" rtlCol="0" anchor="t"/>
          <a:lstStyle/>
          <a:p>
            <a:pPr marL="0" indent="0" algn="l">
              <a:lnSpc>
                <a:spcPct val="118000"/>
              </a:lnSpc>
              <a:buNone/>
            </a:pPr>
            <a:r>
              <a:rPr lang="en-US" sz="900" b="1" dirty="0">
                <a:solidFill>
                  <a:srgbClr val="432338"/>
                </a:solidFill>
                <a:latin typeface="Source Sans 3 Bold" pitchFamily="34" charset="0"/>
                <a:ea typeface="Source Sans 3 Bold" pitchFamily="34" charset="-122"/>
                <a:cs typeface="Source Sans 3 Bold" pitchFamily="34" charset="-120"/>
              </a:rPr>
              <a:t>Contribution &amp; Relevance</a:t>
            </a:r>
            <a:endParaRPr lang="en-US" sz="900" dirty="0"/>
          </a:p>
        </p:txBody>
      </p:sp>
      <p:sp>
        <p:nvSpPr>
          <p:cNvPr id="15" name="Text 13"/>
          <p:cNvSpPr/>
          <p:nvPr/>
        </p:nvSpPr>
        <p:spPr>
          <a:xfrm>
            <a:off x="642938" y="1549896"/>
            <a:ext cx="632520" cy="161702"/>
          </a:xfrm>
          <a:prstGeom prst="rect">
            <a:avLst/>
          </a:prstGeom>
          <a:noFill/>
          <a:ln/>
        </p:spPr>
        <p:txBody>
          <a:bodyPr wrap="none" lIns="0" tIns="0" rIns="0" bIns="0" rtlCol="0" anchor="t"/>
          <a:lstStyle/>
          <a:p>
            <a:pPr marL="0" indent="0" algn="l">
              <a:lnSpc>
                <a:spcPct val="118000"/>
              </a:lnSpc>
              <a:buNone/>
            </a:pPr>
            <a:r>
              <a:rPr lang="en-US" sz="900" dirty="0">
                <a:solidFill>
                  <a:srgbClr val="432338"/>
                </a:solidFill>
                <a:latin typeface="Source Sans 3" pitchFamily="34" charset="0"/>
                <a:ea typeface="Source Sans 3" pitchFamily="34" charset="-122"/>
                <a:cs typeface="Source Sans 3" pitchFamily="34" charset="-120"/>
              </a:rPr>
              <a:t>6</a:t>
            </a:r>
            <a:endParaRPr lang="en-US" sz="900" dirty="0"/>
          </a:p>
        </p:txBody>
      </p:sp>
      <p:sp>
        <p:nvSpPr>
          <p:cNvPr id="16" name="Text 14"/>
          <p:cNvSpPr/>
          <p:nvPr/>
        </p:nvSpPr>
        <p:spPr>
          <a:xfrm>
            <a:off x="1047304" y="1549896"/>
            <a:ext cx="2439739" cy="323404"/>
          </a:xfrm>
          <a:prstGeom prst="rect">
            <a:avLst/>
          </a:prstGeom>
          <a:noFill/>
          <a:ln/>
        </p:spPr>
        <p:txBody>
          <a:bodyPr wrap="square" lIns="0" tIns="0" rIns="0" bIns="0" rtlCol="0" anchor="t">
            <a:normAutofit/>
          </a:bodyPr>
          <a:lstStyle/>
          <a:p>
            <a:pPr marL="0" indent="0" algn="l">
              <a:lnSpc>
                <a:spcPct val="118000"/>
              </a:lnSpc>
              <a:buNone/>
            </a:pPr>
            <a:r>
              <a:rPr lang="en-US" sz="900" dirty="0">
                <a:solidFill>
                  <a:srgbClr val="432338"/>
                </a:solidFill>
                <a:latin typeface="Source Sans 3" pitchFamily="34" charset="0"/>
                <a:ea typeface="Source Sans 3" pitchFamily="34" charset="-122"/>
                <a:cs typeface="Source Sans 3" pitchFamily="34" charset="-120"/>
              </a:rPr>
              <a:t>Electricity demand forecasting methodologies and applications: a review</a:t>
            </a:r>
            <a:endParaRPr lang="en-US" sz="900" dirty="0"/>
          </a:p>
        </p:txBody>
      </p:sp>
      <p:sp>
        <p:nvSpPr>
          <p:cNvPr id="17" name="Text 15"/>
          <p:cNvSpPr/>
          <p:nvPr/>
        </p:nvSpPr>
        <p:spPr>
          <a:xfrm>
            <a:off x="3716089" y="1549896"/>
            <a:ext cx="741387" cy="485105"/>
          </a:xfrm>
          <a:prstGeom prst="rect">
            <a:avLst/>
          </a:prstGeom>
          <a:noFill/>
          <a:ln/>
        </p:spPr>
        <p:txBody>
          <a:bodyPr wrap="square" lIns="0" tIns="0" rIns="0" bIns="0" rtlCol="0" anchor="t">
            <a:normAutofit/>
          </a:bodyPr>
          <a:lstStyle/>
          <a:p>
            <a:pPr marL="0" indent="0" algn="l">
              <a:lnSpc>
                <a:spcPct val="118000"/>
              </a:lnSpc>
              <a:buNone/>
            </a:pPr>
            <a:r>
              <a:rPr lang="en-US" sz="900" dirty="0">
                <a:solidFill>
                  <a:srgbClr val="432338"/>
                </a:solidFill>
                <a:latin typeface="Source Sans 3" pitchFamily="34" charset="0"/>
                <a:ea typeface="Source Sans 3" pitchFamily="34" charset="-122"/>
                <a:cs typeface="Source Sans 3" pitchFamily="34" charset="-120"/>
              </a:rPr>
              <a:t>2025 · Sustain. Energy Res., Springer</a:t>
            </a:r>
            <a:endParaRPr lang="en-US" sz="900" dirty="0"/>
          </a:p>
        </p:txBody>
      </p:sp>
      <p:sp>
        <p:nvSpPr>
          <p:cNvPr id="18" name="Text 16"/>
          <p:cNvSpPr/>
          <p:nvPr/>
        </p:nvSpPr>
        <p:spPr>
          <a:xfrm>
            <a:off x="4686523" y="1549896"/>
            <a:ext cx="4271814" cy="161702"/>
          </a:xfrm>
          <a:prstGeom prst="rect">
            <a:avLst/>
          </a:prstGeom>
          <a:noFill/>
          <a:ln/>
        </p:spPr>
        <p:txBody>
          <a:bodyPr wrap="none" lIns="0" tIns="0" rIns="0" bIns="0" rtlCol="0" anchor="t"/>
          <a:lstStyle/>
          <a:p>
            <a:pPr marL="0" indent="0" algn="l">
              <a:lnSpc>
                <a:spcPct val="118000"/>
              </a:lnSpc>
              <a:buNone/>
            </a:pPr>
            <a:r>
              <a:rPr lang="en-US" sz="900" dirty="0">
                <a:solidFill>
                  <a:srgbClr val="432338"/>
                </a:solidFill>
                <a:latin typeface="Source Sans 3" pitchFamily="34" charset="0"/>
                <a:ea typeface="Source Sans 3" pitchFamily="34" charset="-122"/>
                <a:cs typeface="Source Sans 3" pitchFamily="34" charset="-120"/>
              </a:rPr>
              <a:t>Electricity demand review; supports energy dataset</a:t>
            </a:r>
            <a:endParaRPr lang="en-US" sz="900" dirty="0"/>
          </a:p>
        </p:txBody>
      </p:sp>
      <p:sp>
        <p:nvSpPr>
          <p:cNvPr id="19" name="Text 17"/>
          <p:cNvSpPr/>
          <p:nvPr/>
        </p:nvSpPr>
        <p:spPr>
          <a:xfrm>
            <a:off x="642938" y="2154510"/>
            <a:ext cx="632520" cy="161702"/>
          </a:xfrm>
          <a:prstGeom prst="rect">
            <a:avLst/>
          </a:prstGeom>
          <a:noFill/>
          <a:ln/>
        </p:spPr>
        <p:txBody>
          <a:bodyPr wrap="none" lIns="0" tIns="0" rIns="0" bIns="0" rtlCol="0" anchor="t"/>
          <a:lstStyle/>
          <a:p>
            <a:pPr marL="0" indent="0" algn="l">
              <a:lnSpc>
                <a:spcPct val="118000"/>
              </a:lnSpc>
              <a:buNone/>
            </a:pPr>
            <a:r>
              <a:rPr lang="en-US" sz="900" dirty="0">
                <a:solidFill>
                  <a:srgbClr val="432338"/>
                </a:solidFill>
                <a:latin typeface="Source Sans 3" pitchFamily="34" charset="0"/>
                <a:ea typeface="Source Sans 3" pitchFamily="34" charset="-122"/>
                <a:cs typeface="Source Sans 3" pitchFamily="34" charset="-120"/>
              </a:rPr>
              <a:t>7</a:t>
            </a:r>
            <a:endParaRPr lang="en-US" sz="900" dirty="0"/>
          </a:p>
        </p:txBody>
      </p:sp>
      <p:sp>
        <p:nvSpPr>
          <p:cNvPr id="20" name="Text 18"/>
          <p:cNvSpPr/>
          <p:nvPr/>
        </p:nvSpPr>
        <p:spPr>
          <a:xfrm>
            <a:off x="1047304" y="2154510"/>
            <a:ext cx="2439739" cy="485105"/>
          </a:xfrm>
          <a:prstGeom prst="rect">
            <a:avLst/>
          </a:prstGeom>
          <a:noFill/>
          <a:ln/>
        </p:spPr>
        <p:txBody>
          <a:bodyPr wrap="square" lIns="0" tIns="0" rIns="0" bIns="0" rtlCol="0" anchor="t">
            <a:normAutofit/>
          </a:bodyPr>
          <a:lstStyle/>
          <a:p>
            <a:pPr marL="0" indent="0" algn="l">
              <a:lnSpc>
                <a:spcPct val="118000"/>
              </a:lnSpc>
              <a:buNone/>
            </a:pPr>
            <a:r>
              <a:rPr lang="en-US" sz="900" dirty="0">
                <a:solidFill>
                  <a:srgbClr val="432338"/>
                </a:solidFill>
                <a:latin typeface="Source Sans 3" pitchFamily="34" charset="0"/>
                <a:ea typeface="Source Sans 3" pitchFamily="34" charset="-122"/>
                <a:cs typeface="Source Sans 3" pitchFamily="34" charset="-120"/>
              </a:rPr>
              <a:t>Developing a demand planning strategy for joint forecasting and employing analytical tool in an empirical case study</a:t>
            </a:r>
            <a:endParaRPr lang="en-US" sz="900" dirty="0"/>
          </a:p>
        </p:txBody>
      </p:sp>
      <p:sp>
        <p:nvSpPr>
          <p:cNvPr id="21" name="Text 19"/>
          <p:cNvSpPr/>
          <p:nvPr/>
        </p:nvSpPr>
        <p:spPr>
          <a:xfrm>
            <a:off x="3716089" y="2154510"/>
            <a:ext cx="741387" cy="485105"/>
          </a:xfrm>
          <a:prstGeom prst="rect">
            <a:avLst/>
          </a:prstGeom>
          <a:noFill/>
          <a:ln/>
        </p:spPr>
        <p:txBody>
          <a:bodyPr wrap="square" lIns="0" tIns="0" rIns="0" bIns="0" rtlCol="0" anchor="t">
            <a:normAutofit/>
          </a:bodyPr>
          <a:lstStyle/>
          <a:p>
            <a:pPr marL="0" indent="0" algn="l">
              <a:lnSpc>
                <a:spcPct val="118000"/>
              </a:lnSpc>
              <a:buNone/>
            </a:pPr>
            <a:r>
              <a:rPr lang="en-US" sz="900" dirty="0">
                <a:solidFill>
                  <a:srgbClr val="432338"/>
                </a:solidFill>
                <a:latin typeface="Source Sans 3" pitchFamily="34" charset="0"/>
                <a:ea typeface="Source Sans 3" pitchFamily="34" charset="-122"/>
                <a:cs typeface="Source Sans 3" pitchFamily="34" charset="-120"/>
              </a:rPr>
              <a:t>2025 · Discov. Appl. Sci., Springer</a:t>
            </a:r>
            <a:endParaRPr lang="en-US" sz="900" dirty="0"/>
          </a:p>
        </p:txBody>
      </p:sp>
      <p:sp>
        <p:nvSpPr>
          <p:cNvPr id="22" name="Text 20"/>
          <p:cNvSpPr/>
          <p:nvPr/>
        </p:nvSpPr>
        <p:spPr>
          <a:xfrm>
            <a:off x="4686523" y="2154510"/>
            <a:ext cx="4271814" cy="161702"/>
          </a:xfrm>
          <a:prstGeom prst="rect">
            <a:avLst/>
          </a:prstGeom>
          <a:noFill/>
          <a:ln/>
        </p:spPr>
        <p:txBody>
          <a:bodyPr wrap="none" lIns="0" tIns="0" rIns="0" bIns="0" rtlCol="0" anchor="t"/>
          <a:lstStyle/>
          <a:p>
            <a:pPr marL="0" indent="0" algn="l">
              <a:lnSpc>
                <a:spcPct val="118000"/>
              </a:lnSpc>
              <a:buNone/>
            </a:pPr>
            <a:r>
              <a:rPr lang="en-US" sz="900" dirty="0">
                <a:solidFill>
                  <a:srgbClr val="432338"/>
                </a:solidFill>
                <a:latin typeface="Source Sans 3" pitchFamily="34" charset="0"/>
                <a:ea typeface="Source Sans 3" pitchFamily="34" charset="-122"/>
                <a:cs typeface="Source Sans 3" pitchFamily="34" charset="-120"/>
              </a:rPr>
              <a:t>Joint demand planning case study; motivates multi-dataset design</a:t>
            </a:r>
            <a:endParaRPr lang="en-US" sz="900" dirty="0"/>
          </a:p>
        </p:txBody>
      </p:sp>
      <p:sp>
        <p:nvSpPr>
          <p:cNvPr id="23" name="Text 21"/>
          <p:cNvSpPr/>
          <p:nvPr/>
        </p:nvSpPr>
        <p:spPr>
          <a:xfrm>
            <a:off x="642938" y="2759125"/>
            <a:ext cx="632520" cy="161702"/>
          </a:xfrm>
          <a:prstGeom prst="rect">
            <a:avLst/>
          </a:prstGeom>
          <a:noFill/>
          <a:ln/>
        </p:spPr>
        <p:txBody>
          <a:bodyPr wrap="none" lIns="0" tIns="0" rIns="0" bIns="0" rtlCol="0" anchor="t"/>
          <a:lstStyle/>
          <a:p>
            <a:pPr marL="0" indent="0" algn="l">
              <a:lnSpc>
                <a:spcPct val="118000"/>
              </a:lnSpc>
              <a:buNone/>
            </a:pPr>
            <a:r>
              <a:rPr lang="en-US" sz="900" dirty="0">
                <a:solidFill>
                  <a:srgbClr val="432338"/>
                </a:solidFill>
                <a:latin typeface="Source Sans 3" pitchFamily="34" charset="0"/>
                <a:ea typeface="Source Sans 3" pitchFamily="34" charset="-122"/>
                <a:cs typeface="Source Sans 3" pitchFamily="34" charset="-120"/>
              </a:rPr>
              <a:t>8</a:t>
            </a:r>
            <a:endParaRPr lang="en-US" sz="900" dirty="0"/>
          </a:p>
        </p:txBody>
      </p:sp>
      <p:sp>
        <p:nvSpPr>
          <p:cNvPr id="24" name="Text 22"/>
          <p:cNvSpPr/>
          <p:nvPr/>
        </p:nvSpPr>
        <p:spPr>
          <a:xfrm>
            <a:off x="1047304" y="2759125"/>
            <a:ext cx="2439739" cy="323404"/>
          </a:xfrm>
          <a:prstGeom prst="rect">
            <a:avLst/>
          </a:prstGeom>
          <a:noFill/>
          <a:ln/>
        </p:spPr>
        <p:txBody>
          <a:bodyPr wrap="square" lIns="0" tIns="0" rIns="0" bIns="0" rtlCol="0" anchor="t">
            <a:normAutofit/>
          </a:bodyPr>
          <a:lstStyle/>
          <a:p>
            <a:pPr marL="0" indent="0" algn="l">
              <a:lnSpc>
                <a:spcPct val="118000"/>
              </a:lnSpc>
              <a:buNone/>
            </a:pPr>
            <a:r>
              <a:rPr lang="en-US" sz="900" dirty="0">
                <a:solidFill>
                  <a:srgbClr val="432338"/>
                </a:solidFill>
                <a:latin typeface="Source Sans 3" pitchFamily="34" charset="0"/>
                <a:ea typeface="Source Sans 3" pitchFamily="34" charset="-122"/>
                <a:cs typeface="Source Sans 3" pitchFamily="34" charset="-120"/>
              </a:rPr>
              <a:t>Boosting time series forecasting accuracy with Holt-Winters and artificial neural networks</a:t>
            </a:r>
            <a:endParaRPr lang="en-US" sz="900" dirty="0"/>
          </a:p>
        </p:txBody>
      </p:sp>
      <p:sp>
        <p:nvSpPr>
          <p:cNvPr id="25" name="Text 23"/>
          <p:cNvSpPr/>
          <p:nvPr/>
        </p:nvSpPr>
        <p:spPr>
          <a:xfrm>
            <a:off x="3716089" y="2759125"/>
            <a:ext cx="741387" cy="485105"/>
          </a:xfrm>
          <a:prstGeom prst="rect">
            <a:avLst/>
          </a:prstGeom>
          <a:noFill/>
          <a:ln/>
        </p:spPr>
        <p:txBody>
          <a:bodyPr wrap="square" lIns="0" tIns="0" rIns="0" bIns="0" rtlCol="0" anchor="t">
            <a:normAutofit/>
          </a:bodyPr>
          <a:lstStyle/>
          <a:p>
            <a:pPr marL="0" indent="0" algn="l">
              <a:lnSpc>
                <a:spcPct val="118000"/>
              </a:lnSpc>
              <a:buNone/>
            </a:pPr>
            <a:r>
              <a:rPr lang="en-US" sz="900" dirty="0">
                <a:solidFill>
                  <a:srgbClr val="432338"/>
                </a:solidFill>
                <a:latin typeface="Source Sans 3" pitchFamily="34" charset="0"/>
                <a:ea typeface="Source Sans 3" pitchFamily="34" charset="-122"/>
                <a:cs typeface="Source Sans 3" pitchFamily="34" charset="-120"/>
              </a:rPr>
              <a:t>2025 · Discov. Appl. Sci., Springer</a:t>
            </a:r>
            <a:endParaRPr lang="en-US" sz="900" dirty="0"/>
          </a:p>
        </p:txBody>
      </p:sp>
      <p:sp>
        <p:nvSpPr>
          <p:cNvPr id="26" name="Text 24"/>
          <p:cNvSpPr/>
          <p:nvPr/>
        </p:nvSpPr>
        <p:spPr>
          <a:xfrm>
            <a:off x="4686523" y="2759125"/>
            <a:ext cx="4271814" cy="161702"/>
          </a:xfrm>
          <a:prstGeom prst="rect">
            <a:avLst/>
          </a:prstGeom>
          <a:noFill/>
          <a:ln/>
        </p:spPr>
        <p:txBody>
          <a:bodyPr wrap="none" lIns="0" tIns="0" rIns="0" bIns="0" rtlCol="0" anchor="t"/>
          <a:lstStyle/>
          <a:p>
            <a:pPr marL="0" indent="0" algn="l">
              <a:lnSpc>
                <a:spcPct val="118000"/>
              </a:lnSpc>
              <a:buNone/>
            </a:pPr>
            <a:r>
              <a:rPr lang="en-US" sz="900" dirty="0">
                <a:solidFill>
                  <a:srgbClr val="432338"/>
                </a:solidFill>
                <a:latin typeface="Source Sans 3" pitchFamily="34" charset="0"/>
                <a:ea typeface="Source Sans 3" pitchFamily="34" charset="-122"/>
                <a:cs typeface="Source Sans 3" pitchFamily="34" charset="-120"/>
              </a:rPr>
              <a:t>Holt-Winters + ANN hybrid; justifies classical + ML baseline</a:t>
            </a:r>
            <a:endParaRPr lang="en-US" sz="900" dirty="0"/>
          </a:p>
        </p:txBody>
      </p:sp>
      <p:sp>
        <p:nvSpPr>
          <p:cNvPr id="27" name="Text 25"/>
          <p:cNvSpPr/>
          <p:nvPr/>
        </p:nvSpPr>
        <p:spPr>
          <a:xfrm>
            <a:off x="642938" y="3363739"/>
            <a:ext cx="632520" cy="161702"/>
          </a:xfrm>
          <a:prstGeom prst="rect">
            <a:avLst/>
          </a:prstGeom>
          <a:noFill/>
          <a:ln/>
        </p:spPr>
        <p:txBody>
          <a:bodyPr wrap="none" lIns="0" tIns="0" rIns="0" bIns="0" rtlCol="0" anchor="t"/>
          <a:lstStyle/>
          <a:p>
            <a:pPr marL="0" indent="0" algn="l">
              <a:lnSpc>
                <a:spcPct val="118000"/>
              </a:lnSpc>
              <a:buNone/>
            </a:pPr>
            <a:r>
              <a:rPr lang="en-US" sz="900" dirty="0">
                <a:solidFill>
                  <a:srgbClr val="432338"/>
                </a:solidFill>
                <a:latin typeface="Source Sans 3" pitchFamily="34" charset="0"/>
                <a:ea typeface="Source Sans 3" pitchFamily="34" charset="-122"/>
                <a:cs typeface="Source Sans 3" pitchFamily="34" charset="-120"/>
              </a:rPr>
              <a:t>9</a:t>
            </a:r>
            <a:endParaRPr lang="en-US" sz="900" dirty="0"/>
          </a:p>
        </p:txBody>
      </p:sp>
      <p:sp>
        <p:nvSpPr>
          <p:cNvPr id="28" name="Text 26"/>
          <p:cNvSpPr/>
          <p:nvPr/>
        </p:nvSpPr>
        <p:spPr>
          <a:xfrm>
            <a:off x="1047304" y="3363739"/>
            <a:ext cx="2439739" cy="323404"/>
          </a:xfrm>
          <a:prstGeom prst="rect">
            <a:avLst/>
          </a:prstGeom>
          <a:noFill/>
          <a:ln/>
        </p:spPr>
        <p:txBody>
          <a:bodyPr wrap="square" lIns="0" tIns="0" rIns="0" bIns="0" rtlCol="0" anchor="t">
            <a:normAutofit/>
          </a:bodyPr>
          <a:lstStyle/>
          <a:p>
            <a:pPr marL="0" indent="0" algn="l">
              <a:lnSpc>
                <a:spcPct val="118000"/>
              </a:lnSpc>
              <a:buNone/>
            </a:pPr>
            <a:r>
              <a:rPr lang="en-US" sz="900" dirty="0">
                <a:solidFill>
                  <a:srgbClr val="432338"/>
                </a:solidFill>
                <a:latin typeface="Source Sans 3" pitchFamily="34" charset="0"/>
                <a:ea typeface="Source Sans 3" pitchFamily="34" charset="-122"/>
                <a:cs typeface="Source Sans 3" pitchFamily="34" charset="-120"/>
              </a:rPr>
              <a:t>TFB: Towards Comprehensive and Fair Benchmarking of Time Series Forecasting Methods</a:t>
            </a:r>
            <a:endParaRPr lang="en-US" sz="900" dirty="0"/>
          </a:p>
        </p:txBody>
      </p:sp>
      <p:sp>
        <p:nvSpPr>
          <p:cNvPr id="29" name="Text 27"/>
          <p:cNvSpPr/>
          <p:nvPr/>
        </p:nvSpPr>
        <p:spPr>
          <a:xfrm>
            <a:off x="3716089" y="3363739"/>
            <a:ext cx="741387" cy="323404"/>
          </a:xfrm>
          <a:prstGeom prst="rect">
            <a:avLst/>
          </a:prstGeom>
          <a:noFill/>
          <a:ln/>
        </p:spPr>
        <p:txBody>
          <a:bodyPr wrap="square" lIns="0" tIns="0" rIns="0" bIns="0" rtlCol="0" anchor="t">
            <a:normAutofit/>
          </a:bodyPr>
          <a:lstStyle/>
          <a:p>
            <a:pPr marL="0" indent="0" algn="l">
              <a:lnSpc>
                <a:spcPct val="118000"/>
              </a:lnSpc>
              <a:buNone/>
            </a:pPr>
            <a:r>
              <a:rPr lang="en-US" sz="900" dirty="0">
                <a:solidFill>
                  <a:srgbClr val="432338"/>
                </a:solidFill>
                <a:latin typeface="Source Sans 3" pitchFamily="34" charset="0"/>
                <a:ea typeface="Source Sans 3" pitchFamily="34" charset="-122"/>
                <a:cs typeface="Source Sans 3" pitchFamily="34" charset="-120"/>
              </a:rPr>
              <a:t>2024 · PVLDB, ACM</a:t>
            </a:r>
            <a:endParaRPr lang="en-US" sz="900" dirty="0"/>
          </a:p>
        </p:txBody>
      </p:sp>
      <p:sp>
        <p:nvSpPr>
          <p:cNvPr id="30" name="Text 28"/>
          <p:cNvSpPr/>
          <p:nvPr/>
        </p:nvSpPr>
        <p:spPr>
          <a:xfrm>
            <a:off x="4686523" y="3363739"/>
            <a:ext cx="4271814" cy="161702"/>
          </a:xfrm>
          <a:prstGeom prst="rect">
            <a:avLst/>
          </a:prstGeom>
          <a:noFill/>
          <a:ln/>
        </p:spPr>
        <p:txBody>
          <a:bodyPr wrap="none" lIns="0" tIns="0" rIns="0" bIns="0" rtlCol="0" anchor="t"/>
          <a:lstStyle/>
          <a:p>
            <a:pPr marL="0" indent="0" algn="l">
              <a:lnSpc>
                <a:spcPct val="118000"/>
              </a:lnSpc>
              <a:buNone/>
            </a:pPr>
            <a:r>
              <a:rPr lang="en-US" sz="900" dirty="0">
                <a:solidFill>
                  <a:srgbClr val="432338"/>
                </a:solidFill>
                <a:latin typeface="Source Sans 3" pitchFamily="34" charset="0"/>
                <a:ea typeface="Source Sans 3" pitchFamily="34" charset="-122"/>
                <a:cs typeface="Source Sans 3" pitchFamily="34" charset="-120"/>
              </a:rPr>
              <a:t>Fair benchmarking framework; directly informs evaluation protocol</a:t>
            </a:r>
            <a:endParaRPr lang="en-US" sz="900" dirty="0"/>
          </a:p>
        </p:txBody>
      </p:sp>
      <p:sp>
        <p:nvSpPr>
          <p:cNvPr id="31" name="Text 29"/>
          <p:cNvSpPr/>
          <p:nvPr/>
        </p:nvSpPr>
        <p:spPr>
          <a:xfrm>
            <a:off x="642938" y="3806651"/>
            <a:ext cx="632520" cy="161702"/>
          </a:xfrm>
          <a:prstGeom prst="rect">
            <a:avLst/>
          </a:prstGeom>
          <a:noFill/>
          <a:ln/>
        </p:spPr>
        <p:txBody>
          <a:bodyPr wrap="none" lIns="0" tIns="0" rIns="0" bIns="0" rtlCol="0" anchor="t"/>
          <a:lstStyle/>
          <a:p>
            <a:pPr marL="0" indent="0" algn="l">
              <a:lnSpc>
                <a:spcPct val="118000"/>
              </a:lnSpc>
              <a:buNone/>
            </a:pPr>
            <a:r>
              <a:rPr lang="en-US" sz="900" dirty="0">
                <a:solidFill>
                  <a:srgbClr val="432338"/>
                </a:solidFill>
                <a:latin typeface="Source Sans 3" pitchFamily="34" charset="0"/>
                <a:ea typeface="Source Sans 3" pitchFamily="34" charset="-122"/>
                <a:cs typeface="Source Sans 3" pitchFamily="34" charset="-120"/>
              </a:rPr>
              <a:t>10</a:t>
            </a:r>
            <a:endParaRPr lang="en-US" sz="900" dirty="0"/>
          </a:p>
        </p:txBody>
      </p:sp>
      <p:sp>
        <p:nvSpPr>
          <p:cNvPr id="32" name="Text 30"/>
          <p:cNvSpPr/>
          <p:nvPr/>
        </p:nvSpPr>
        <p:spPr>
          <a:xfrm>
            <a:off x="1047304" y="3806651"/>
            <a:ext cx="2439739" cy="485105"/>
          </a:xfrm>
          <a:prstGeom prst="rect">
            <a:avLst/>
          </a:prstGeom>
          <a:noFill/>
          <a:ln/>
        </p:spPr>
        <p:txBody>
          <a:bodyPr wrap="square" lIns="0" tIns="0" rIns="0" bIns="0" rtlCol="0" anchor="t">
            <a:normAutofit/>
          </a:bodyPr>
          <a:lstStyle/>
          <a:p>
            <a:pPr marL="0" indent="0" algn="l">
              <a:lnSpc>
                <a:spcPct val="118000"/>
              </a:lnSpc>
              <a:buNone/>
            </a:pPr>
            <a:r>
              <a:rPr lang="en-US" sz="900" dirty="0">
                <a:solidFill>
                  <a:srgbClr val="432338"/>
                </a:solidFill>
                <a:latin typeface="Source Sans 3" pitchFamily="34" charset="0"/>
                <a:ea typeface="Source Sans 3" pitchFamily="34" charset="-122"/>
                <a:cs typeface="Source Sans 3" pitchFamily="34" charset="-120"/>
              </a:rPr>
              <a:t>TSFM-Bench: A Comprehensive and Unified Benchmark of Foundation Models for Time Series Forecasting</a:t>
            </a:r>
            <a:endParaRPr lang="en-US" sz="900" dirty="0"/>
          </a:p>
        </p:txBody>
      </p:sp>
      <p:sp>
        <p:nvSpPr>
          <p:cNvPr id="33" name="Text 31"/>
          <p:cNvSpPr/>
          <p:nvPr/>
        </p:nvSpPr>
        <p:spPr>
          <a:xfrm>
            <a:off x="3716089" y="3806651"/>
            <a:ext cx="741387" cy="323404"/>
          </a:xfrm>
          <a:prstGeom prst="rect">
            <a:avLst/>
          </a:prstGeom>
          <a:noFill/>
          <a:ln/>
        </p:spPr>
        <p:txBody>
          <a:bodyPr wrap="square" lIns="0" tIns="0" rIns="0" bIns="0" rtlCol="0" anchor="t">
            <a:normAutofit/>
          </a:bodyPr>
          <a:lstStyle/>
          <a:p>
            <a:pPr marL="0" indent="0" algn="l">
              <a:lnSpc>
                <a:spcPct val="118000"/>
              </a:lnSpc>
              <a:buNone/>
            </a:pPr>
            <a:r>
              <a:rPr lang="en-US" sz="900" dirty="0">
                <a:solidFill>
                  <a:srgbClr val="432338"/>
                </a:solidFill>
                <a:latin typeface="Source Sans 3" pitchFamily="34" charset="0"/>
                <a:ea typeface="Source Sans 3" pitchFamily="34" charset="-122"/>
                <a:cs typeface="Source Sans 3" pitchFamily="34" charset="-120"/>
              </a:rPr>
              <a:t>2025 · KDD, ACM</a:t>
            </a:r>
            <a:endParaRPr lang="en-US" sz="900" dirty="0"/>
          </a:p>
        </p:txBody>
      </p:sp>
      <p:sp>
        <p:nvSpPr>
          <p:cNvPr id="34" name="Text 32"/>
          <p:cNvSpPr/>
          <p:nvPr/>
        </p:nvSpPr>
        <p:spPr>
          <a:xfrm>
            <a:off x="4686523" y="3806651"/>
            <a:ext cx="4271814" cy="161702"/>
          </a:xfrm>
          <a:prstGeom prst="rect">
            <a:avLst/>
          </a:prstGeom>
          <a:noFill/>
          <a:ln/>
        </p:spPr>
        <p:txBody>
          <a:bodyPr wrap="none" lIns="0" tIns="0" rIns="0" bIns="0" rtlCol="0" anchor="t"/>
          <a:lstStyle/>
          <a:p>
            <a:pPr marL="0" indent="0" algn="l">
              <a:lnSpc>
                <a:spcPct val="118000"/>
              </a:lnSpc>
              <a:buNone/>
            </a:pPr>
            <a:r>
              <a:rPr lang="en-US" sz="900" dirty="0">
                <a:solidFill>
                  <a:srgbClr val="432338"/>
                </a:solidFill>
                <a:latin typeface="Source Sans 3" pitchFamily="34" charset="0"/>
                <a:ea typeface="Source Sans 3" pitchFamily="34" charset="-122"/>
                <a:cs typeface="Source Sans 3" pitchFamily="34" charset="-120"/>
              </a:rPr>
              <a:t>Foundation model benchmark; highlights standardized evaluation need</a:t>
            </a:r>
            <a:endParaRPr lang="en-US" sz="900" dirty="0"/>
          </a:p>
        </p:txBody>
      </p:sp>
      <p:sp>
        <p:nvSpPr>
          <p:cNvPr id="35" name="Text 33"/>
          <p:cNvSpPr/>
          <p:nvPr/>
        </p:nvSpPr>
        <p:spPr>
          <a:xfrm>
            <a:off x="523577" y="4452491"/>
            <a:ext cx="8554045" cy="161702"/>
          </a:xfrm>
          <a:prstGeom prst="rect">
            <a:avLst/>
          </a:prstGeom>
          <a:noFill/>
          <a:ln/>
        </p:spPr>
        <p:txBody>
          <a:bodyPr wrap="none" lIns="0" tIns="0" rIns="0" bIns="0" rtlCol="0" anchor="t"/>
          <a:lstStyle/>
          <a:p>
            <a:pPr marL="0" indent="0" algn="l">
              <a:lnSpc>
                <a:spcPct val="118000"/>
              </a:lnSpc>
              <a:buNone/>
            </a:pPr>
            <a:r>
              <a:rPr lang="en-US" sz="900" dirty="0">
                <a:solidFill>
                  <a:srgbClr val="432338"/>
                </a:solidFill>
                <a:latin typeface="Source Sans 3" pitchFamily="34" charset="0"/>
                <a:ea typeface="Source Sans 3" pitchFamily="34" charset="-122"/>
                <a:cs typeface="Source Sans 3" pitchFamily="34" charset="-120"/>
              </a:rPr>
              <a:t>Literature → Understanding of Existing Work → Research Gap → Objectives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23577" y="411435"/>
            <a:ext cx="473050" cy="113556"/>
          </a:xfrm>
          <a:prstGeom prst="roundRect">
            <a:avLst>
              <a:gd name="adj" fmla="val 22134"/>
            </a:avLst>
          </a:prstGeom>
          <a:solidFill>
            <a:srgbClr val="F9D2EB"/>
          </a:solidFill>
          <a:ln/>
        </p:spPr>
        <p:txBody>
          <a:bodyPr/>
          <a:lstStyle/>
          <a:p>
            <a:endParaRPr lang="en-US"/>
          </a:p>
        </p:txBody>
      </p:sp>
      <p:sp>
        <p:nvSpPr>
          <p:cNvPr id="3" name="Text 1"/>
          <p:cNvSpPr/>
          <p:nvPr/>
        </p:nvSpPr>
        <p:spPr>
          <a:xfrm>
            <a:off x="568449" y="433834"/>
            <a:ext cx="840507" cy="68759"/>
          </a:xfrm>
          <a:prstGeom prst="rect">
            <a:avLst/>
          </a:prstGeom>
          <a:noFill/>
          <a:ln/>
        </p:spPr>
        <p:txBody>
          <a:bodyPr wrap="none" lIns="0" tIns="0" rIns="0" bIns="0" rtlCol="0" anchor="t"/>
          <a:lstStyle/>
          <a:p>
            <a:pPr marL="0" indent="0" algn="l">
              <a:lnSpc>
                <a:spcPct val="96000"/>
              </a:lnSpc>
              <a:buNone/>
            </a:pPr>
            <a:r>
              <a:rPr lang="en-US" sz="450" dirty="0">
                <a:solidFill>
                  <a:srgbClr val="432338"/>
                </a:solidFill>
                <a:latin typeface="Source Sans 3" pitchFamily="34" charset="0"/>
                <a:ea typeface="Source Sans 3" pitchFamily="34" charset="-122"/>
                <a:cs typeface="Source Sans 3" pitchFamily="34" charset="-120"/>
              </a:rPr>
              <a:t>RESEARCH GAP</a:t>
            </a:r>
            <a:endParaRPr lang="en-US" sz="450" dirty="0"/>
          </a:p>
        </p:txBody>
      </p:sp>
      <p:sp>
        <p:nvSpPr>
          <p:cNvPr id="4" name="Text 2"/>
          <p:cNvSpPr/>
          <p:nvPr/>
        </p:nvSpPr>
        <p:spPr>
          <a:xfrm>
            <a:off x="523577" y="539948"/>
            <a:ext cx="8096845" cy="219968"/>
          </a:xfrm>
          <a:prstGeom prst="rect">
            <a:avLst/>
          </a:prstGeom>
          <a:noFill/>
          <a:ln/>
        </p:spPr>
        <p:txBody>
          <a:bodyPr wrap="none" lIns="0" tIns="0" rIns="0" bIns="0" rtlCol="0" anchor="t"/>
          <a:lstStyle/>
          <a:p>
            <a:pPr marL="0" indent="0" algn="l">
              <a:lnSpc>
                <a:spcPct val="104000"/>
              </a:lnSpc>
              <a:buNone/>
            </a:pPr>
            <a:r>
              <a:rPr lang="en-US" sz="1350" dirty="0">
                <a:solidFill>
                  <a:srgbClr val="371A2D"/>
                </a:solidFill>
                <a:latin typeface="Noto Serif SemiBold" pitchFamily="34" charset="0"/>
                <a:ea typeface="Noto Serif SemiBold" pitchFamily="34" charset="-122"/>
                <a:cs typeface="Noto Serif SemiBold" pitchFamily="34" charset="-120"/>
              </a:rPr>
              <a:t>Research Gap Identification</a:t>
            </a:r>
            <a:endParaRPr lang="en-US" sz="1350" dirty="0"/>
          </a:p>
        </p:txBody>
      </p:sp>
      <p:sp>
        <p:nvSpPr>
          <p:cNvPr id="5" name="Text 3"/>
          <p:cNvSpPr/>
          <p:nvPr/>
        </p:nvSpPr>
        <p:spPr>
          <a:xfrm>
            <a:off x="528339" y="1754647"/>
            <a:ext cx="4010323" cy="637431"/>
          </a:xfrm>
          <a:prstGeom prst="rect">
            <a:avLst/>
          </a:prstGeom>
          <a:noFill/>
          <a:ln/>
        </p:spPr>
        <p:txBody>
          <a:bodyPr wrap="square" lIns="0" tIns="0" rIns="0" bIns="0" rtlCol="0" anchor="t">
            <a:normAutofit/>
          </a:bodyPr>
          <a:lstStyle/>
          <a:p>
            <a:pPr marL="0" indent="0" algn="l">
              <a:lnSpc>
                <a:spcPct val="100000"/>
              </a:lnSpc>
              <a:buNone/>
            </a:pPr>
            <a:r>
              <a:rPr lang="en-US" sz="1000" dirty="0">
                <a:solidFill>
                  <a:srgbClr val="432338"/>
                </a:solidFill>
                <a:latin typeface="Source Sans 3" pitchFamily="34" charset="0"/>
                <a:ea typeface="Source Sans 3" pitchFamily="34" charset="-122"/>
                <a:cs typeface="Source Sans 3" pitchFamily="34" charset="-120"/>
              </a:rPr>
              <a:t>Forecasting-model comparison is a mature research area. Existing benchmarking studies compare many methods over broad time-series collections.</a:t>
            </a:r>
            <a:endParaRPr lang="en-US" sz="1000" dirty="0"/>
          </a:p>
        </p:txBody>
      </p:sp>
      <p:sp>
        <p:nvSpPr>
          <p:cNvPr id="6" name="Shape 4"/>
          <p:cNvSpPr/>
          <p:nvPr/>
        </p:nvSpPr>
        <p:spPr>
          <a:xfrm>
            <a:off x="518815" y="2295342"/>
            <a:ext cx="3952430" cy="429891"/>
          </a:xfrm>
          <a:prstGeom prst="roundRect">
            <a:avLst>
              <a:gd name="adj" fmla="val 16164"/>
            </a:avLst>
          </a:prstGeom>
          <a:solidFill>
            <a:srgbClr val="F9D2EB"/>
          </a:solidFill>
          <a:ln/>
        </p:spPr>
        <p:txBody>
          <a:bodyPr/>
          <a:lstStyle/>
          <a:p>
            <a:endParaRPr lang="en-US"/>
          </a:p>
        </p:txBody>
      </p:sp>
      <p:sp>
        <p:nvSpPr>
          <p:cNvPr id="8" name="Text 5"/>
          <p:cNvSpPr/>
          <p:nvPr/>
        </p:nvSpPr>
        <p:spPr>
          <a:xfrm>
            <a:off x="645096" y="2459888"/>
            <a:ext cx="4010324" cy="179487"/>
          </a:xfrm>
          <a:prstGeom prst="rect">
            <a:avLst/>
          </a:prstGeom>
          <a:noFill/>
          <a:ln/>
        </p:spPr>
        <p:txBody>
          <a:bodyPr wrap="none" lIns="0" tIns="0" rIns="0" bIns="0" rtlCol="0" anchor="t"/>
          <a:lstStyle/>
          <a:p>
            <a:pPr marL="0" indent="0" algn="l">
              <a:lnSpc>
                <a:spcPct val="100000"/>
              </a:lnSpc>
              <a:buNone/>
            </a:pPr>
            <a:r>
              <a:rPr lang="en-US" sz="800" b="1" dirty="0">
                <a:solidFill>
                  <a:srgbClr val="000000"/>
                </a:solidFill>
                <a:latin typeface="Source Sans 3 Bold" pitchFamily="34" charset="0"/>
                <a:ea typeface="Source Sans 3 Bold" pitchFamily="34" charset="-122"/>
                <a:cs typeface="Source Sans 3 Bold" pitchFamily="34" charset="-120"/>
              </a:rPr>
              <a:t>Our project does not claim novelty from the simple act of comparing models.</a:t>
            </a:r>
            <a:endParaRPr lang="en-US" sz="800" dirty="0"/>
          </a:p>
        </p:txBody>
      </p:sp>
      <p:sp>
        <p:nvSpPr>
          <p:cNvPr id="9" name="Text 6"/>
          <p:cNvSpPr/>
          <p:nvPr/>
        </p:nvSpPr>
        <p:spPr>
          <a:xfrm>
            <a:off x="528338" y="2932773"/>
            <a:ext cx="3957191" cy="179487"/>
          </a:xfrm>
          <a:prstGeom prst="rect">
            <a:avLst/>
          </a:prstGeom>
          <a:noFill/>
          <a:ln/>
        </p:spPr>
        <p:txBody>
          <a:bodyPr wrap="square" lIns="0" tIns="0" rIns="0" bIns="0" rtlCol="0" anchor="t">
            <a:noAutofit/>
          </a:bodyPr>
          <a:lstStyle/>
          <a:p>
            <a:pPr marL="0" indent="0" algn="l">
              <a:lnSpc>
                <a:spcPct val="100000"/>
              </a:lnSpc>
              <a:buNone/>
            </a:pPr>
            <a:r>
              <a:rPr lang="en-US" sz="1000" dirty="0">
                <a:solidFill>
                  <a:srgbClr val="432338"/>
                </a:solidFill>
                <a:latin typeface="Source Sans 3" pitchFamily="34" charset="0"/>
                <a:ea typeface="Source Sans 3" pitchFamily="34" charset="-122"/>
                <a:cs typeface="Source Sans 3" pitchFamily="34" charset="-120"/>
              </a:rPr>
              <a:t>Forecasting performance depends on time-series characteristics, dataset selection, evaluation protocol, model set, and forecasting setting. Demand series differ substantially in trend, seasonality, intermittency, and variability.</a:t>
            </a:r>
            <a:endParaRPr lang="en-US" sz="1000" dirty="0"/>
          </a:p>
        </p:txBody>
      </p:sp>
      <p:pic>
        <p:nvPicPr>
          <p:cNvPr id="10" name="Image 1" descr="preencoded.png"/>
          <p:cNvPicPr>
            <a:picLocks noChangeAspect="1"/>
          </p:cNvPicPr>
          <p:nvPr/>
        </p:nvPicPr>
        <p:blipFill>
          <a:blip r:embed="rId3"/>
          <a:stretch>
            <a:fillRect/>
          </a:stretch>
        </p:blipFill>
        <p:spPr>
          <a:xfrm>
            <a:off x="4667994" y="857994"/>
            <a:ext cx="3957191" cy="3957191"/>
          </a:xfrm>
          <a:prstGeom prst="rect">
            <a:avLst/>
          </a:prstGeom>
        </p:spPr>
      </p:pic>
      <p:sp>
        <p:nvSpPr>
          <p:cNvPr id="11" name="Text 7"/>
          <p:cNvSpPr/>
          <p:nvPr/>
        </p:nvSpPr>
        <p:spPr>
          <a:xfrm>
            <a:off x="635719" y="4732065"/>
            <a:ext cx="7984703" cy="388739"/>
          </a:xfrm>
          <a:prstGeom prst="rect">
            <a:avLst/>
          </a:prstGeom>
          <a:noFill/>
          <a:ln/>
        </p:spPr>
        <p:txBody>
          <a:bodyPr wrap="square" lIns="0" tIns="0" rIns="0" bIns="0" rtlCol="0" anchor="t">
            <a:normAutofit/>
          </a:bodyPr>
          <a:lstStyle/>
          <a:p>
            <a:pPr marL="0" indent="0" algn="l">
              <a:lnSpc>
                <a:spcPct val="100000"/>
              </a:lnSpc>
              <a:buNone/>
            </a:pPr>
            <a:r>
              <a:rPr lang="en-US" sz="1000" dirty="0">
                <a:solidFill>
                  <a:srgbClr val="432338"/>
                </a:solidFill>
                <a:latin typeface="Source Sans 3" pitchFamily="34" charset="0"/>
                <a:ea typeface="Source Sans 3" pitchFamily="34" charset="-122"/>
                <a:cs typeface="Source Sans 3" pitchFamily="34" charset="-120"/>
              </a:rPr>
              <a:t>"There is a need for a focused, transparent and reproducible demand-oriented evaluation that goes beyond a simple overall accuracy ranking and investigates how the relative suitability of established forecasting models changes across different demand characteristics."</a:t>
            </a:r>
            <a:endParaRPr lang="en-US" sz="1000" dirty="0"/>
          </a:p>
        </p:txBody>
      </p:sp>
      <p:sp>
        <p:nvSpPr>
          <p:cNvPr id="12" name="Shape 8"/>
          <p:cNvSpPr/>
          <p:nvPr/>
        </p:nvSpPr>
        <p:spPr>
          <a:xfrm>
            <a:off x="523577" y="4899273"/>
            <a:ext cx="9525" cy="263575"/>
          </a:xfrm>
          <a:prstGeom prst="roundRect">
            <a:avLst>
              <a:gd name="adj" fmla="val 50000"/>
            </a:avLst>
          </a:prstGeom>
          <a:solidFill>
            <a:srgbClr val="E851B2"/>
          </a:solidFill>
          <a:ln/>
        </p:spPr>
        <p:txBody>
          <a:bodyP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23577" y="464641"/>
            <a:ext cx="597991" cy="166836"/>
          </a:xfrm>
          <a:prstGeom prst="roundRect">
            <a:avLst>
              <a:gd name="adj" fmla="val 22128"/>
            </a:avLst>
          </a:prstGeom>
          <a:solidFill>
            <a:srgbClr val="F9D2EB"/>
          </a:solidFill>
          <a:ln/>
        </p:spPr>
        <p:txBody>
          <a:bodyPr/>
          <a:lstStyle/>
          <a:p>
            <a:endParaRPr lang="en-US"/>
          </a:p>
        </p:txBody>
      </p:sp>
      <p:sp>
        <p:nvSpPr>
          <p:cNvPr id="3" name="Text 1"/>
          <p:cNvSpPr/>
          <p:nvPr/>
        </p:nvSpPr>
        <p:spPr>
          <a:xfrm>
            <a:off x="589434" y="497532"/>
            <a:ext cx="923479" cy="101054"/>
          </a:xfrm>
          <a:prstGeom prst="rect">
            <a:avLst/>
          </a:prstGeom>
          <a:noFill/>
          <a:ln/>
        </p:spPr>
        <p:txBody>
          <a:bodyPr wrap="none" lIns="0" tIns="0" rIns="0" bIns="0" rtlCol="0" anchor="t"/>
          <a:lstStyle/>
          <a:p>
            <a:pPr marL="0" indent="0" algn="l">
              <a:lnSpc>
                <a:spcPct val="96000"/>
              </a:lnSpc>
              <a:buNone/>
            </a:pPr>
            <a:r>
              <a:rPr lang="en-US" sz="650" dirty="0">
                <a:solidFill>
                  <a:srgbClr val="432338"/>
                </a:solidFill>
                <a:latin typeface="Source Sans 3" pitchFamily="34" charset="0"/>
                <a:ea typeface="Source Sans 3" pitchFamily="34" charset="-122"/>
                <a:cs typeface="Source Sans 3" pitchFamily="34" charset="-120"/>
              </a:rPr>
              <a:t>INNOVATION</a:t>
            </a:r>
            <a:endParaRPr lang="en-US" sz="650" dirty="0"/>
          </a:p>
        </p:txBody>
      </p:sp>
      <p:sp>
        <p:nvSpPr>
          <p:cNvPr id="4" name="Text 2"/>
          <p:cNvSpPr/>
          <p:nvPr/>
        </p:nvSpPr>
        <p:spPr>
          <a:xfrm>
            <a:off x="523577" y="663699"/>
            <a:ext cx="8096845" cy="323106"/>
          </a:xfrm>
          <a:prstGeom prst="rect">
            <a:avLst/>
          </a:prstGeom>
          <a:noFill/>
          <a:ln/>
        </p:spPr>
        <p:txBody>
          <a:bodyPr wrap="none" lIns="0" tIns="0" rIns="0" bIns="0" rtlCol="0" anchor="t"/>
          <a:lstStyle/>
          <a:p>
            <a:pPr marL="0" indent="0" algn="l">
              <a:lnSpc>
                <a:spcPct val="104000"/>
              </a:lnSpc>
              <a:buNone/>
            </a:pPr>
            <a:r>
              <a:rPr lang="en-US" sz="2000" dirty="0">
                <a:solidFill>
                  <a:srgbClr val="371A2D"/>
                </a:solidFill>
                <a:latin typeface="Noto Serif SemiBold" pitchFamily="34" charset="0"/>
                <a:ea typeface="Noto Serif SemiBold" pitchFamily="34" charset="-122"/>
                <a:cs typeface="Noto Serif SemiBold" pitchFamily="34" charset="-120"/>
              </a:rPr>
              <a:t>Proposed Contribution</a:t>
            </a:r>
            <a:endParaRPr lang="en-US" sz="2000" dirty="0"/>
          </a:p>
        </p:txBody>
      </p:sp>
      <p:sp>
        <p:nvSpPr>
          <p:cNvPr id="5" name="Text 3"/>
          <p:cNvSpPr/>
          <p:nvPr/>
        </p:nvSpPr>
        <p:spPr>
          <a:xfrm>
            <a:off x="523577" y="1107802"/>
            <a:ext cx="8554045" cy="152326"/>
          </a:xfrm>
          <a:prstGeom prst="rect">
            <a:avLst/>
          </a:prstGeom>
          <a:noFill/>
          <a:ln/>
        </p:spPr>
        <p:txBody>
          <a:bodyPr wrap="none" lIns="0" tIns="0" rIns="0" bIns="0" rtlCol="0" anchor="t"/>
          <a:lstStyle/>
          <a:p>
            <a:pPr marL="0" indent="0" algn="l">
              <a:lnSpc>
                <a:spcPct val="116000"/>
              </a:lnSpc>
              <a:buNone/>
            </a:pPr>
            <a:r>
              <a:rPr lang="en-US" sz="850" dirty="0">
                <a:solidFill>
                  <a:srgbClr val="432338"/>
                </a:solidFill>
                <a:latin typeface="Source Sans 3" pitchFamily="34" charset="0"/>
                <a:ea typeface="Source Sans 3" pitchFamily="34" charset="-122"/>
                <a:cs typeface="Source Sans 3" pitchFamily="34" charset="-120"/>
              </a:rPr>
              <a:t>The proposed innovation is </a:t>
            </a:r>
            <a:r>
              <a:rPr lang="en-US" sz="850" b="1" dirty="0">
                <a:solidFill>
                  <a:srgbClr val="432338"/>
                </a:solidFill>
                <a:latin typeface="Source Sans 3 Bold" pitchFamily="34" charset="0"/>
                <a:ea typeface="Source Sans 3 Bold" pitchFamily="34" charset="-122"/>
                <a:cs typeface="Source Sans 3 Bold" pitchFamily="34" charset="-120"/>
              </a:rPr>
              <a:t>empirical and methodological</a:t>
            </a:r>
            <a:r>
              <a:rPr lang="en-US" sz="850" dirty="0">
                <a:solidFill>
                  <a:srgbClr val="432338"/>
                </a:solidFill>
                <a:latin typeface="Source Sans 3" pitchFamily="34" charset="0"/>
                <a:ea typeface="Source Sans 3" pitchFamily="34" charset="-122"/>
                <a:cs typeface="Source Sans 3" pitchFamily="34" charset="-120"/>
              </a:rPr>
              <a:t> — not the invention of a new forecasting algorithm.</a:t>
            </a:r>
            <a:endParaRPr lang="en-US" sz="850" dirty="0"/>
          </a:p>
        </p:txBody>
      </p:sp>
      <p:sp>
        <p:nvSpPr>
          <p:cNvPr id="6" name="Shape 4"/>
          <p:cNvSpPr/>
          <p:nvPr/>
        </p:nvSpPr>
        <p:spPr>
          <a:xfrm>
            <a:off x="523577" y="1350838"/>
            <a:ext cx="2645122" cy="1163241"/>
          </a:xfrm>
          <a:prstGeom prst="roundRect">
            <a:avLst>
              <a:gd name="adj" fmla="val 3967"/>
            </a:avLst>
          </a:prstGeom>
          <a:solidFill>
            <a:srgbClr val="F9D2EB"/>
          </a:solidFill>
          <a:ln w="4763">
            <a:solidFill>
              <a:srgbClr val="DFB8D1"/>
            </a:solidFill>
            <a:prstDash val="solid"/>
          </a:ln>
        </p:spPr>
        <p:txBody>
          <a:bodyPr/>
          <a:lstStyle/>
          <a:p>
            <a:endParaRPr lang="en-US"/>
          </a:p>
        </p:txBody>
      </p:sp>
      <p:sp>
        <p:nvSpPr>
          <p:cNvPr id="7" name="Shape 5"/>
          <p:cNvSpPr/>
          <p:nvPr/>
        </p:nvSpPr>
        <p:spPr>
          <a:xfrm>
            <a:off x="638175" y="1465436"/>
            <a:ext cx="329580" cy="329580"/>
          </a:xfrm>
          <a:prstGeom prst="ellipse">
            <a:avLst/>
          </a:prstGeom>
          <a:solidFill>
            <a:srgbClr val="E851B2"/>
          </a:solidFill>
          <a:ln/>
        </p:spPr>
        <p:txBody>
          <a:bodyPr/>
          <a:lstStyle/>
          <a:p>
            <a:endParaRPr lang="en-US"/>
          </a:p>
        </p:txBody>
      </p:sp>
      <p:pic>
        <p:nvPicPr>
          <p:cNvPr id="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28811" y="1556072"/>
            <a:ext cx="148307" cy="148307"/>
          </a:xfrm>
          <a:prstGeom prst="rect">
            <a:avLst/>
          </a:prstGeom>
        </p:spPr>
      </p:pic>
      <p:sp>
        <p:nvSpPr>
          <p:cNvPr id="9" name="Text 6"/>
          <p:cNvSpPr/>
          <p:nvPr/>
        </p:nvSpPr>
        <p:spPr>
          <a:xfrm>
            <a:off x="638175" y="1875681"/>
            <a:ext cx="2415927" cy="323106"/>
          </a:xfrm>
          <a:prstGeom prst="rect">
            <a:avLst/>
          </a:prstGeom>
          <a:noFill/>
          <a:ln/>
        </p:spPr>
        <p:txBody>
          <a:bodyPr wrap="square" lIns="0" tIns="0" rIns="0" bIns="0" rtlCol="0" anchor="t">
            <a:normAutofit/>
          </a:bodyPr>
          <a:lstStyle/>
          <a:p>
            <a:pPr marL="0" indent="0" algn="l">
              <a:lnSpc>
                <a:spcPct val="104000"/>
              </a:lnSpc>
              <a:buNone/>
            </a:pPr>
            <a:r>
              <a:rPr lang="en-US" sz="1000" dirty="0">
                <a:solidFill>
                  <a:srgbClr val="432338"/>
                </a:solidFill>
                <a:latin typeface="Noto Serif SemiBold" pitchFamily="34" charset="0"/>
                <a:ea typeface="Noto Serif SemiBold" pitchFamily="34" charset="-122"/>
                <a:cs typeface="Noto Serif SemiBold" pitchFamily="34" charset="-120"/>
              </a:rPr>
              <a:t>Demand-Characteristic-Aware Comparison</a:t>
            </a:r>
            <a:endParaRPr lang="en-US" sz="1000" dirty="0"/>
          </a:p>
        </p:txBody>
      </p:sp>
      <p:sp>
        <p:nvSpPr>
          <p:cNvPr id="10" name="Text 7"/>
          <p:cNvSpPr/>
          <p:nvPr/>
        </p:nvSpPr>
        <p:spPr>
          <a:xfrm>
            <a:off x="638175" y="2247156"/>
            <a:ext cx="2415927" cy="152326"/>
          </a:xfrm>
          <a:prstGeom prst="rect">
            <a:avLst/>
          </a:prstGeom>
          <a:noFill/>
          <a:ln/>
        </p:spPr>
        <p:txBody>
          <a:bodyPr wrap="none" lIns="0" tIns="0" rIns="0" bIns="0" rtlCol="0" anchor="t"/>
          <a:lstStyle/>
          <a:p>
            <a:pPr marL="0" indent="0" algn="l">
              <a:lnSpc>
                <a:spcPct val="116000"/>
              </a:lnSpc>
              <a:buNone/>
            </a:pPr>
            <a:r>
              <a:rPr lang="en-US" sz="850" dirty="0">
                <a:solidFill>
                  <a:srgbClr val="432338"/>
                </a:solidFill>
                <a:latin typeface="Source Sans 3" pitchFamily="34" charset="0"/>
                <a:ea typeface="Source Sans 3" pitchFamily="34" charset="-122"/>
                <a:cs typeface="Source Sans 3" pitchFamily="34" charset="-120"/>
              </a:rPr>
              <a:t>Characterize series before interpreting performance</a:t>
            </a:r>
            <a:endParaRPr lang="en-US" sz="850" dirty="0"/>
          </a:p>
        </p:txBody>
      </p:sp>
      <p:sp>
        <p:nvSpPr>
          <p:cNvPr id="11" name="Shape 8"/>
          <p:cNvSpPr/>
          <p:nvPr/>
        </p:nvSpPr>
        <p:spPr>
          <a:xfrm>
            <a:off x="3249364" y="1350838"/>
            <a:ext cx="2645197" cy="1163241"/>
          </a:xfrm>
          <a:prstGeom prst="roundRect">
            <a:avLst>
              <a:gd name="adj" fmla="val 3967"/>
            </a:avLst>
          </a:prstGeom>
          <a:solidFill>
            <a:srgbClr val="F9D2EB"/>
          </a:solidFill>
          <a:ln w="4763">
            <a:solidFill>
              <a:srgbClr val="DFB8D1"/>
            </a:solidFill>
            <a:prstDash val="solid"/>
          </a:ln>
        </p:spPr>
        <p:txBody>
          <a:bodyPr/>
          <a:lstStyle/>
          <a:p>
            <a:endParaRPr lang="en-US"/>
          </a:p>
        </p:txBody>
      </p:sp>
      <p:sp>
        <p:nvSpPr>
          <p:cNvPr id="12" name="Shape 9"/>
          <p:cNvSpPr/>
          <p:nvPr/>
        </p:nvSpPr>
        <p:spPr>
          <a:xfrm>
            <a:off x="3363962" y="1465436"/>
            <a:ext cx="329580" cy="329580"/>
          </a:xfrm>
          <a:prstGeom prst="ellipse">
            <a:avLst/>
          </a:prstGeom>
          <a:solidFill>
            <a:srgbClr val="E851B2"/>
          </a:solidFill>
          <a:ln/>
        </p:spPr>
        <p:txBody>
          <a:bodyPr/>
          <a:lstStyle/>
          <a:p>
            <a:endParaRPr lang="en-US"/>
          </a:p>
        </p:txBody>
      </p:sp>
      <p:pic>
        <p:nvPicPr>
          <p:cNvPr id="13"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54598" y="1556072"/>
            <a:ext cx="148307" cy="148307"/>
          </a:xfrm>
          <a:prstGeom prst="rect">
            <a:avLst/>
          </a:prstGeom>
        </p:spPr>
      </p:pic>
      <p:sp>
        <p:nvSpPr>
          <p:cNvPr id="14" name="Text 10"/>
          <p:cNvSpPr/>
          <p:nvPr/>
        </p:nvSpPr>
        <p:spPr>
          <a:xfrm>
            <a:off x="3363962" y="1875681"/>
            <a:ext cx="2416001" cy="161553"/>
          </a:xfrm>
          <a:prstGeom prst="rect">
            <a:avLst/>
          </a:prstGeom>
          <a:noFill/>
          <a:ln/>
        </p:spPr>
        <p:txBody>
          <a:bodyPr wrap="none" lIns="0" tIns="0" rIns="0" bIns="0" rtlCol="0" anchor="t"/>
          <a:lstStyle/>
          <a:p>
            <a:pPr marL="0" indent="0" algn="l">
              <a:lnSpc>
                <a:spcPct val="104000"/>
              </a:lnSpc>
              <a:buNone/>
            </a:pPr>
            <a:r>
              <a:rPr lang="en-US" sz="1000" dirty="0">
                <a:solidFill>
                  <a:srgbClr val="432338"/>
                </a:solidFill>
                <a:latin typeface="Noto Serif SemiBold" pitchFamily="34" charset="0"/>
                <a:ea typeface="Noto Serif SemiBold" pitchFamily="34" charset="-122"/>
                <a:cs typeface="Noto Serif SemiBold" pitchFamily="34" charset="-120"/>
              </a:rPr>
              <a:t>Benchmark-Oriented Evaluation</a:t>
            </a:r>
            <a:endParaRPr lang="en-US" sz="1000" dirty="0"/>
          </a:p>
        </p:txBody>
      </p:sp>
      <p:sp>
        <p:nvSpPr>
          <p:cNvPr id="15" name="Text 11"/>
          <p:cNvSpPr/>
          <p:nvPr/>
        </p:nvSpPr>
        <p:spPr>
          <a:xfrm>
            <a:off x="3363962" y="2085603"/>
            <a:ext cx="2416001" cy="152326"/>
          </a:xfrm>
          <a:prstGeom prst="rect">
            <a:avLst/>
          </a:prstGeom>
          <a:noFill/>
          <a:ln/>
        </p:spPr>
        <p:txBody>
          <a:bodyPr wrap="none" lIns="0" tIns="0" rIns="0" bIns="0" rtlCol="0" anchor="t"/>
          <a:lstStyle/>
          <a:p>
            <a:pPr marL="0" indent="0" algn="l">
              <a:lnSpc>
                <a:spcPct val="116000"/>
              </a:lnSpc>
              <a:buNone/>
            </a:pPr>
            <a:r>
              <a:rPr lang="en-US" sz="850" dirty="0">
                <a:solidFill>
                  <a:srgbClr val="432338"/>
                </a:solidFill>
                <a:latin typeface="Source Sans 3" pitchFamily="34" charset="0"/>
                <a:ea typeface="Source Sans 3" pitchFamily="34" charset="-122"/>
                <a:cs typeface="Source Sans 3" pitchFamily="34" charset="-120"/>
              </a:rPr>
              <a:t>Use established benchmark datasets</a:t>
            </a:r>
            <a:endParaRPr lang="en-US" sz="850" dirty="0"/>
          </a:p>
        </p:txBody>
      </p:sp>
      <p:sp>
        <p:nvSpPr>
          <p:cNvPr id="16" name="Shape 12"/>
          <p:cNvSpPr/>
          <p:nvPr/>
        </p:nvSpPr>
        <p:spPr>
          <a:xfrm>
            <a:off x="5975226" y="1350838"/>
            <a:ext cx="2645197" cy="1163241"/>
          </a:xfrm>
          <a:prstGeom prst="roundRect">
            <a:avLst>
              <a:gd name="adj" fmla="val 3967"/>
            </a:avLst>
          </a:prstGeom>
          <a:solidFill>
            <a:srgbClr val="F9D2EB"/>
          </a:solidFill>
          <a:ln w="4763">
            <a:solidFill>
              <a:srgbClr val="DFB8D1"/>
            </a:solidFill>
            <a:prstDash val="solid"/>
          </a:ln>
        </p:spPr>
        <p:txBody>
          <a:bodyPr/>
          <a:lstStyle/>
          <a:p>
            <a:endParaRPr lang="en-US"/>
          </a:p>
        </p:txBody>
      </p:sp>
      <p:sp>
        <p:nvSpPr>
          <p:cNvPr id="17" name="Shape 13"/>
          <p:cNvSpPr/>
          <p:nvPr/>
        </p:nvSpPr>
        <p:spPr>
          <a:xfrm>
            <a:off x="6089824" y="1465436"/>
            <a:ext cx="329580" cy="329580"/>
          </a:xfrm>
          <a:prstGeom prst="ellipse">
            <a:avLst/>
          </a:prstGeom>
          <a:solidFill>
            <a:srgbClr val="E851B2"/>
          </a:solidFill>
          <a:ln/>
        </p:spPr>
        <p:txBody>
          <a:bodyPr/>
          <a:lstStyle/>
          <a:p>
            <a:endParaRPr lang="en-US"/>
          </a:p>
        </p:txBody>
      </p:sp>
      <p:pic>
        <p:nvPicPr>
          <p:cNvPr id="1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180460" y="1556072"/>
            <a:ext cx="148307" cy="148307"/>
          </a:xfrm>
          <a:prstGeom prst="rect">
            <a:avLst/>
          </a:prstGeom>
        </p:spPr>
      </p:pic>
      <p:sp>
        <p:nvSpPr>
          <p:cNvPr id="19" name="Text 14"/>
          <p:cNvSpPr/>
          <p:nvPr/>
        </p:nvSpPr>
        <p:spPr>
          <a:xfrm>
            <a:off x="6089824" y="1875681"/>
            <a:ext cx="2416001" cy="161553"/>
          </a:xfrm>
          <a:prstGeom prst="rect">
            <a:avLst/>
          </a:prstGeom>
          <a:noFill/>
          <a:ln/>
        </p:spPr>
        <p:txBody>
          <a:bodyPr wrap="none" lIns="0" tIns="0" rIns="0" bIns="0" rtlCol="0" anchor="t"/>
          <a:lstStyle/>
          <a:p>
            <a:pPr marL="0" indent="0" algn="l">
              <a:lnSpc>
                <a:spcPct val="104000"/>
              </a:lnSpc>
              <a:buNone/>
            </a:pPr>
            <a:r>
              <a:rPr lang="en-US" sz="1000" dirty="0">
                <a:solidFill>
                  <a:srgbClr val="432338"/>
                </a:solidFill>
                <a:latin typeface="Noto Serif SemiBold" pitchFamily="34" charset="0"/>
                <a:ea typeface="Noto Serif SemiBold" pitchFamily="34" charset="-122"/>
                <a:cs typeface="Noto Serif SemiBold" pitchFamily="34" charset="-120"/>
              </a:rPr>
              <a:t>Common Evaluation Protocol</a:t>
            </a:r>
            <a:endParaRPr lang="en-US" sz="1000" dirty="0"/>
          </a:p>
        </p:txBody>
      </p:sp>
      <p:sp>
        <p:nvSpPr>
          <p:cNvPr id="20" name="Text 15"/>
          <p:cNvSpPr/>
          <p:nvPr/>
        </p:nvSpPr>
        <p:spPr>
          <a:xfrm>
            <a:off x="6089824" y="2085603"/>
            <a:ext cx="2416001" cy="152326"/>
          </a:xfrm>
          <a:prstGeom prst="rect">
            <a:avLst/>
          </a:prstGeom>
          <a:noFill/>
          <a:ln/>
        </p:spPr>
        <p:txBody>
          <a:bodyPr wrap="none" lIns="0" tIns="0" rIns="0" bIns="0" rtlCol="0" anchor="t"/>
          <a:lstStyle/>
          <a:p>
            <a:pPr marL="0" indent="0" algn="l">
              <a:lnSpc>
                <a:spcPct val="116000"/>
              </a:lnSpc>
              <a:buNone/>
            </a:pPr>
            <a:r>
              <a:rPr lang="en-US" sz="850" dirty="0">
                <a:solidFill>
                  <a:srgbClr val="432338"/>
                </a:solidFill>
                <a:latin typeface="Source Sans 3" pitchFamily="34" charset="0"/>
                <a:ea typeface="Source Sans 3" pitchFamily="34" charset="-122"/>
                <a:cs typeface="Source Sans 3" pitchFamily="34" charset="-120"/>
              </a:rPr>
              <a:t>Consistent chronological train/val/test</a:t>
            </a:r>
            <a:endParaRPr lang="en-US" sz="850" dirty="0"/>
          </a:p>
        </p:txBody>
      </p:sp>
      <p:sp>
        <p:nvSpPr>
          <p:cNvPr id="21" name="Shape 16"/>
          <p:cNvSpPr/>
          <p:nvPr/>
        </p:nvSpPr>
        <p:spPr>
          <a:xfrm>
            <a:off x="523577" y="2594744"/>
            <a:ext cx="2645122" cy="1001688"/>
          </a:xfrm>
          <a:prstGeom prst="roundRect">
            <a:avLst>
              <a:gd name="adj" fmla="val 4607"/>
            </a:avLst>
          </a:prstGeom>
          <a:solidFill>
            <a:srgbClr val="F9D2EB"/>
          </a:solidFill>
          <a:ln w="4763">
            <a:solidFill>
              <a:srgbClr val="DFB8D1"/>
            </a:solidFill>
            <a:prstDash val="solid"/>
          </a:ln>
        </p:spPr>
        <p:txBody>
          <a:bodyPr/>
          <a:lstStyle/>
          <a:p>
            <a:endParaRPr lang="en-US"/>
          </a:p>
        </p:txBody>
      </p:sp>
      <p:sp>
        <p:nvSpPr>
          <p:cNvPr id="22" name="Shape 17"/>
          <p:cNvSpPr/>
          <p:nvPr/>
        </p:nvSpPr>
        <p:spPr>
          <a:xfrm>
            <a:off x="638175" y="2709342"/>
            <a:ext cx="329580" cy="329580"/>
          </a:xfrm>
          <a:prstGeom prst="ellipse">
            <a:avLst/>
          </a:prstGeom>
          <a:solidFill>
            <a:srgbClr val="E851B2"/>
          </a:solidFill>
          <a:ln/>
        </p:spPr>
        <p:txBody>
          <a:bodyPr/>
          <a:lstStyle/>
          <a:p>
            <a:endParaRPr lang="en-US"/>
          </a:p>
        </p:txBody>
      </p:sp>
      <p:pic>
        <p:nvPicPr>
          <p:cNvPr id="23"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28811" y="2799978"/>
            <a:ext cx="148307" cy="148307"/>
          </a:xfrm>
          <a:prstGeom prst="rect">
            <a:avLst/>
          </a:prstGeom>
        </p:spPr>
      </p:pic>
      <p:sp>
        <p:nvSpPr>
          <p:cNvPr id="24" name="Text 18"/>
          <p:cNvSpPr/>
          <p:nvPr/>
        </p:nvSpPr>
        <p:spPr>
          <a:xfrm>
            <a:off x="638175" y="3119586"/>
            <a:ext cx="2415927" cy="161553"/>
          </a:xfrm>
          <a:prstGeom prst="rect">
            <a:avLst/>
          </a:prstGeom>
          <a:noFill/>
          <a:ln/>
        </p:spPr>
        <p:txBody>
          <a:bodyPr wrap="none" lIns="0" tIns="0" rIns="0" bIns="0" rtlCol="0" anchor="t"/>
          <a:lstStyle/>
          <a:p>
            <a:pPr marL="0" indent="0" algn="l">
              <a:lnSpc>
                <a:spcPct val="104000"/>
              </a:lnSpc>
              <a:buNone/>
            </a:pPr>
            <a:r>
              <a:rPr lang="en-US" sz="1000" dirty="0">
                <a:solidFill>
                  <a:srgbClr val="432338"/>
                </a:solidFill>
                <a:latin typeface="Noto Serif SemiBold" pitchFamily="34" charset="0"/>
                <a:ea typeface="Noto Serif SemiBold" pitchFamily="34" charset="-122"/>
                <a:cs typeface="Noto Serif SemiBold" pitchFamily="34" charset="-120"/>
              </a:rPr>
              <a:t>Baseline-First Comparison</a:t>
            </a:r>
            <a:endParaRPr lang="en-US" sz="1000" dirty="0"/>
          </a:p>
        </p:txBody>
      </p:sp>
      <p:sp>
        <p:nvSpPr>
          <p:cNvPr id="25" name="Text 19"/>
          <p:cNvSpPr/>
          <p:nvPr/>
        </p:nvSpPr>
        <p:spPr>
          <a:xfrm>
            <a:off x="638175" y="3329508"/>
            <a:ext cx="2415927" cy="152326"/>
          </a:xfrm>
          <a:prstGeom prst="rect">
            <a:avLst/>
          </a:prstGeom>
          <a:noFill/>
          <a:ln/>
        </p:spPr>
        <p:txBody>
          <a:bodyPr wrap="none" lIns="0" tIns="0" rIns="0" bIns="0" rtlCol="0" anchor="t"/>
          <a:lstStyle/>
          <a:p>
            <a:pPr marL="0" indent="0" algn="l">
              <a:lnSpc>
                <a:spcPct val="116000"/>
              </a:lnSpc>
              <a:buNone/>
            </a:pPr>
            <a:r>
              <a:rPr lang="en-US" sz="850" dirty="0">
                <a:solidFill>
                  <a:srgbClr val="432338"/>
                </a:solidFill>
                <a:latin typeface="Source Sans 3" pitchFamily="34" charset="0"/>
                <a:ea typeface="Source Sans 3" pitchFamily="34" charset="-122"/>
                <a:cs typeface="Source Sans 3" pitchFamily="34" charset="-120"/>
              </a:rPr>
              <a:t>Include simple baselines as references</a:t>
            </a:r>
            <a:endParaRPr lang="en-US" sz="850" dirty="0"/>
          </a:p>
        </p:txBody>
      </p:sp>
      <p:sp>
        <p:nvSpPr>
          <p:cNvPr id="26" name="Shape 20"/>
          <p:cNvSpPr/>
          <p:nvPr/>
        </p:nvSpPr>
        <p:spPr>
          <a:xfrm>
            <a:off x="3249364" y="2594744"/>
            <a:ext cx="2645197" cy="1001688"/>
          </a:xfrm>
          <a:prstGeom prst="roundRect">
            <a:avLst>
              <a:gd name="adj" fmla="val 4607"/>
            </a:avLst>
          </a:prstGeom>
          <a:solidFill>
            <a:srgbClr val="F9D2EB"/>
          </a:solidFill>
          <a:ln w="4763">
            <a:solidFill>
              <a:srgbClr val="DFB8D1"/>
            </a:solidFill>
            <a:prstDash val="solid"/>
          </a:ln>
        </p:spPr>
        <p:txBody>
          <a:bodyPr/>
          <a:lstStyle/>
          <a:p>
            <a:endParaRPr lang="en-US"/>
          </a:p>
        </p:txBody>
      </p:sp>
      <p:sp>
        <p:nvSpPr>
          <p:cNvPr id="27" name="Shape 21"/>
          <p:cNvSpPr/>
          <p:nvPr/>
        </p:nvSpPr>
        <p:spPr>
          <a:xfrm>
            <a:off x="3363962" y="2709342"/>
            <a:ext cx="329580" cy="329580"/>
          </a:xfrm>
          <a:prstGeom prst="ellipse">
            <a:avLst/>
          </a:prstGeom>
          <a:solidFill>
            <a:srgbClr val="E851B2"/>
          </a:solidFill>
          <a:ln/>
        </p:spPr>
        <p:txBody>
          <a:bodyPr/>
          <a:lstStyle/>
          <a:p>
            <a:endParaRPr lang="en-US"/>
          </a:p>
        </p:txBody>
      </p:sp>
      <p:pic>
        <p:nvPicPr>
          <p:cNvPr id="28"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454598" y="2799978"/>
            <a:ext cx="148307" cy="148307"/>
          </a:xfrm>
          <a:prstGeom prst="rect">
            <a:avLst/>
          </a:prstGeom>
        </p:spPr>
      </p:pic>
      <p:sp>
        <p:nvSpPr>
          <p:cNvPr id="29" name="Text 22"/>
          <p:cNvSpPr/>
          <p:nvPr/>
        </p:nvSpPr>
        <p:spPr>
          <a:xfrm>
            <a:off x="3363962" y="3119586"/>
            <a:ext cx="2416001" cy="161553"/>
          </a:xfrm>
          <a:prstGeom prst="rect">
            <a:avLst/>
          </a:prstGeom>
          <a:noFill/>
          <a:ln/>
        </p:spPr>
        <p:txBody>
          <a:bodyPr wrap="none" lIns="0" tIns="0" rIns="0" bIns="0" rtlCol="0" anchor="t"/>
          <a:lstStyle/>
          <a:p>
            <a:pPr marL="0" indent="0" algn="l">
              <a:lnSpc>
                <a:spcPct val="104000"/>
              </a:lnSpc>
              <a:buNone/>
            </a:pPr>
            <a:r>
              <a:rPr lang="en-US" sz="1000" dirty="0">
                <a:solidFill>
                  <a:srgbClr val="432338"/>
                </a:solidFill>
                <a:latin typeface="Noto Serif SemiBold" pitchFamily="34" charset="0"/>
                <a:ea typeface="Noto Serif SemiBold" pitchFamily="34" charset="-122"/>
                <a:cs typeface="Noto Serif SemiBold" pitchFamily="34" charset="-120"/>
              </a:rPr>
              <a:t>Multi-Metric Evaluation</a:t>
            </a:r>
            <a:endParaRPr lang="en-US" sz="1000" dirty="0"/>
          </a:p>
        </p:txBody>
      </p:sp>
      <p:sp>
        <p:nvSpPr>
          <p:cNvPr id="30" name="Text 23"/>
          <p:cNvSpPr/>
          <p:nvPr/>
        </p:nvSpPr>
        <p:spPr>
          <a:xfrm>
            <a:off x="3363962" y="3329508"/>
            <a:ext cx="2416001" cy="152326"/>
          </a:xfrm>
          <a:prstGeom prst="rect">
            <a:avLst/>
          </a:prstGeom>
          <a:noFill/>
          <a:ln/>
        </p:spPr>
        <p:txBody>
          <a:bodyPr wrap="none" lIns="0" tIns="0" rIns="0" bIns="0" rtlCol="0" anchor="t"/>
          <a:lstStyle/>
          <a:p>
            <a:pPr marL="0" indent="0" algn="l">
              <a:lnSpc>
                <a:spcPct val="116000"/>
              </a:lnSpc>
              <a:buNone/>
            </a:pPr>
            <a:r>
              <a:rPr lang="en-US" sz="850" dirty="0">
                <a:solidFill>
                  <a:srgbClr val="432338"/>
                </a:solidFill>
                <a:latin typeface="Source Sans 3" pitchFamily="34" charset="0"/>
                <a:ea typeface="Source Sans 3" pitchFamily="34" charset="-122"/>
                <a:cs typeface="Source Sans 3" pitchFamily="34" charset="-120"/>
              </a:rPr>
              <a:t>Multiple error measures, not one metric</a:t>
            </a:r>
            <a:endParaRPr lang="en-US" sz="850" dirty="0"/>
          </a:p>
        </p:txBody>
      </p:sp>
      <p:sp>
        <p:nvSpPr>
          <p:cNvPr id="31" name="Shape 24"/>
          <p:cNvSpPr/>
          <p:nvPr/>
        </p:nvSpPr>
        <p:spPr>
          <a:xfrm>
            <a:off x="5975226" y="2594744"/>
            <a:ext cx="2645197" cy="1001688"/>
          </a:xfrm>
          <a:prstGeom prst="roundRect">
            <a:avLst>
              <a:gd name="adj" fmla="val 4607"/>
            </a:avLst>
          </a:prstGeom>
          <a:solidFill>
            <a:srgbClr val="F9D2EB"/>
          </a:solidFill>
          <a:ln w="4763">
            <a:solidFill>
              <a:srgbClr val="DFB8D1"/>
            </a:solidFill>
            <a:prstDash val="solid"/>
          </a:ln>
        </p:spPr>
        <p:txBody>
          <a:bodyPr/>
          <a:lstStyle/>
          <a:p>
            <a:endParaRPr lang="en-US"/>
          </a:p>
        </p:txBody>
      </p:sp>
      <p:sp>
        <p:nvSpPr>
          <p:cNvPr id="32" name="Shape 25"/>
          <p:cNvSpPr/>
          <p:nvPr/>
        </p:nvSpPr>
        <p:spPr>
          <a:xfrm>
            <a:off x="6089824" y="2709342"/>
            <a:ext cx="329580" cy="329580"/>
          </a:xfrm>
          <a:prstGeom prst="ellipse">
            <a:avLst/>
          </a:prstGeom>
          <a:solidFill>
            <a:srgbClr val="E851B2"/>
          </a:solidFill>
          <a:ln/>
        </p:spPr>
        <p:txBody>
          <a:bodyPr/>
          <a:lstStyle/>
          <a:p>
            <a:endParaRPr lang="en-US"/>
          </a:p>
        </p:txBody>
      </p:sp>
      <p:pic>
        <p:nvPicPr>
          <p:cNvPr id="33"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180460" y="2799978"/>
            <a:ext cx="148307" cy="148307"/>
          </a:xfrm>
          <a:prstGeom prst="rect">
            <a:avLst/>
          </a:prstGeom>
        </p:spPr>
      </p:pic>
      <p:sp>
        <p:nvSpPr>
          <p:cNvPr id="34" name="Text 26"/>
          <p:cNvSpPr/>
          <p:nvPr/>
        </p:nvSpPr>
        <p:spPr>
          <a:xfrm>
            <a:off x="6089824" y="3119586"/>
            <a:ext cx="2416001" cy="161553"/>
          </a:xfrm>
          <a:prstGeom prst="rect">
            <a:avLst/>
          </a:prstGeom>
          <a:noFill/>
          <a:ln/>
        </p:spPr>
        <p:txBody>
          <a:bodyPr wrap="none" lIns="0" tIns="0" rIns="0" bIns="0" rtlCol="0" anchor="t"/>
          <a:lstStyle/>
          <a:p>
            <a:pPr marL="0" indent="0" algn="l">
              <a:lnSpc>
                <a:spcPct val="104000"/>
              </a:lnSpc>
              <a:buNone/>
            </a:pPr>
            <a:r>
              <a:rPr lang="en-US" sz="1000" dirty="0">
                <a:solidFill>
                  <a:srgbClr val="432338"/>
                </a:solidFill>
                <a:latin typeface="Noto Serif SemiBold" pitchFamily="34" charset="0"/>
                <a:ea typeface="Noto Serif SemiBold" pitchFamily="34" charset="-122"/>
                <a:cs typeface="Noto Serif SemiBold" pitchFamily="34" charset="-120"/>
              </a:rPr>
              <a:t>Model-Suitability Interpretation</a:t>
            </a:r>
            <a:endParaRPr lang="en-US" sz="1000" dirty="0"/>
          </a:p>
        </p:txBody>
      </p:sp>
      <p:sp>
        <p:nvSpPr>
          <p:cNvPr id="35" name="Text 27"/>
          <p:cNvSpPr/>
          <p:nvPr/>
        </p:nvSpPr>
        <p:spPr>
          <a:xfrm>
            <a:off x="6089824" y="3329508"/>
            <a:ext cx="2416001" cy="152326"/>
          </a:xfrm>
          <a:prstGeom prst="rect">
            <a:avLst/>
          </a:prstGeom>
          <a:noFill/>
          <a:ln/>
        </p:spPr>
        <p:txBody>
          <a:bodyPr wrap="none" lIns="0" tIns="0" rIns="0" bIns="0" rtlCol="0" anchor="t"/>
          <a:lstStyle/>
          <a:p>
            <a:pPr marL="0" indent="0" algn="l">
              <a:lnSpc>
                <a:spcPct val="116000"/>
              </a:lnSpc>
              <a:buNone/>
            </a:pPr>
            <a:r>
              <a:rPr lang="en-US" sz="850" dirty="0">
                <a:solidFill>
                  <a:srgbClr val="432338"/>
                </a:solidFill>
                <a:latin typeface="Source Sans 3" pitchFamily="34" charset="0"/>
                <a:ea typeface="Source Sans 3" pitchFamily="34" charset="-122"/>
                <a:cs typeface="Source Sans 3" pitchFamily="34" charset="-120"/>
              </a:rPr>
              <a:t>Analyze results relative to demand characteristics</a:t>
            </a:r>
            <a:endParaRPr lang="en-US" sz="850" dirty="0"/>
          </a:p>
        </p:txBody>
      </p:sp>
      <p:sp>
        <p:nvSpPr>
          <p:cNvPr id="36" name="Shape 28"/>
          <p:cNvSpPr/>
          <p:nvPr/>
        </p:nvSpPr>
        <p:spPr>
          <a:xfrm>
            <a:off x="523577" y="3677096"/>
            <a:ext cx="8096845" cy="1001688"/>
          </a:xfrm>
          <a:prstGeom prst="roundRect">
            <a:avLst>
              <a:gd name="adj" fmla="val 4607"/>
            </a:avLst>
          </a:prstGeom>
          <a:solidFill>
            <a:srgbClr val="F9D2EB"/>
          </a:solidFill>
          <a:ln w="4763">
            <a:solidFill>
              <a:srgbClr val="DFB8D1"/>
            </a:solidFill>
            <a:prstDash val="solid"/>
          </a:ln>
        </p:spPr>
        <p:txBody>
          <a:bodyPr/>
          <a:lstStyle/>
          <a:p>
            <a:endParaRPr lang="en-US"/>
          </a:p>
        </p:txBody>
      </p:sp>
      <p:sp>
        <p:nvSpPr>
          <p:cNvPr id="37" name="Shape 29"/>
          <p:cNvSpPr/>
          <p:nvPr/>
        </p:nvSpPr>
        <p:spPr>
          <a:xfrm>
            <a:off x="638175" y="3791694"/>
            <a:ext cx="329580" cy="329580"/>
          </a:xfrm>
          <a:prstGeom prst="ellipse">
            <a:avLst/>
          </a:prstGeom>
          <a:solidFill>
            <a:srgbClr val="E851B2"/>
          </a:solidFill>
          <a:ln/>
        </p:spPr>
        <p:txBody>
          <a:bodyPr/>
          <a:lstStyle/>
          <a:p>
            <a:endParaRPr lang="en-US"/>
          </a:p>
        </p:txBody>
      </p:sp>
      <p:pic>
        <p:nvPicPr>
          <p:cNvPr id="38"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28811" y="3882330"/>
            <a:ext cx="148307" cy="148307"/>
          </a:xfrm>
          <a:prstGeom prst="rect">
            <a:avLst/>
          </a:prstGeom>
        </p:spPr>
      </p:pic>
      <p:sp>
        <p:nvSpPr>
          <p:cNvPr id="39" name="Text 30"/>
          <p:cNvSpPr/>
          <p:nvPr/>
        </p:nvSpPr>
        <p:spPr>
          <a:xfrm>
            <a:off x="638175" y="4201939"/>
            <a:ext cx="7867650" cy="161553"/>
          </a:xfrm>
          <a:prstGeom prst="rect">
            <a:avLst/>
          </a:prstGeom>
          <a:noFill/>
          <a:ln/>
        </p:spPr>
        <p:txBody>
          <a:bodyPr wrap="none" lIns="0" tIns="0" rIns="0" bIns="0" rtlCol="0" anchor="t"/>
          <a:lstStyle/>
          <a:p>
            <a:pPr marL="0" indent="0" algn="l">
              <a:lnSpc>
                <a:spcPct val="104000"/>
              </a:lnSpc>
              <a:buNone/>
            </a:pPr>
            <a:r>
              <a:rPr lang="en-US" sz="1000" dirty="0">
                <a:solidFill>
                  <a:srgbClr val="432338"/>
                </a:solidFill>
                <a:latin typeface="Noto Serif SemiBold" pitchFamily="34" charset="0"/>
                <a:ea typeface="Noto Serif SemiBold" pitchFamily="34" charset="-122"/>
                <a:cs typeface="Noto Serif SemiBold" pitchFamily="34" charset="-120"/>
              </a:rPr>
              <a:t>Reproducibility</a:t>
            </a:r>
            <a:endParaRPr lang="en-US" sz="1000" dirty="0"/>
          </a:p>
        </p:txBody>
      </p:sp>
      <p:sp>
        <p:nvSpPr>
          <p:cNvPr id="40" name="Text 31"/>
          <p:cNvSpPr/>
          <p:nvPr/>
        </p:nvSpPr>
        <p:spPr>
          <a:xfrm>
            <a:off x="638175" y="4411861"/>
            <a:ext cx="7867650" cy="152326"/>
          </a:xfrm>
          <a:prstGeom prst="rect">
            <a:avLst/>
          </a:prstGeom>
          <a:noFill/>
          <a:ln/>
        </p:spPr>
        <p:txBody>
          <a:bodyPr wrap="none" lIns="0" tIns="0" rIns="0" bIns="0" rtlCol="0" anchor="t"/>
          <a:lstStyle/>
          <a:p>
            <a:pPr marL="0" indent="0" algn="l">
              <a:lnSpc>
                <a:spcPct val="116000"/>
              </a:lnSpc>
              <a:buNone/>
            </a:pPr>
            <a:r>
              <a:rPr lang="en-US" sz="850" dirty="0">
                <a:solidFill>
                  <a:srgbClr val="432338"/>
                </a:solidFill>
                <a:latin typeface="Source Sans 3" pitchFamily="34" charset="0"/>
                <a:ea typeface="Source Sans 3" pitchFamily="34" charset="-122"/>
                <a:cs typeface="Source Sans 3" pitchFamily="34" charset="-120"/>
              </a:rPr>
              <a:t>Document data, configuration, and procedure</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523577" y="432569"/>
            <a:ext cx="724346" cy="213122"/>
          </a:xfrm>
          <a:prstGeom prst="roundRect">
            <a:avLst>
              <a:gd name="adj" fmla="val 22113"/>
            </a:avLst>
          </a:prstGeom>
          <a:solidFill>
            <a:srgbClr val="F9D2EB"/>
          </a:solidFill>
          <a:ln/>
        </p:spPr>
        <p:txBody>
          <a:bodyPr/>
          <a:lstStyle/>
          <a:p>
            <a:endParaRPr lang="en-US"/>
          </a:p>
        </p:txBody>
      </p:sp>
      <p:sp>
        <p:nvSpPr>
          <p:cNvPr id="3" name="Text 1"/>
          <p:cNvSpPr/>
          <p:nvPr/>
        </p:nvSpPr>
        <p:spPr>
          <a:xfrm>
            <a:off x="607665" y="474613"/>
            <a:ext cx="1013371" cy="129034"/>
          </a:xfrm>
          <a:prstGeom prst="rect">
            <a:avLst/>
          </a:prstGeom>
          <a:noFill/>
          <a:ln/>
        </p:spPr>
        <p:txBody>
          <a:bodyPr wrap="none" lIns="0" tIns="0" rIns="0" bIns="0" rtlCol="0" anchor="t"/>
          <a:lstStyle/>
          <a:p>
            <a:pPr marL="0" indent="0" algn="l">
              <a:lnSpc>
                <a:spcPct val="96000"/>
              </a:lnSpc>
              <a:buNone/>
            </a:pPr>
            <a:r>
              <a:rPr lang="en-US" sz="850" dirty="0">
                <a:solidFill>
                  <a:srgbClr val="432338"/>
                </a:solidFill>
                <a:latin typeface="Source Sans 3" pitchFamily="34" charset="0"/>
                <a:ea typeface="Source Sans 3" pitchFamily="34" charset="-122"/>
                <a:cs typeface="Source Sans 3" pitchFamily="34" charset="-120"/>
              </a:rPr>
              <a:t>FEASIBILITY</a:t>
            </a:r>
            <a:endParaRPr lang="en-US" sz="850" dirty="0"/>
          </a:p>
        </p:txBody>
      </p:sp>
      <p:sp>
        <p:nvSpPr>
          <p:cNvPr id="4" name="Text 2"/>
          <p:cNvSpPr/>
          <p:nvPr/>
        </p:nvSpPr>
        <p:spPr>
          <a:xfrm>
            <a:off x="523577" y="698227"/>
            <a:ext cx="8096845" cy="412477"/>
          </a:xfrm>
          <a:prstGeom prst="rect">
            <a:avLst/>
          </a:prstGeom>
          <a:noFill/>
          <a:ln/>
        </p:spPr>
        <p:txBody>
          <a:bodyPr wrap="none" lIns="0" tIns="0" rIns="0" bIns="0" rtlCol="0" anchor="t"/>
          <a:lstStyle/>
          <a:p>
            <a:pPr marL="0" indent="0" algn="l">
              <a:lnSpc>
                <a:spcPct val="104000"/>
              </a:lnSpc>
              <a:buNone/>
            </a:pPr>
            <a:r>
              <a:rPr lang="en-US" sz="2550" dirty="0">
                <a:solidFill>
                  <a:srgbClr val="371A2D"/>
                </a:solidFill>
                <a:latin typeface="Noto Serif SemiBold" pitchFamily="34" charset="0"/>
                <a:ea typeface="Noto Serif SemiBold" pitchFamily="34" charset="-122"/>
                <a:cs typeface="Noto Serif SemiBold" pitchFamily="34" charset="-120"/>
              </a:rPr>
              <a:t>Feasibility Assessment</a:t>
            </a:r>
            <a:endParaRPr lang="en-US" sz="2550" dirty="0"/>
          </a:p>
        </p:txBody>
      </p:sp>
      <p:sp>
        <p:nvSpPr>
          <p:cNvPr id="5" name="Text 3"/>
          <p:cNvSpPr/>
          <p:nvPr/>
        </p:nvSpPr>
        <p:spPr>
          <a:xfrm>
            <a:off x="523577" y="1439391"/>
            <a:ext cx="3877345" cy="206276"/>
          </a:xfrm>
          <a:prstGeom prst="rect">
            <a:avLst/>
          </a:prstGeom>
          <a:noFill/>
          <a:ln/>
        </p:spPr>
        <p:txBody>
          <a:bodyPr wrap="none" lIns="0" tIns="0" rIns="0" bIns="0" rtlCol="0" anchor="t"/>
          <a:lstStyle/>
          <a:p>
            <a:pPr marL="0" indent="0" algn="l">
              <a:lnSpc>
                <a:spcPct val="104000"/>
              </a:lnSpc>
              <a:buNone/>
            </a:pPr>
            <a:r>
              <a:rPr lang="en-US" sz="1250" dirty="0">
                <a:solidFill>
                  <a:srgbClr val="371A2D"/>
                </a:solidFill>
                <a:latin typeface="Noto Serif SemiBold" pitchFamily="34" charset="0"/>
                <a:ea typeface="Noto Serif SemiBold" pitchFamily="34" charset="-122"/>
                <a:cs typeface="Noto Serif SemiBold" pitchFamily="34" charset="-120"/>
              </a:rPr>
              <a:t>Dataset Feasibility</a:t>
            </a:r>
            <a:endParaRPr lang="en-US" sz="1250" dirty="0"/>
          </a:p>
        </p:txBody>
      </p:sp>
      <p:sp>
        <p:nvSpPr>
          <p:cNvPr id="6" name="Text 4"/>
          <p:cNvSpPr/>
          <p:nvPr/>
        </p:nvSpPr>
        <p:spPr>
          <a:xfrm>
            <a:off x="523577" y="1777157"/>
            <a:ext cx="3877345" cy="1270769"/>
          </a:xfrm>
          <a:prstGeom prst="rect">
            <a:avLst/>
          </a:prstGeom>
          <a:noFill/>
          <a:ln/>
        </p:spPr>
        <p:txBody>
          <a:bodyPr wrap="square" lIns="0" tIns="56105" rIns="0" bIns="0" rtlCol="0" anchor="t">
            <a:normAutofit/>
          </a:bodyPr>
          <a:lstStyle/>
          <a:p>
            <a:pPr marL="223520" indent="-223520" algn="l">
              <a:lnSpc>
                <a:spcPct val="129000"/>
              </a:lnSpc>
              <a:buSzPct val="100000"/>
              <a:buChar char="•"/>
            </a:pPr>
            <a:r>
              <a:rPr lang="en-US" sz="1100" b="1" dirty="0">
                <a:solidFill>
                  <a:srgbClr val="432338"/>
                </a:solidFill>
                <a:latin typeface="Source Sans 3 Bold" pitchFamily="34" charset="0"/>
                <a:ea typeface="Source Sans 3 Bold" pitchFamily="34" charset="-122"/>
                <a:cs typeface="Source Sans 3 Bold" pitchFamily="34" charset="-120"/>
              </a:rPr>
              <a:t>M5 Forecasting</a:t>
            </a:r>
            <a:r>
              <a:rPr lang="en-US" sz="1100" dirty="0">
                <a:solidFill>
                  <a:srgbClr val="432338"/>
                </a:solidFill>
                <a:latin typeface="Source Sans 3" pitchFamily="34" charset="0"/>
                <a:ea typeface="Source Sans 3" pitchFamily="34" charset="-122"/>
                <a:cs typeface="Source Sans 3" pitchFamily="34" charset="-120"/>
              </a:rPr>
              <a:t> — Retail/Walmart unit sales</a:t>
            </a:r>
            <a:endParaRPr lang="en-US" sz="1100" dirty="0"/>
          </a:p>
          <a:p>
            <a:pPr marL="223520" indent="-223520" algn="l">
              <a:lnSpc>
                <a:spcPct val="129000"/>
              </a:lnSpc>
              <a:buSzPct val="100000"/>
              <a:buChar char="•"/>
            </a:pPr>
            <a:r>
              <a:rPr lang="en-US" sz="1100" b="1" dirty="0">
                <a:solidFill>
                  <a:srgbClr val="432338"/>
                </a:solidFill>
                <a:latin typeface="Source Sans 3 Bold" pitchFamily="34" charset="0"/>
                <a:ea typeface="Source Sans 3 Bold" pitchFamily="34" charset="-122"/>
                <a:cs typeface="Source Sans 3 Bold" pitchFamily="34" charset="-120"/>
              </a:rPr>
              <a:t>Tourism Forecasting</a:t>
            </a:r>
            <a:r>
              <a:rPr lang="en-US" sz="1100" dirty="0">
                <a:solidFill>
                  <a:srgbClr val="432338"/>
                </a:solidFill>
                <a:latin typeface="Source Sans 3" pitchFamily="34" charset="0"/>
                <a:ea typeface="Source Sans 3" pitchFamily="34" charset="-122"/>
                <a:cs typeface="Source Sans 3" pitchFamily="34" charset="-120"/>
              </a:rPr>
              <a:t> — Seasonal tourism demand</a:t>
            </a:r>
            <a:endParaRPr lang="en-US" sz="1100" dirty="0"/>
          </a:p>
          <a:p>
            <a:pPr marL="223520" indent="-223520" algn="l">
              <a:lnSpc>
                <a:spcPct val="129000"/>
              </a:lnSpc>
              <a:buSzPct val="100000"/>
              <a:buChar char="•"/>
            </a:pPr>
            <a:r>
              <a:rPr lang="en-US" sz="1100" b="1" dirty="0">
                <a:solidFill>
                  <a:srgbClr val="432338"/>
                </a:solidFill>
                <a:latin typeface="Source Sans 3 Bold" pitchFamily="34" charset="0"/>
                <a:ea typeface="Source Sans 3 Bold" pitchFamily="34" charset="-122"/>
                <a:cs typeface="Source Sans 3 Bold" pitchFamily="34" charset="-120"/>
              </a:rPr>
              <a:t>NN5 Competition</a:t>
            </a:r>
            <a:r>
              <a:rPr lang="en-US" sz="1100" dirty="0">
                <a:solidFill>
                  <a:srgbClr val="432338"/>
                </a:solidFill>
                <a:latin typeface="Source Sans 3" pitchFamily="34" charset="0"/>
                <a:ea typeface="Source Sans 3" pitchFamily="34" charset="-122"/>
                <a:cs typeface="Source Sans 3" pitchFamily="34" charset="-120"/>
              </a:rPr>
              <a:t> — ATM cash withdrawals</a:t>
            </a:r>
            <a:endParaRPr lang="en-US" sz="1100" dirty="0"/>
          </a:p>
          <a:p>
            <a:pPr marL="223520" indent="-223520" algn="l">
              <a:lnSpc>
                <a:spcPct val="129000"/>
              </a:lnSpc>
              <a:buSzPct val="100000"/>
              <a:buChar char="•"/>
            </a:pPr>
            <a:r>
              <a:rPr lang="en-US" sz="1100" b="1" dirty="0">
                <a:solidFill>
                  <a:srgbClr val="432338"/>
                </a:solidFill>
                <a:latin typeface="Source Sans 3 Bold" pitchFamily="34" charset="0"/>
                <a:ea typeface="Source Sans 3 Bold" pitchFamily="34" charset="-122"/>
                <a:cs typeface="Source Sans 3 Bold" pitchFamily="34" charset="-120"/>
              </a:rPr>
              <a:t>Electricity</a:t>
            </a:r>
            <a:r>
              <a:rPr lang="en-US" sz="1100" dirty="0">
                <a:solidFill>
                  <a:srgbClr val="432338"/>
                </a:solidFill>
                <a:latin typeface="Source Sans 3" pitchFamily="34" charset="0"/>
                <a:ea typeface="Source Sans 3" pitchFamily="34" charset="-122"/>
                <a:cs typeface="Source Sans 3" pitchFamily="34" charset="-120"/>
              </a:rPr>
              <a:t> — Energy demand</a:t>
            </a:r>
            <a:endParaRPr lang="en-US" sz="1100" dirty="0"/>
          </a:p>
          <a:p>
            <a:pPr marL="223520" indent="-223520" algn="l">
              <a:lnSpc>
                <a:spcPct val="129000"/>
              </a:lnSpc>
              <a:buSzPct val="100000"/>
              <a:buChar char="•"/>
            </a:pPr>
            <a:r>
              <a:rPr lang="en-US" sz="1100" b="1" dirty="0">
                <a:solidFill>
                  <a:srgbClr val="432338"/>
                </a:solidFill>
                <a:latin typeface="Source Sans 3 Bold" pitchFamily="34" charset="0"/>
                <a:ea typeface="Source Sans 3 Bold" pitchFamily="34" charset="-122"/>
                <a:cs typeface="Source Sans 3 Bold" pitchFamily="34" charset="-120"/>
              </a:rPr>
              <a:t>Dominick Sales</a:t>
            </a:r>
            <a:r>
              <a:rPr lang="en-US" sz="1100" dirty="0">
                <a:solidFill>
                  <a:srgbClr val="432338"/>
                </a:solidFill>
                <a:latin typeface="Source Sans 3" pitchFamily="34" charset="0"/>
                <a:ea typeface="Source Sans 3" pitchFamily="34" charset="-122"/>
                <a:cs typeface="Source Sans 3" pitchFamily="34" charset="-120"/>
              </a:rPr>
              <a:t> — Retail sales</a:t>
            </a:r>
            <a:endParaRPr lang="en-US" sz="1100" dirty="0"/>
          </a:p>
        </p:txBody>
      </p:sp>
      <p:sp>
        <p:nvSpPr>
          <p:cNvPr id="7" name="Text 5"/>
          <p:cNvSpPr/>
          <p:nvPr/>
        </p:nvSpPr>
        <p:spPr>
          <a:xfrm>
            <a:off x="523577" y="3166244"/>
            <a:ext cx="3877345" cy="434727"/>
          </a:xfrm>
          <a:prstGeom prst="rect">
            <a:avLst/>
          </a:prstGeom>
          <a:noFill/>
          <a:ln/>
        </p:spPr>
        <p:txBody>
          <a:bodyPr wrap="square" lIns="0" tIns="0" rIns="0" bIns="0" rtlCol="0" anchor="t">
            <a:normAutofit/>
          </a:bodyPr>
          <a:lstStyle/>
          <a:p>
            <a:pPr marL="0" indent="0" algn="l">
              <a:lnSpc>
                <a:spcPct val="129000"/>
              </a:lnSpc>
              <a:buNone/>
            </a:pPr>
            <a:r>
              <a:rPr lang="en-US" sz="1100" dirty="0">
                <a:solidFill>
                  <a:srgbClr val="432338"/>
                </a:solidFill>
                <a:latin typeface="Source Sans 3" pitchFamily="34" charset="0"/>
                <a:ea typeface="Source Sans 3" pitchFamily="34" charset="-122"/>
                <a:cs typeface="Source Sans 3" pitchFamily="34" charset="-120"/>
              </a:rPr>
              <a:t>Representative series will be selected to keep experiments manageable.</a:t>
            </a:r>
            <a:endParaRPr lang="en-US" sz="1100" dirty="0"/>
          </a:p>
        </p:txBody>
      </p:sp>
      <p:sp>
        <p:nvSpPr>
          <p:cNvPr id="8" name="Text 6"/>
          <p:cNvSpPr/>
          <p:nvPr/>
        </p:nvSpPr>
        <p:spPr>
          <a:xfrm>
            <a:off x="4747840" y="1439391"/>
            <a:ext cx="3877345" cy="206276"/>
          </a:xfrm>
          <a:prstGeom prst="rect">
            <a:avLst/>
          </a:prstGeom>
          <a:noFill/>
          <a:ln/>
        </p:spPr>
        <p:txBody>
          <a:bodyPr wrap="none" lIns="0" tIns="0" rIns="0" bIns="0" rtlCol="0" anchor="t"/>
          <a:lstStyle/>
          <a:p>
            <a:pPr marL="0" indent="0" algn="l">
              <a:lnSpc>
                <a:spcPct val="104000"/>
              </a:lnSpc>
              <a:buNone/>
            </a:pPr>
            <a:r>
              <a:rPr lang="en-US" sz="1250" dirty="0">
                <a:solidFill>
                  <a:srgbClr val="371A2D"/>
                </a:solidFill>
                <a:latin typeface="Noto Serif SemiBold" pitchFamily="34" charset="0"/>
                <a:ea typeface="Noto Serif SemiBold" pitchFamily="34" charset="-122"/>
                <a:cs typeface="Noto Serif SemiBold" pitchFamily="34" charset="-120"/>
              </a:rPr>
              <a:t>Technical Feasibility</a:t>
            </a:r>
            <a:endParaRPr lang="en-US" sz="1250" dirty="0"/>
          </a:p>
        </p:txBody>
      </p:sp>
      <p:sp>
        <p:nvSpPr>
          <p:cNvPr id="9" name="Text 7"/>
          <p:cNvSpPr/>
          <p:nvPr/>
        </p:nvSpPr>
        <p:spPr>
          <a:xfrm>
            <a:off x="4747840" y="1777157"/>
            <a:ext cx="3877345" cy="434727"/>
          </a:xfrm>
          <a:prstGeom prst="rect">
            <a:avLst/>
          </a:prstGeom>
          <a:noFill/>
          <a:ln/>
        </p:spPr>
        <p:txBody>
          <a:bodyPr wrap="square" lIns="0" tIns="0" rIns="0" bIns="0" rtlCol="0" anchor="t">
            <a:normAutofit/>
          </a:bodyPr>
          <a:lstStyle/>
          <a:p>
            <a:pPr marL="0" indent="0" algn="l">
              <a:lnSpc>
                <a:spcPct val="129000"/>
              </a:lnSpc>
              <a:buNone/>
            </a:pPr>
            <a:r>
              <a:rPr lang="en-US" sz="1100" dirty="0">
                <a:solidFill>
                  <a:srgbClr val="432338"/>
                </a:solidFill>
                <a:latin typeface="Source Sans 3" pitchFamily="34" charset="0"/>
                <a:ea typeface="Source Sans 3" pitchFamily="34" charset="-122"/>
                <a:cs typeface="Source Sans 3" pitchFamily="34" charset="-120"/>
              </a:rPr>
              <a:t>Python · pandas · NumPy · matplotlib · statsmodels · Standard forecasting tools</a:t>
            </a:r>
            <a:endParaRPr lang="en-US" sz="1100" dirty="0"/>
          </a:p>
        </p:txBody>
      </p:sp>
      <p:sp>
        <p:nvSpPr>
          <p:cNvPr id="10" name="Text 8"/>
          <p:cNvSpPr/>
          <p:nvPr/>
        </p:nvSpPr>
        <p:spPr>
          <a:xfrm>
            <a:off x="4747840" y="2343373"/>
            <a:ext cx="3877345" cy="206276"/>
          </a:xfrm>
          <a:prstGeom prst="rect">
            <a:avLst/>
          </a:prstGeom>
          <a:noFill/>
          <a:ln/>
        </p:spPr>
        <p:txBody>
          <a:bodyPr wrap="none" lIns="0" tIns="0" rIns="0" bIns="0" rtlCol="0" anchor="t"/>
          <a:lstStyle/>
          <a:p>
            <a:pPr marL="0" indent="0" algn="l">
              <a:lnSpc>
                <a:spcPct val="104000"/>
              </a:lnSpc>
              <a:buNone/>
            </a:pPr>
            <a:r>
              <a:rPr lang="en-US" sz="1250" dirty="0">
                <a:solidFill>
                  <a:srgbClr val="371A2D"/>
                </a:solidFill>
                <a:latin typeface="Noto Serif SemiBold" pitchFamily="34" charset="0"/>
                <a:ea typeface="Noto Serif SemiBold" pitchFamily="34" charset="-122"/>
                <a:cs typeface="Noto Serif SemiBold" pitchFamily="34" charset="-120"/>
              </a:rPr>
              <a:t>Modeling Feasibility</a:t>
            </a:r>
            <a:endParaRPr lang="en-US" sz="1250" dirty="0"/>
          </a:p>
        </p:txBody>
      </p:sp>
      <p:sp>
        <p:nvSpPr>
          <p:cNvPr id="11" name="Text 9"/>
          <p:cNvSpPr/>
          <p:nvPr/>
        </p:nvSpPr>
        <p:spPr>
          <a:xfrm>
            <a:off x="4747840" y="2681139"/>
            <a:ext cx="3877345" cy="1007418"/>
          </a:xfrm>
          <a:prstGeom prst="rect">
            <a:avLst/>
          </a:prstGeom>
          <a:noFill/>
          <a:ln/>
        </p:spPr>
        <p:txBody>
          <a:bodyPr wrap="square" lIns="0" tIns="56105" rIns="0" bIns="0" rtlCol="0" anchor="t">
            <a:normAutofit/>
          </a:bodyPr>
          <a:lstStyle/>
          <a:p>
            <a:pPr marL="223520" indent="-223520" algn="l">
              <a:lnSpc>
                <a:spcPct val="129000"/>
              </a:lnSpc>
              <a:buSzPct val="100000"/>
              <a:buChar char="•"/>
            </a:pPr>
            <a:r>
              <a:rPr lang="en-US" sz="1100" dirty="0">
                <a:solidFill>
                  <a:srgbClr val="432338"/>
                </a:solidFill>
                <a:latin typeface="Source Sans 3" pitchFamily="34" charset="0"/>
                <a:ea typeface="Source Sans 3" pitchFamily="34" charset="-122"/>
                <a:cs typeface="Source Sans 3" pitchFamily="34" charset="-120"/>
              </a:rPr>
              <a:t>Naive · Seasonal Naive · Moving Average</a:t>
            </a:r>
            <a:endParaRPr lang="en-US" sz="1100" dirty="0"/>
          </a:p>
          <a:p>
            <a:pPr marL="223520" indent="-223520" algn="l">
              <a:lnSpc>
                <a:spcPct val="129000"/>
              </a:lnSpc>
              <a:buSzPct val="100000"/>
              <a:buChar char="•"/>
            </a:pPr>
            <a:r>
              <a:rPr lang="en-US" sz="1100" dirty="0">
                <a:solidFill>
                  <a:srgbClr val="432338"/>
                </a:solidFill>
                <a:latin typeface="Source Sans 3" pitchFamily="34" charset="0"/>
                <a:ea typeface="Source Sans 3" pitchFamily="34" charset="-122"/>
                <a:cs typeface="Source Sans 3" pitchFamily="34" charset="-120"/>
              </a:rPr>
              <a:t>Simple Exponential Smoothing · Holt-Winters</a:t>
            </a:r>
            <a:endParaRPr lang="en-US" sz="1100" dirty="0"/>
          </a:p>
          <a:p>
            <a:pPr marL="223520" indent="-223520" algn="l">
              <a:lnSpc>
                <a:spcPct val="129000"/>
              </a:lnSpc>
              <a:buSzPct val="100000"/>
              <a:buChar char="•"/>
            </a:pPr>
            <a:r>
              <a:rPr lang="en-US" sz="1100" dirty="0">
                <a:solidFill>
                  <a:srgbClr val="432338"/>
                </a:solidFill>
                <a:latin typeface="Source Sans 3" pitchFamily="34" charset="0"/>
                <a:ea typeface="Source Sans 3" pitchFamily="34" charset="-122"/>
                <a:cs typeface="Source Sans 3" pitchFamily="34" charset="-120"/>
              </a:rPr>
              <a:t>ARIMA · SARIMA</a:t>
            </a:r>
            <a:endParaRPr lang="en-US" sz="1100" dirty="0"/>
          </a:p>
          <a:p>
            <a:pPr marL="223520" indent="-223520" algn="l">
              <a:lnSpc>
                <a:spcPct val="129000"/>
              </a:lnSpc>
              <a:buSzPct val="100000"/>
              <a:buChar char="•"/>
            </a:pPr>
            <a:r>
              <a:rPr lang="en-US" sz="1100" dirty="0">
                <a:solidFill>
                  <a:srgbClr val="432338"/>
                </a:solidFill>
                <a:latin typeface="Source Sans 3" pitchFamily="34" charset="0"/>
                <a:ea typeface="Source Sans 3" pitchFamily="34" charset="-122"/>
                <a:cs typeface="Source Sans 3" pitchFamily="34" charset="-120"/>
              </a:rPr>
              <a:t>Manageable ML baseline (if justified)</a:t>
            </a:r>
            <a:endParaRPr lang="en-US" sz="1100" dirty="0"/>
          </a:p>
        </p:txBody>
      </p:sp>
      <p:sp>
        <p:nvSpPr>
          <p:cNvPr id="12" name="Text 10"/>
          <p:cNvSpPr/>
          <p:nvPr/>
        </p:nvSpPr>
        <p:spPr>
          <a:xfrm>
            <a:off x="4747840" y="3820046"/>
            <a:ext cx="3877345" cy="206276"/>
          </a:xfrm>
          <a:prstGeom prst="rect">
            <a:avLst/>
          </a:prstGeom>
          <a:noFill/>
          <a:ln/>
        </p:spPr>
        <p:txBody>
          <a:bodyPr wrap="none" lIns="0" tIns="0" rIns="0" bIns="0" rtlCol="0" anchor="t"/>
          <a:lstStyle/>
          <a:p>
            <a:pPr marL="0" indent="0" algn="l">
              <a:lnSpc>
                <a:spcPct val="104000"/>
              </a:lnSpc>
              <a:buNone/>
            </a:pPr>
            <a:r>
              <a:rPr lang="en-US" sz="1250" dirty="0">
                <a:solidFill>
                  <a:srgbClr val="371A2D"/>
                </a:solidFill>
                <a:latin typeface="Noto Serif SemiBold" pitchFamily="34" charset="0"/>
                <a:ea typeface="Noto Serif SemiBold" pitchFamily="34" charset="-122"/>
                <a:cs typeface="Noto Serif SemiBold" pitchFamily="34" charset="-120"/>
              </a:rPr>
              <a:t>Computational Feasibility</a:t>
            </a:r>
            <a:endParaRPr lang="en-US" sz="1250" dirty="0"/>
          </a:p>
        </p:txBody>
      </p:sp>
      <p:sp>
        <p:nvSpPr>
          <p:cNvPr id="13" name="Text 11"/>
          <p:cNvSpPr/>
          <p:nvPr/>
        </p:nvSpPr>
        <p:spPr>
          <a:xfrm>
            <a:off x="4747840" y="4157811"/>
            <a:ext cx="3877345" cy="434727"/>
          </a:xfrm>
          <a:prstGeom prst="rect">
            <a:avLst/>
          </a:prstGeom>
          <a:noFill/>
          <a:ln/>
        </p:spPr>
        <p:txBody>
          <a:bodyPr wrap="square" lIns="0" tIns="0" rIns="0" bIns="0" rtlCol="0" anchor="t">
            <a:normAutofit/>
          </a:bodyPr>
          <a:lstStyle/>
          <a:p>
            <a:pPr marL="0" indent="0" algn="l">
              <a:lnSpc>
                <a:spcPct val="129000"/>
              </a:lnSpc>
              <a:buNone/>
            </a:pPr>
            <a:r>
              <a:rPr lang="en-US" sz="1100" dirty="0">
                <a:solidFill>
                  <a:srgbClr val="432338"/>
                </a:solidFill>
                <a:latin typeface="Source Sans 3" pitchFamily="34" charset="0"/>
                <a:ea typeface="Source Sans 3" pitchFamily="34" charset="-122"/>
                <a:cs typeface="Source Sans 3" pitchFamily="34" charset="-120"/>
              </a:rPr>
              <a:t>No specialized hardware required. Core statistical pipeline first; expand after stabilization.</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23577" y="411435"/>
            <a:ext cx="466204" cy="113556"/>
          </a:xfrm>
          <a:prstGeom prst="roundRect">
            <a:avLst>
              <a:gd name="adj" fmla="val 22134"/>
            </a:avLst>
          </a:prstGeom>
          <a:solidFill>
            <a:srgbClr val="F9D2EB"/>
          </a:solidFill>
          <a:ln/>
        </p:spPr>
        <p:txBody>
          <a:bodyPr/>
          <a:lstStyle/>
          <a:p>
            <a:endParaRPr lang="en-US"/>
          </a:p>
        </p:txBody>
      </p:sp>
      <p:sp>
        <p:nvSpPr>
          <p:cNvPr id="3" name="Text 1"/>
          <p:cNvSpPr/>
          <p:nvPr/>
        </p:nvSpPr>
        <p:spPr>
          <a:xfrm>
            <a:off x="568449" y="433834"/>
            <a:ext cx="833661" cy="68759"/>
          </a:xfrm>
          <a:prstGeom prst="rect">
            <a:avLst/>
          </a:prstGeom>
          <a:noFill/>
          <a:ln/>
        </p:spPr>
        <p:txBody>
          <a:bodyPr wrap="none" lIns="0" tIns="0" rIns="0" bIns="0" rtlCol="0" anchor="t"/>
          <a:lstStyle/>
          <a:p>
            <a:pPr marL="0" indent="0" algn="l">
              <a:lnSpc>
                <a:spcPct val="96000"/>
              </a:lnSpc>
              <a:buNone/>
            </a:pPr>
            <a:r>
              <a:rPr lang="en-US" sz="450" dirty="0">
                <a:solidFill>
                  <a:srgbClr val="432338"/>
                </a:solidFill>
                <a:latin typeface="Source Sans 3" pitchFamily="34" charset="0"/>
                <a:ea typeface="Source Sans 3" pitchFamily="34" charset="-122"/>
                <a:cs typeface="Source Sans 3" pitchFamily="34" charset="-120"/>
              </a:rPr>
              <a:t>PROJECT PLAN</a:t>
            </a:r>
            <a:endParaRPr lang="en-US" sz="450" dirty="0"/>
          </a:p>
        </p:txBody>
      </p:sp>
      <p:sp>
        <p:nvSpPr>
          <p:cNvPr id="4" name="Text 2"/>
          <p:cNvSpPr/>
          <p:nvPr/>
        </p:nvSpPr>
        <p:spPr>
          <a:xfrm>
            <a:off x="523577" y="539948"/>
            <a:ext cx="8096845" cy="219968"/>
          </a:xfrm>
          <a:prstGeom prst="rect">
            <a:avLst/>
          </a:prstGeom>
          <a:noFill/>
          <a:ln/>
        </p:spPr>
        <p:txBody>
          <a:bodyPr wrap="none" lIns="0" tIns="0" rIns="0" bIns="0" rtlCol="0" anchor="t"/>
          <a:lstStyle/>
          <a:p>
            <a:pPr marL="0" indent="0" algn="l">
              <a:lnSpc>
                <a:spcPct val="104000"/>
              </a:lnSpc>
              <a:buNone/>
            </a:pPr>
            <a:r>
              <a:rPr lang="en-US" sz="1350" dirty="0">
                <a:solidFill>
                  <a:srgbClr val="371A2D"/>
                </a:solidFill>
                <a:latin typeface="Noto Serif SemiBold" pitchFamily="34" charset="0"/>
                <a:ea typeface="Noto Serif SemiBold" pitchFamily="34" charset="-122"/>
                <a:cs typeface="Noto Serif SemiBold" pitchFamily="34" charset="-120"/>
              </a:rPr>
              <a:t>Project Execution Roadmap</a:t>
            </a:r>
            <a:endParaRPr lang="en-US" sz="1350" dirty="0"/>
          </a:p>
        </p:txBody>
      </p:sp>
      <p:pic>
        <p:nvPicPr>
          <p:cNvPr id="5" name="Image 0" descr="preencoded.png"/>
          <p:cNvPicPr>
            <a:picLocks noChangeAspect="1"/>
          </p:cNvPicPr>
          <p:nvPr/>
        </p:nvPicPr>
        <p:blipFill>
          <a:blip r:embed="rId3"/>
          <a:stretch>
            <a:fillRect/>
          </a:stretch>
        </p:blipFill>
        <p:spPr>
          <a:xfrm>
            <a:off x="523577" y="857994"/>
            <a:ext cx="3957191" cy="3957191"/>
          </a:xfrm>
          <a:prstGeom prst="rect">
            <a:avLst/>
          </a:prstGeom>
        </p:spPr>
      </p:pic>
      <p:sp>
        <p:nvSpPr>
          <p:cNvPr id="6" name="Text 3"/>
          <p:cNvSpPr/>
          <p:nvPr/>
        </p:nvSpPr>
        <p:spPr>
          <a:xfrm>
            <a:off x="4667993" y="2008072"/>
            <a:ext cx="3952429" cy="269229"/>
          </a:xfrm>
          <a:prstGeom prst="rect">
            <a:avLst/>
          </a:prstGeom>
          <a:noFill/>
          <a:ln/>
        </p:spPr>
        <p:txBody>
          <a:bodyPr wrap="none" lIns="0" tIns="0" rIns="0" bIns="0" rtlCol="0" anchor="t"/>
          <a:lstStyle/>
          <a:p>
            <a:pPr marL="0" indent="0" algn="l">
              <a:lnSpc>
                <a:spcPct val="104000"/>
              </a:lnSpc>
              <a:buNone/>
            </a:pPr>
            <a:r>
              <a:rPr lang="en-US" sz="1000" dirty="0">
                <a:solidFill>
                  <a:srgbClr val="371A2D"/>
                </a:solidFill>
                <a:latin typeface="Noto Serif SemiBold" pitchFamily="34" charset="0"/>
                <a:ea typeface="Noto Serif SemiBold" pitchFamily="34" charset="-122"/>
                <a:cs typeface="Noto Serif SemiBold" pitchFamily="34" charset="-120"/>
              </a:rPr>
              <a:t>Research Pipeline Overview</a:t>
            </a:r>
            <a:endParaRPr lang="en-US" sz="1000" dirty="0"/>
          </a:p>
        </p:txBody>
      </p:sp>
      <p:sp>
        <p:nvSpPr>
          <p:cNvPr id="7" name="Text 4"/>
          <p:cNvSpPr/>
          <p:nvPr/>
        </p:nvSpPr>
        <p:spPr>
          <a:xfrm>
            <a:off x="4663234" y="2277301"/>
            <a:ext cx="3952428" cy="747952"/>
          </a:xfrm>
          <a:prstGeom prst="rect">
            <a:avLst/>
          </a:prstGeom>
          <a:noFill/>
          <a:ln/>
        </p:spPr>
        <p:txBody>
          <a:bodyPr wrap="square" lIns="0" tIns="0" rIns="0" bIns="0" rtlCol="0" anchor="t">
            <a:normAutofit lnSpcReduction="10000"/>
          </a:bodyPr>
          <a:lstStyle/>
          <a:p>
            <a:pPr marL="0" indent="0" algn="l">
              <a:lnSpc>
                <a:spcPct val="100000"/>
              </a:lnSpc>
              <a:buNone/>
            </a:pPr>
            <a:r>
              <a:rPr lang="en-US" sz="1000" dirty="0">
                <a:solidFill>
                  <a:srgbClr val="432338"/>
                </a:solidFill>
                <a:latin typeface="Source Sans 3" pitchFamily="34" charset="0"/>
                <a:ea typeface="Source Sans 3" pitchFamily="34" charset="-122"/>
                <a:cs typeface="Source Sans 3" pitchFamily="34" charset="-120"/>
              </a:rPr>
              <a:t>The project follows a structured empirical workflow: benchmark datasets are ingested and validated, characterized by demand properties, then subjected to a controlled multi-model forecasting comparison under a consistent chronological evaluation protocol. Results are analyzed characteristic-wise to derive model-suitability insights.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523577" y="424383"/>
            <a:ext cx="1043880" cy="191691"/>
          </a:xfrm>
          <a:prstGeom prst="roundRect">
            <a:avLst>
              <a:gd name="adj" fmla="val 22127"/>
            </a:avLst>
          </a:prstGeom>
          <a:solidFill>
            <a:srgbClr val="F9D2EB"/>
          </a:solidFill>
          <a:ln/>
        </p:spPr>
        <p:txBody>
          <a:bodyPr/>
          <a:lstStyle/>
          <a:p>
            <a:endParaRPr lang="en-US"/>
          </a:p>
        </p:txBody>
      </p:sp>
      <p:sp>
        <p:nvSpPr>
          <p:cNvPr id="3" name="Text 1"/>
          <p:cNvSpPr/>
          <p:nvPr/>
        </p:nvSpPr>
        <p:spPr>
          <a:xfrm>
            <a:off x="599256" y="462186"/>
            <a:ext cx="1349722" cy="116086"/>
          </a:xfrm>
          <a:prstGeom prst="rect">
            <a:avLst/>
          </a:prstGeom>
          <a:noFill/>
          <a:ln/>
        </p:spPr>
        <p:txBody>
          <a:bodyPr wrap="none" lIns="0" tIns="0" rIns="0" bIns="0" rtlCol="0" anchor="t"/>
          <a:lstStyle/>
          <a:p>
            <a:pPr marL="0" indent="0" algn="l">
              <a:lnSpc>
                <a:spcPct val="96000"/>
              </a:lnSpc>
              <a:buNone/>
            </a:pPr>
            <a:r>
              <a:rPr lang="en-US" sz="750" dirty="0">
                <a:solidFill>
                  <a:srgbClr val="432338"/>
                </a:solidFill>
                <a:latin typeface="Source Sans 3" pitchFamily="34" charset="0"/>
                <a:ea typeface="Source Sans 3" pitchFamily="34" charset="-122"/>
                <a:cs typeface="Source Sans 3" pitchFamily="34" charset="-120"/>
              </a:rPr>
              <a:t>EXPECTED OUTCOME</a:t>
            </a:r>
            <a:endParaRPr lang="en-US" sz="750" dirty="0"/>
          </a:p>
        </p:txBody>
      </p:sp>
      <p:sp>
        <p:nvSpPr>
          <p:cNvPr id="4" name="Text 2"/>
          <p:cNvSpPr/>
          <p:nvPr/>
        </p:nvSpPr>
        <p:spPr>
          <a:xfrm>
            <a:off x="523577" y="658639"/>
            <a:ext cx="8096845" cy="371326"/>
          </a:xfrm>
          <a:prstGeom prst="rect">
            <a:avLst/>
          </a:prstGeom>
          <a:noFill/>
          <a:ln/>
        </p:spPr>
        <p:txBody>
          <a:bodyPr wrap="none" lIns="0" tIns="0" rIns="0" bIns="0" rtlCol="0" anchor="t"/>
          <a:lstStyle/>
          <a:p>
            <a:pPr marL="0" indent="0" algn="l">
              <a:lnSpc>
                <a:spcPct val="104000"/>
              </a:lnSpc>
              <a:buNone/>
            </a:pPr>
            <a:r>
              <a:rPr lang="en-US" sz="2300" dirty="0">
                <a:solidFill>
                  <a:srgbClr val="371A2D"/>
                </a:solidFill>
                <a:latin typeface="Noto Serif SemiBold" pitchFamily="34" charset="0"/>
                <a:ea typeface="Noto Serif SemiBold" pitchFamily="34" charset="-122"/>
                <a:cs typeface="Noto Serif SemiBold" pitchFamily="34" charset="-120"/>
              </a:rPr>
              <a:t>Expected Research Outcome</a:t>
            </a:r>
            <a:endParaRPr lang="en-US" sz="2300" dirty="0"/>
          </a:p>
        </p:txBody>
      </p:sp>
      <p:sp>
        <p:nvSpPr>
          <p:cNvPr id="5" name="Text 3"/>
          <p:cNvSpPr/>
          <p:nvPr/>
        </p:nvSpPr>
        <p:spPr>
          <a:xfrm>
            <a:off x="523577" y="1189732"/>
            <a:ext cx="8096845" cy="372219"/>
          </a:xfrm>
          <a:prstGeom prst="rect">
            <a:avLst/>
          </a:prstGeom>
          <a:noFill/>
          <a:ln/>
        </p:spPr>
        <p:txBody>
          <a:bodyPr wrap="square" lIns="0" tIns="0" rIns="0" bIns="0" rtlCol="0" anchor="t">
            <a:normAutofit/>
          </a:bodyPr>
          <a:lstStyle/>
          <a:p>
            <a:pPr marL="0" indent="0" algn="l">
              <a:lnSpc>
                <a:spcPct val="123000"/>
              </a:lnSpc>
              <a:buNone/>
            </a:pPr>
            <a:r>
              <a:rPr lang="en-US" sz="950" dirty="0">
                <a:solidFill>
                  <a:srgbClr val="432338"/>
                </a:solidFill>
                <a:latin typeface="Source Sans 3" pitchFamily="34" charset="0"/>
                <a:ea typeface="Source Sans 3" pitchFamily="34" charset="-122"/>
                <a:cs typeface="Source Sans 3" pitchFamily="34" charset="-120"/>
              </a:rPr>
              <a:t>The project aims not only to determine which forecasting model produces accurate predictions, but to investigate whether the suitability of established forecasting approaches changes according to the characteristics of the demand series.</a:t>
            </a:r>
            <a:endParaRPr lang="en-US" sz="950" dirty="0"/>
          </a:p>
        </p:txBody>
      </p:sp>
      <p:sp>
        <p:nvSpPr>
          <p:cNvPr id="6" name="Shape 4"/>
          <p:cNvSpPr/>
          <p:nvPr/>
        </p:nvSpPr>
        <p:spPr>
          <a:xfrm>
            <a:off x="523577" y="1681758"/>
            <a:ext cx="3995142" cy="697557"/>
          </a:xfrm>
          <a:prstGeom prst="roundRect">
            <a:avLst>
              <a:gd name="adj" fmla="val 7601"/>
            </a:avLst>
          </a:prstGeom>
          <a:solidFill>
            <a:srgbClr val="F9D2EB"/>
          </a:solidFill>
          <a:ln w="4763">
            <a:solidFill>
              <a:srgbClr val="DFB8D1"/>
            </a:solidFill>
            <a:prstDash val="solid"/>
          </a:ln>
        </p:spPr>
        <p:txBody>
          <a:bodyPr/>
          <a:lstStyle/>
          <a:p>
            <a:endParaRPr lang="en-US"/>
          </a:p>
        </p:txBody>
      </p:sp>
      <p:sp>
        <p:nvSpPr>
          <p:cNvPr id="7" name="Text 5"/>
          <p:cNvSpPr/>
          <p:nvPr/>
        </p:nvSpPr>
        <p:spPr>
          <a:xfrm>
            <a:off x="654546" y="1812727"/>
            <a:ext cx="3733205" cy="185663"/>
          </a:xfrm>
          <a:prstGeom prst="rect">
            <a:avLst/>
          </a:prstGeom>
          <a:noFill/>
          <a:ln/>
        </p:spPr>
        <p:txBody>
          <a:bodyPr wrap="none" lIns="0" tIns="0" rIns="0" bIns="0" rtlCol="0" anchor="t"/>
          <a:lstStyle/>
          <a:p>
            <a:pPr marL="0" indent="0" algn="l">
              <a:lnSpc>
                <a:spcPct val="104000"/>
              </a:lnSpc>
              <a:buNone/>
            </a:pPr>
            <a:r>
              <a:rPr lang="en-US" sz="1150" dirty="0">
                <a:solidFill>
                  <a:srgbClr val="432338"/>
                </a:solidFill>
                <a:latin typeface="Noto Serif SemiBold" pitchFamily="34" charset="0"/>
                <a:ea typeface="Noto Serif SemiBold" pitchFamily="34" charset="-122"/>
                <a:cs typeface="Noto Serif SemiBold" pitchFamily="34" charset="-120"/>
              </a:rPr>
              <a:t>Reproducible Workflow</a:t>
            </a:r>
            <a:endParaRPr lang="en-US" sz="1150" dirty="0"/>
          </a:p>
        </p:txBody>
      </p:sp>
      <p:sp>
        <p:nvSpPr>
          <p:cNvPr id="8" name="Text 6"/>
          <p:cNvSpPr/>
          <p:nvPr/>
        </p:nvSpPr>
        <p:spPr>
          <a:xfrm>
            <a:off x="654546" y="2062237"/>
            <a:ext cx="3733205" cy="186110"/>
          </a:xfrm>
          <a:prstGeom prst="rect">
            <a:avLst/>
          </a:prstGeom>
          <a:noFill/>
          <a:ln/>
        </p:spPr>
        <p:txBody>
          <a:bodyPr wrap="none" lIns="0" tIns="0" rIns="0" bIns="0" rtlCol="0" anchor="t"/>
          <a:lstStyle/>
          <a:p>
            <a:pPr marL="0" indent="0" algn="l">
              <a:lnSpc>
                <a:spcPct val="123000"/>
              </a:lnSpc>
              <a:buNone/>
            </a:pPr>
            <a:r>
              <a:rPr lang="en-US" sz="950" dirty="0">
                <a:solidFill>
                  <a:srgbClr val="432338"/>
                </a:solidFill>
                <a:latin typeface="Source Sans 3" pitchFamily="34" charset="0"/>
                <a:ea typeface="Source Sans 3" pitchFamily="34" charset="-122"/>
                <a:cs typeface="Source Sans 3" pitchFamily="34" charset="-120"/>
              </a:rPr>
              <a:t>Documented forecasting-analysis pipeline</a:t>
            </a:r>
            <a:endParaRPr lang="en-US" sz="950" dirty="0"/>
          </a:p>
        </p:txBody>
      </p:sp>
      <p:sp>
        <p:nvSpPr>
          <p:cNvPr id="9" name="Shape 7"/>
          <p:cNvSpPr/>
          <p:nvPr/>
        </p:nvSpPr>
        <p:spPr>
          <a:xfrm>
            <a:off x="4625206" y="1681758"/>
            <a:ext cx="3995217" cy="697557"/>
          </a:xfrm>
          <a:prstGeom prst="roundRect">
            <a:avLst>
              <a:gd name="adj" fmla="val 7601"/>
            </a:avLst>
          </a:prstGeom>
          <a:solidFill>
            <a:srgbClr val="F9D2EB"/>
          </a:solidFill>
          <a:ln w="4763">
            <a:solidFill>
              <a:srgbClr val="DFB8D1"/>
            </a:solidFill>
            <a:prstDash val="solid"/>
          </a:ln>
        </p:spPr>
        <p:txBody>
          <a:bodyPr/>
          <a:lstStyle/>
          <a:p>
            <a:endParaRPr lang="en-US"/>
          </a:p>
        </p:txBody>
      </p:sp>
      <p:sp>
        <p:nvSpPr>
          <p:cNvPr id="10" name="Text 8"/>
          <p:cNvSpPr/>
          <p:nvPr/>
        </p:nvSpPr>
        <p:spPr>
          <a:xfrm>
            <a:off x="4756175" y="1812727"/>
            <a:ext cx="3733279" cy="185663"/>
          </a:xfrm>
          <a:prstGeom prst="rect">
            <a:avLst/>
          </a:prstGeom>
          <a:noFill/>
          <a:ln/>
        </p:spPr>
        <p:txBody>
          <a:bodyPr wrap="none" lIns="0" tIns="0" rIns="0" bIns="0" rtlCol="0" anchor="t"/>
          <a:lstStyle/>
          <a:p>
            <a:pPr marL="0" indent="0" algn="l">
              <a:lnSpc>
                <a:spcPct val="104000"/>
              </a:lnSpc>
              <a:buNone/>
            </a:pPr>
            <a:r>
              <a:rPr lang="en-US" sz="1150" dirty="0">
                <a:solidFill>
                  <a:srgbClr val="432338"/>
                </a:solidFill>
                <a:latin typeface="Noto Serif SemiBold" pitchFamily="34" charset="0"/>
                <a:ea typeface="Noto Serif SemiBold" pitchFamily="34" charset="-122"/>
                <a:cs typeface="Noto Serif SemiBold" pitchFamily="34" charset="-120"/>
              </a:rPr>
              <a:t>Benchmark Framework</a:t>
            </a:r>
            <a:endParaRPr lang="en-US" sz="1150" dirty="0"/>
          </a:p>
        </p:txBody>
      </p:sp>
      <p:sp>
        <p:nvSpPr>
          <p:cNvPr id="11" name="Text 9"/>
          <p:cNvSpPr/>
          <p:nvPr/>
        </p:nvSpPr>
        <p:spPr>
          <a:xfrm>
            <a:off x="4756175" y="2062237"/>
            <a:ext cx="3733279" cy="186110"/>
          </a:xfrm>
          <a:prstGeom prst="rect">
            <a:avLst/>
          </a:prstGeom>
          <a:noFill/>
          <a:ln/>
        </p:spPr>
        <p:txBody>
          <a:bodyPr wrap="none" lIns="0" tIns="0" rIns="0" bIns="0" rtlCol="0" anchor="t"/>
          <a:lstStyle/>
          <a:p>
            <a:pPr marL="0" indent="0" algn="l">
              <a:lnSpc>
                <a:spcPct val="123000"/>
              </a:lnSpc>
              <a:buNone/>
            </a:pPr>
            <a:r>
              <a:rPr lang="en-US" sz="950" dirty="0">
                <a:solidFill>
                  <a:srgbClr val="432338"/>
                </a:solidFill>
                <a:latin typeface="Source Sans 3" pitchFamily="34" charset="0"/>
                <a:ea typeface="Source Sans 3" pitchFamily="34" charset="-122"/>
                <a:cs typeface="Source Sans 3" pitchFamily="34" charset="-120"/>
              </a:rPr>
              <a:t>Multi-dataset experimental design</a:t>
            </a:r>
            <a:endParaRPr lang="en-US" sz="950" dirty="0"/>
          </a:p>
        </p:txBody>
      </p:sp>
      <p:sp>
        <p:nvSpPr>
          <p:cNvPr id="12" name="Shape 10"/>
          <p:cNvSpPr/>
          <p:nvPr/>
        </p:nvSpPr>
        <p:spPr>
          <a:xfrm>
            <a:off x="523577" y="2485802"/>
            <a:ext cx="3995142" cy="697557"/>
          </a:xfrm>
          <a:prstGeom prst="roundRect">
            <a:avLst>
              <a:gd name="adj" fmla="val 7601"/>
            </a:avLst>
          </a:prstGeom>
          <a:solidFill>
            <a:srgbClr val="F9D2EB"/>
          </a:solidFill>
          <a:ln w="4763">
            <a:solidFill>
              <a:srgbClr val="DFB8D1"/>
            </a:solidFill>
            <a:prstDash val="solid"/>
          </a:ln>
        </p:spPr>
        <p:txBody>
          <a:bodyPr/>
          <a:lstStyle/>
          <a:p>
            <a:endParaRPr lang="en-US"/>
          </a:p>
        </p:txBody>
      </p:sp>
      <p:sp>
        <p:nvSpPr>
          <p:cNvPr id="13" name="Text 11"/>
          <p:cNvSpPr/>
          <p:nvPr/>
        </p:nvSpPr>
        <p:spPr>
          <a:xfrm>
            <a:off x="654546" y="2616771"/>
            <a:ext cx="3733205" cy="185663"/>
          </a:xfrm>
          <a:prstGeom prst="rect">
            <a:avLst/>
          </a:prstGeom>
          <a:noFill/>
          <a:ln/>
        </p:spPr>
        <p:txBody>
          <a:bodyPr wrap="none" lIns="0" tIns="0" rIns="0" bIns="0" rtlCol="0" anchor="t"/>
          <a:lstStyle/>
          <a:p>
            <a:pPr marL="0" indent="0" algn="l">
              <a:lnSpc>
                <a:spcPct val="104000"/>
              </a:lnSpc>
              <a:buNone/>
            </a:pPr>
            <a:r>
              <a:rPr lang="en-US" sz="1150" dirty="0">
                <a:solidFill>
                  <a:srgbClr val="432338"/>
                </a:solidFill>
                <a:latin typeface="Noto Serif SemiBold" pitchFamily="34" charset="0"/>
                <a:ea typeface="Noto Serif SemiBold" pitchFamily="34" charset="-122"/>
                <a:cs typeface="Noto Serif SemiBold" pitchFamily="34" charset="-120"/>
              </a:rPr>
              <a:t>Multi-Model Evaluation</a:t>
            </a:r>
            <a:endParaRPr lang="en-US" sz="1150" dirty="0"/>
          </a:p>
        </p:txBody>
      </p:sp>
      <p:sp>
        <p:nvSpPr>
          <p:cNvPr id="14" name="Text 12"/>
          <p:cNvSpPr/>
          <p:nvPr/>
        </p:nvSpPr>
        <p:spPr>
          <a:xfrm>
            <a:off x="654546" y="2866281"/>
            <a:ext cx="3733205" cy="186110"/>
          </a:xfrm>
          <a:prstGeom prst="rect">
            <a:avLst/>
          </a:prstGeom>
          <a:noFill/>
          <a:ln/>
        </p:spPr>
        <p:txBody>
          <a:bodyPr wrap="none" lIns="0" tIns="0" rIns="0" bIns="0" rtlCol="0" anchor="t"/>
          <a:lstStyle/>
          <a:p>
            <a:pPr marL="0" indent="0" algn="l">
              <a:lnSpc>
                <a:spcPct val="123000"/>
              </a:lnSpc>
              <a:buNone/>
            </a:pPr>
            <a:r>
              <a:rPr lang="en-US" sz="950" dirty="0">
                <a:solidFill>
                  <a:srgbClr val="432338"/>
                </a:solidFill>
                <a:latin typeface="Source Sans 3" pitchFamily="34" charset="0"/>
                <a:ea typeface="Source Sans 3" pitchFamily="34" charset="-122"/>
                <a:cs typeface="Source Sans 3" pitchFamily="34" charset="-120"/>
              </a:rPr>
              <a:t>MAE, RMSE, sMAPE, MASE across series</a:t>
            </a:r>
            <a:endParaRPr lang="en-US" sz="950" dirty="0"/>
          </a:p>
        </p:txBody>
      </p:sp>
      <p:sp>
        <p:nvSpPr>
          <p:cNvPr id="15" name="Shape 13"/>
          <p:cNvSpPr/>
          <p:nvPr/>
        </p:nvSpPr>
        <p:spPr>
          <a:xfrm>
            <a:off x="4625206" y="2485802"/>
            <a:ext cx="3995217" cy="697557"/>
          </a:xfrm>
          <a:prstGeom prst="roundRect">
            <a:avLst>
              <a:gd name="adj" fmla="val 7601"/>
            </a:avLst>
          </a:prstGeom>
          <a:solidFill>
            <a:srgbClr val="F9D2EB"/>
          </a:solidFill>
          <a:ln w="4763">
            <a:solidFill>
              <a:srgbClr val="DFB8D1"/>
            </a:solidFill>
            <a:prstDash val="solid"/>
          </a:ln>
        </p:spPr>
        <p:txBody>
          <a:bodyPr/>
          <a:lstStyle/>
          <a:p>
            <a:endParaRPr lang="en-US"/>
          </a:p>
        </p:txBody>
      </p:sp>
      <p:sp>
        <p:nvSpPr>
          <p:cNvPr id="16" name="Text 14"/>
          <p:cNvSpPr/>
          <p:nvPr/>
        </p:nvSpPr>
        <p:spPr>
          <a:xfrm>
            <a:off x="4756175" y="2616771"/>
            <a:ext cx="3733279" cy="185663"/>
          </a:xfrm>
          <a:prstGeom prst="rect">
            <a:avLst/>
          </a:prstGeom>
          <a:noFill/>
          <a:ln/>
        </p:spPr>
        <p:txBody>
          <a:bodyPr wrap="none" lIns="0" tIns="0" rIns="0" bIns="0" rtlCol="0" anchor="t"/>
          <a:lstStyle/>
          <a:p>
            <a:pPr marL="0" indent="0" algn="l">
              <a:lnSpc>
                <a:spcPct val="104000"/>
              </a:lnSpc>
              <a:buNone/>
            </a:pPr>
            <a:r>
              <a:rPr lang="en-US" sz="1150" dirty="0">
                <a:solidFill>
                  <a:srgbClr val="432338"/>
                </a:solidFill>
                <a:latin typeface="Noto Serif SemiBold" pitchFamily="34" charset="0"/>
                <a:ea typeface="Noto Serif SemiBold" pitchFamily="34" charset="-122"/>
                <a:cs typeface="Noto Serif SemiBold" pitchFamily="34" charset="-120"/>
              </a:rPr>
              <a:t>Suitability Insights</a:t>
            </a:r>
            <a:endParaRPr lang="en-US" sz="1150" dirty="0"/>
          </a:p>
        </p:txBody>
      </p:sp>
      <p:sp>
        <p:nvSpPr>
          <p:cNvPr id="17" name="Text 15"/>
          <p:cNvSpPr/>
          <p:nvPr/>
        </p:nvSpPr>
        <p:spPr>
          <a:xfrm>
            <a:off x="4756175" y="2866281"/>
            <a:ext cx="3733279" cy="186110"/>
          </a:xfrm>
          <a:prstGeom prst="rect">
            <a:avLst/>
          </a:prstGeom>
          <a:noFill/>
          <a:ln/>
        </p:spPr>
        <p:txBody>
          <a:bodyPr wrap="none" lIns="0" tIns="0" rIns="0" bIns="0" rtlCol="0" anchor="t"/>
          <a:lstStyle/>
          <a:p>
            <a:pPr marL="0" indent="0" algn="l">
              <a:lnSpc>
                <a:spcPct val="123000"/>
              </a:lnSpc>
              <a:buNone/>
            </a:pPr>
            <a:r>
              <a:rPr lang="en-US" sz="950" dirty="0">
                <a:solidFill>
                  <a:srgbClr val="432338"/>
                </a:solidFill>
                <a:latin typeface="Source Sans 3" pitchFamily="34" charset="0"/>
                <a:ea typeface="Source Sans 3" pitchFamily="34" charset="-122"/>
                <a:cs typeface="Source Sans 3" pitchFamily="34" charset="-120"/>
              </a:rPr>
              <a:t>Evidence-based model recommendations per demand behavior</a:t>
            </a:r>
            <a:endParaRPr lang="en-US" sz="950" dirty="0"/>
          </a:p>
        </p:txBody>
      </p:sp>
      <p:sp>
        <p:nvSpPr>
          <p:cNvPr id="18" name="Shape 16"/>
          <p:cNvSpPr/>
          <p:nvPr/>
        </p:nvSpPr>
        <p:spPr>
          <a:xfrm>
            <a:off x="523577" y="3289846"/>
            <a:ext cx="3995142" cy="697557"/>
          </a:xfrm>
          <a:prstGeom prst="roundRect">
            <a:avLst>
              <a:gd name="adj" fmla="val 7601"/>
            </a:avLst>
          </a:prstGeom>
          <a:solidFill>
            <a:srgbClr val="F9D2EB"/>
          </a:solidFill>
          <a:ln w="4763">
            <a:solidFill>
              <a:srgbClr val="DFB8D1"/>
            </a:solidFill>
            <a:prstDash val="solid"/>
          </a:ln>
        </p:spPr>
        <p:txBody>
          <a:bodyPr/>
          <a:lstStyle/>
          <a:p>
            <a:endParaRPr lang="en-US"/>
          </a:p>
        </p:txBody>
      </p:sp>
      <p:sp>
        <p:nvSpPr>
          <p:cNvPr id="19" name="Text 17"/>
          <p:cNvSpPr/>
          <p:nvPr/>
        </p:nvSpPr>
        <p:spPr>
          <a:xfrm>
            <a:off x="654546" y="3420814"/>
            <a:ext cx="3733205" cy="185663"/>
          </a:xfrm>
          <a:prstGeom prst="rect">
            <a:avLst/>
          </a:prstGeom>
          <a:noFill/>
          <a:ln/>
        </p:spPr>
        <p:txBody>
          <a:bodyPr wrap="none" lIns="0" tIns="0" rIns="0" bIns="0" rtlCol="0" anchor="t"/>
          <a:lstStyle/>
          <a:p>
            <a:pPr marL="0" indent="0" algn="l">
              <a:lnSpc>
                <a:spcPct val="104000"/>
              </a:lnSpc>
              <a:buNone/>
            </a:pPr>
            <a:r>
              <a:rPr lang="en-US" sz="1150" dirty="0">
                <a:solidFill>
                  <a:srgbClr val="432338"/>
                </a:solidFill>
                <a:latin typeface="Noto Serif SemiBold" pitchFamily="34" charset="0"/>
                <a:ea typeface="Noto Serif SemiBold" pitchFamily="34" charset="-122"/>
                <a:cs typeface="Noto Serif SemiBold" pitchFamily="34" charset="-120"/>
              </a:rPr>
              <a:t>Visual Analytics</a:t>
            </a:r>
            <a:endParaRPr lang="en-US" sz="1150" dirty="0"/>
          </a:p>
        </p:txBody>
      </p:sp>
      <p:sp>
        <p:nvSpPr>
          <p:cNvPr id="20" name="Text 18"/>
          <p:cNvSpPr/>
          <p:nvPr/>
        </p:nvSpPr>
        <p:spPr>
          <a:xfrm>
            <a:off x="654546" y="3670325"/>
            <a:ext cx="3733205" cy="186110"/>
          </a:xfrm>
          <a:prstGeom prst="rect">
            <a:avLst/>
          </a:prstGeom>
          <a:noFill/>
          <a:ln/>
        </p:spPr>
        <p:txBody>
          <a:bodyPr wrap="none" lIns="0" tIns="0" rIns="0" bIns="0" rtlCol="0" anchor="t"/>
          <a:lstStyle/>
          <a:p>
            <a:pPr marL="0" indent="0" algn="l">
              <a:lnSpc>
                <a:spcPct val="123000"/>
              </a:lnSpc>
              <a:buNone/>
            </a:pPr>
            <a:r>
              <a:rPr lang="en-US" sz="950" dirty="0">
                <a:solidFill>
                  <a:srgbClr val="432338"/>
                </a:solidFill>
                <a:latin typeface="Source Sans 3" pitchFamily="34" charset="0"/>
                <a:ea typeface="Source Sans 3" pitchFamily="34" charset="-122"/>
                <a:cs typeface="Source Sans 3" pitchFamily="34" charset="-120"/>
              </a:rPr>
              <a:t>Forecast plots, error comparisons, rankings</a:t>
            </a:r>
            <a:endParaRPr lang="en-US" sz="950" dirty="0"/>
          </a:p>
        </p:txBody>
      </p:sp>
      <p:sp>
        <p:nvSpPr>
          <p:cNvPr id="21" name="Shape 19"/>
          <p:cNvSpPr/>
          <p:nvPr/>
        </p:nvSpPr>
        <p:spPr>
          <a:xfrm>
            <a:off x="4625206" y="3289846"/>
            <a:ext cx="3995217" cy="697557"/>
          </a:xfrm>
          <a:prstGeom prst="roundRect">
            <a:avLst>
              <a:gd name="adj" fmla="val 7601"/>
            </a:avLst>
          </a:prstGeom>
          <a:solidFill>
            <a:srgbClr val="F9D2EB"/>
          </a:solidFill>
          <a:ln w="4763">
            <a:solidFill>
              <a:srgbClr val="DFB8D1"/>
            </a:solidFill>
            <a:prstDash val="solid"/>
          </a:ln>
        </p:spPr>
        <p:txBody>
          <a:bodyPr/>
          <a:lstStyle/>
          <a:p>
            <a:endParaRPr lang="en-US"/>
          </a:p>
        </p:txBody>
      </p:sp>
      <p:sp>
        <p:nvSpPr>
          <p:cNvPr id="22" name="Text 20"/>
          <p:cNvSpPr/>
          <p:nvPr/>
        </p:nvSpPr>
        <p:spPr>
          <a:xfrm>
            <a:off x="4756175" y="3420814"/>
            <a:ext cx="3733279" cy="185663"/>
          </a:xfrm>
          <a:prstGeom prst="rect">
            <a:avLst/>
          </a:prstGeom>
          <a:noFill/>
          <a:ln/>
        </p:spPr>
        <p:txBody>
          <a:bodyPr wrap="none" lIns="0" tIns="0" rIns="0" bIns="0" rtlCol="0" anchor="t"/>
          <a:lstStyle/>
          <a:p>
            <a:pPr marL="0" indent="0" algn="l">
              <a:lnSpc>
                <a:spcPct val="104000"/>
              </a:lnSpc>
              <a:buNone/>
            </a:pPr>
            <a:r>
              <a:rPr lang="en-US" sz="1150" dirty="0">
                <a:solidFill>
                  <a:srgbClr val="432338"/>
                </a:solidFill>
                <a:latin typeface="Noto Serif SemiBold" pitchFamily="34" charset="0"/>
                <a:ea typeface="Noto Serif SemiBold" pitchFamily="34" charset="-122"/>
                <a:cs typeface="Noto Serif SemiBold" pitchFamily="34" charset="-120"/>
              </a:rPr>
              <a:t>Final Documentation</a:t>
            </a:r>
            <a:endParaRPr lang="en-US" sz="1150" dirty="0"/>
          </a:p>
        </p:txBody>
      </p:sp>
      <p:sp>
        <p:nvSpPr>
          <p:cNvPr id="23" name="Text 21"/>
          <p:cNvSpPr/>
          <p:nvPr/>
        </p:nvSpPr>
        <p:spPr>
          <a:xfrm>
            <a:off x="4756175" y="3670325"/>
            <a:ext cx="3733279" cy="186110"/>
          </a:xfrm>
          <a:prstGeom prst="rect">
            <a:avLst/>
          </a:prstGeom>
          <a:noFill/>
          <a:ln/>
        </p:spPr>
        <p:txBody>
          <a:bodyPr wrap="none" lIns="0" tIns="0" rIns="0" bIns="0" rtlCol="0" anchor="t"/>
          <a:lstStyle/>
          <a:p>
            <a:pPr marL="0" indent="0" algn="l">
              <a:lnSpc>
                <a:spcPct val="123000"/>
              </a:lnSpc>
              <a:buNone/>
            </a:pPr>
            <a:r>
              <a:rPr lang="en-US" sz="950" dirty="0">
                <a:solidFill>
                  <a:srgbClr val="432338"/>
                </a:solidFill>
                <a:latin typeface="Source Sans 3" pitchFamily="34" charset="0"/>
                <a:ea typeface="Source Sans 3" pitchFamily="34" charset="-122"/>
                <a:cs typeface="Source Sans 3" pitchFamily="34" charset="-120"/>
              </a:rPr>
              <a:t>Methodology, results, and project report</a:t>
            </a:r>
            <a:endParaRPr lang="en-US" sz="950" dirty="0"/>
          </a:p>
        </p:txBody>
      </p:sp>
      <p:sp>
        <p:nvSpPr>
          <p:cNvPr id="24" name="Text 22"/>
          <p:cNvSpPr/>
          <p:nvPr/>
        </p:nvSpPr>
        <p:spPr>
          <a:xfrm>
            <a:off x="712887" y="4227016"/>
            <a:ext cx="7907536" cy="372219"/>
          </a:xfrm>
          <a:prstGeom prst="rect">
            <a:avLst/>
          </a:prstGeom>
          <a:noFill/>
          <a:ln/>
        </p:spPr>
        <p:txBody>
          <a:bodyPr wrap="square" lIns="0" tIns="0" rIns="0" bIns="0" rtlCol="0" anchor="t">
            <a:normAutofit/>
          </a:bodyPr>
          <a:lstStyle/>
          <a:p>
            <a:pPr marL="0" indent="0" algn="l">
              <a:lnSpc>
                <a:spcPct val="123000"/>
              </a:lnSpc>
              <a:buNone/>
            </a:pPr>
            <a:r>
              <a:rPr lang="en-US" sz="950" dirty="0">
                <a:solidFill>
                  <a:srgbClr val="432338"/>
                </a:solidFill>
                <a:latin typeface="Source Sans 3" pitchFamily="34" charset="0"/>
                <a:ea typeface="Source Sans 3" pitchFamily="34" charset="-122"/>
                <a:cs typeface="Source Sans 3" pitchFamily="34" charset="-120"/>
              </a:rPr>
              <a:t>"Rather than identifying one universally best forecasting model, the project aims to provide evidence-based insights into which established forecasting approaches are more suitable for different demand behaviors."</a:t>
            </a:r>
            <a:endParaRPr lang="en-US" sz="950" dirty="0"/>
          </a:p>
        </p:txBody>
      </p:sp>
      <p:sp>
        <p:nvSpPr>
          <p:cNvPr id="25" name="Shape 23"/>
          <p:cNvSpPr/>
          <p:nvPr/>
        </p:nvSpPr>
        <p:spPr>
          <a:xfrm>
            <a:off x="523577" y="4107210"/>
            <a:ext cx="14288" cy="611832"/>
          </a:xfrm>
          <a:prstGeom prst="roundRect">
            <a:avLst>
              <a:gd name="adj" fmla="val 49998"/>
            </a:avLst>
          </a:prstGeom>
          <a:solidFill>
            <a:srgbClr val="E851B2"/>
          </a:solidFill>
          <a:ln/>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TotalTime>
  <Words>1038</Words>
  <Application>Microsoft Macintosh PowerPoint</Application>
  <PresentationFormat>On-screen Show (16:9)</PresentationFormat>
  <Paragraphs>149</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Noto Serif SemiBold</vt:lpstr>
      <vt:lpstr>Source Sans 3</vt:lpstr>
      <vt:lpstr>Source Sans 3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Srinivas Nekkanti</cp:lastModifiedBy>
  <cp:revision>4</cp:revision>
  <dcterms:created xsi:type="dcterms:W3CDTF">2026-08-13T08:15:43Z</dcterms:created>
  <dcterms:modified xsi:type="dcterms:W3CDTF">2026-08-13T08:29:13Z</dcterms:modified>
</cp:coreProperties>
</file>