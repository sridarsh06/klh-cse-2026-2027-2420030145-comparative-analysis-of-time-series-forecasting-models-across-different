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Sans" panose="020B0503050203000203" pitchFamily="34" charset="0"/>
      <p:regular r:id="rId13"/>
      <p:bold r:id="rId14"/>
    </p:embeddedFont>
    <p:embeddedFont>
      <p:font typeface="IBM Plex Sans Bold" panose="020B0803050203000203" charset="0"/>
      <p:regular r:id="rId15"/>
      <p:bold r:id="rId16"/>
    </p:embeddedFont>
    <p:embeddedFont>
      <p:font typeface="IBM Plex Sans Condensed SemiBold" panose="020B0604020202020204" charset="0"/>
      <p:regular r:id="rId17"/>
      <p:bold r:id="rId18"/>
    </p:embeddedFont>
    <p:embeddedFont>
      <p:font typeface="IBM Plex Sans SemiBold" panose="020B0703050203000203" pitchFamily="34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72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34199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PRE-READ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PROJECT REVIEW · 02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0" spc="204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COMPARATIVE ANALYSIS OF TIME SERIES FORECASTING MODELS ACROSS DIFFERENT DEMAND CHARACTERISTICS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33387" y="2233613"/>
            <a:ext cx="11124922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TimeSeriesLab — an interactive, reproducible framework for temporal feature engineering, feature selection, and comparative forecasting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33387" y="2978348"/>
            <a:ext cx="3671200" cy="57150"/>
          </a:xfrm>
          <a:prstGeom prst="roundRect">
            <a:avLst>
              <a:gd name="adj" fmla="val 49999"/>
            </a:avLst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3387" y="3237111"/>
            <a:ext cx="3505112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1981" y="3465711"/>
            <a:ext cx="32765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OBSERVED SIGNAL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1981" y="3889673"/>
            <a:ext cx="304792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Demand history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81" y="4309963"/>
            <a:ext cx="3047924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Analytics · Time Series Forecasting · Demand Analytics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43291" y="3237111"/>
            <a:ext cx="3505112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1886" y="3465711"/>
            <a:ext cx="32765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ENGINEERED FEATURES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1886" y="3889673"/>
            <a:ext cx="304792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Temporal structure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1886" y="4309963"/>
            <a:ext cx="3047924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Lags, rolling statistics, calendar, change, and seasonal features.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153196" y="3237111"/>
            <a:ext cx="3505112" cy="2116138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81790" y="3465711"/>
            <a:ext cx="32765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FORECAST BAND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1790" y="3889673"/>
            <a:ext cx="304792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Comparable evidence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1790" y="4309963"/>
            <a:ext cx="3047924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Forecasting configurations evaluated through one reproducible path.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3387" y="5929610"/>
            <a:ext cx="11658308" cy="379512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50" b="1" dirty="0">
                <a:solidFill>
                  <a:srgbClr val="25384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RESEARCH FOCUS: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How temporal feature selection behaves across different demand characteristics.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27165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DIFFERENT DEMAND CHARACTERISTICS MAKE FAIR FORECASTING COMPARISON DIFFICULT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33387" y="1730573"/>
            <a:ext cx="5410065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981" y="1959173"/>
            <a:ext cx="5181470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BEHAVIOR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1981" y="2383135"/>
            <a:ext cx="495287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Multiple patterns coexist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1981" y="2803426"/>
            <a:ext cx="4952876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Trend, seasonality, high variability, intermittency, and zero-demand periods can coexist across series.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48244" y="1730573"/>
            <a:ext cx="5410065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6838" y="1959173"/>
            <a:ext cx="5181470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LIMITATION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76838" y="2383135"/>
            <a:ext cx="495287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Comparisons change the rules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6838" y="2803426"/>
            <a:ext cx="4952876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 comparisons vary in datasets, preprocessing, feature construction, evaluation protocols, and feature-selection procedures.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33387" y="4151511"/>
            <a:ext cx="11124922" cy="1370310"/>
          </a:xfrm>
          <a:prstGeom prst="rect">
            <a:avLst/>
          </a:prstGeom>
          <a:solidFill>
            <a:srgbClr val="E1E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1981" y="4380111"/>
            <a:ext cx="10896327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GAP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1981" y="4750098"/>
            <a:ext cx="1066773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transparent, reproducible framework is needed</a:t>
            </a: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apply one common experimental procedure across demand-oriented time series while explicitly evaluating temporal feature selection.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33387" y="5775127"/>
            <a:ext cx="11124922" cy="6350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3387" y="5883077"/>
            <a:ext cx="11124922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50" b="1" dirty="0">
                <a:solidFill>
                  <a:srgbClr val="25384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RESEARCH QUESTION: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How does temporal feature selection affect forecasting performance across different demand characteristics?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2484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RESEARCH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RESEARCH QUESTIONS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TIMESERIESLAB TURNS THE RESEARCH GAP INTO TESTABLE QUESTIONS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33387" y="1730573"/>
            <a:ext cx="4978275" cy="4422775"/>
          </a:xfrm>
          <a:prstGeom prst="roundRect">
            <a:avLst>
              <a:gd name="adj" fmla="val 258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981" y="1959173"/>
            <a:ext cx="4521087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FRAMEWORK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981" y="2319536"/>
            <a:ext cx="4521087" cy="1086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benchmark datasets and user-uploaded tabular data, automatically identify schema and temporal frequency, generate frequency-aware features, and compare forecasting configurations.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1981" y="3551833"/>
            <a:ext cx="1491816" cy="31651"/>
          </a:xfrm>
          <a:prstGeom prst="roundRect">
            <a:avLst>
              <a:gd name="adj" fmla="val 49998"/>
            </a:avLst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1981" y="3783608"/>
            <a:ext cx="4521087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EVALUATION 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1981" y="4143970"/>
            <a:ext cx="4521087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 feature selection using training data only, then analyze whether its effect varies by dataset and series.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68751" y="1730573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7346" y="1959173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2118" y="2032992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839970" y="2013942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How does feature selection affect forecasting performance?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68751" y="2874367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7346" y="3102967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2118" y="3176786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839970" y="3157736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How does model performance vary across different demand characteristics?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8751" y="4018161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97346" y="4246761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2118" y="4320580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839970" y="4301530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Does the effect of feature selection depend on the dataset or series?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68751" y="5161955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7346" y="5390555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2118" y="5464373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839970" y="5445323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Can one common evaluation framework provide a transparent basis for comparison?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31481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SYSTEM SEPARATES INTERFACE, APPLICATION LOGIC, ML EXECUTION, AND RESEARCH OUTPUTS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494036"/>
          <a:ext cx="5410064" cy="4558094"/>
        </p:xfrm>
        <a:graphic>
          <a:graphicData uri="http://schemas.openxmlformats.org/drawingml/2006/table">
            <a:tbl>
              <a:tblPr/>
              <a:tblGrid>
                <a:gridCol w="162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1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1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Users &amp; sources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Student · Researcher · Analyst · M5 Forecasting – Accuracy · Tourism Forecasting · NN5 · Electricity · Dominick Sales · generic CSV/Excel upload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1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2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TimeSeriesLab Streamlit application: Dashboard · Data Upload · Explore Data · Feature Engineering · Feature Selection · Forecasting · Model Comparison · Research Insights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51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3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Application logic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Loader → Schema Detection → Preprocessing → Frequency Detection → Demand Characterization → Feature Engineering → Feature Selection → Forecasting → Evaluation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494036"/>
          <a:ext cx="5410064" cy="3743430"/>
        </p:xfrm>
        <a:graphic>
          <a:graphicData uri="http://schemas.openxmlformats.org/drawingml/2006/table">
            <a:tbl>
              <a:tblPr/>
              <a:tblGrid>
                <a:gridCol w="162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1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4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engine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Validation → frequency-aware features → chronological train/validation/test split → training-only feature selection → five forecasting configurations → evaluation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5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&amp; results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Raw · Processed · Feature · Selected Feature datasets · Predictions · Metrics · Visualizations · Research Insights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3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6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plots · model comparison · feature importance · feature-selection impact · insights · downloadable CSV/Excel results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33387" y="6204645"/>
            <a:ext cx="1165830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 RAIL · Python · Streamlit · Pandas · NumPy · Scikit-learn · Plotly/Matplotlib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68945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65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3387" y="736104"/>
            <a:ext cx="11124922" cy="7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50" kern="0" spc="16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METHODOLOGY CREATES ONE AUDITABLE PATH FROM RAW DATA TO COMPARISON</a:t>
            </a:r>
            <a:endParaRPr lang="en-US" sz="2650" dirty="0"/>
          </a:p>
        </p:txBody>
      </p:sp>
      <p:sp>
        <p:nvSpPr>
          <p:cNvPr id="7" name="Shape 5"/>
          <p:cNvSpPr/>
          <p:nvPr/>
        </p:nvSpPr>
        <p:spPr>
          <a:xfrm>
            <a:off x="533387" y="1571327"/>
            <a:ext cx="1777956" cy="1900436"/>
          </a:xfrm>
          <a:prstGeom prst="roundRect">
            <a:avLst>
              <a:gd name="adj" fmla="val 64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1981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5542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1981" y="2160290"/>
            <a:ext cx="1320767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1981" y="2467868"/>
            <a:ext cx="154936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3738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92333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5894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92333" y="2160290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Schema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2333" y="2680593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 · Target · Series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7892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46486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40047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46486" y="2160290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46486" y="2680593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· duplicates · numeric target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046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640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4201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640" y="2160290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Series Selection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640" y="2680593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Series under study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26199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54793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48354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54793" y="2160290"/>
            <a:ext cx="124456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Demand Characterization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54793" y="2893318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 · seasonality · variability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80353" y="1571327"/>
            <a:ext cx="1777956" cy="1900436"/>
          </a:xfrm>
          <a:prstGeom prst="roundRect">
            <a:avLst>
              <a:gd name="adj" fmla="val 64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08947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202508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108947" y="2160290"/>
            <a:ext cx="132076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Frequency Detection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108947" y="2680593"/>
            <a:ext cx="154936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Temporal cadence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3387" y="3624163"/>
            <a:ext cx="1777956" cy="1900436"/>
          </a:xfrm>
          <a:prstGeom prst="roundRect">
            <a:avLst>
              <a:gd name="adj" fmla="val 64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1981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5542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07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61981" y="4213126"/>
            <a:ext cx="132076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Temporal Feature Engineering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1981" y="4946154"/>
            <a:ext cx="1320767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Lags · rolling · calendar · change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3738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92333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85894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2692333" y="4213126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Chronological Split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692333" y="4733429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 → future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17892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46486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40047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09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4546486" y="4213126"/>
            <a:ext cx="124456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Training-Only Feature Selection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46486" y="4946154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 + RF importance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046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00640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94201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10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6400640" y="4213126"/>
            <a:ext cx="1244569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400640" y="4520704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configurations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26199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254793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348354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11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254793" y="4213126"/>
            <a:ext cx="1244569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254793" y="4520704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· RMSE · sMAPE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880353" y="3624163"/>
            <a:ext cx="1777956" cy="1900436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108947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202508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12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0108947" y="4213126"/>
            <a:ext cx="132076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Comparative Analysis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0108947" y="4733429"/>
            <a:ext cx="1320767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 × Series × Model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33387" y="5644455"/>
            <a:ext cx="3606710" cy="1216521"/>
          </a:xfrm>
          <a:prstGeom prst="roundRect">
            <a:avLst>
              <a:gd name="adj" fmla="val 9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61981" y="5873055"/>
            <a:ext cx="3378115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INFORMATION BLOCKED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761981" y="6177756"/>
            <a:ext cx="314952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Chronological split and training-only feature selection prevent test leakage.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4292493" y="5644455"/>
            <a:ext cx="3606710" cy="1216521"/>
          </a:xfrm>
          <a:prstGeom prst="roundRect">
            <a:avLst>
              <a:gd name="adj" fmla="val 9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521087" y="5873055"/>
            <a:ext cx="3378115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 PRODUCED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4521087" y="6177756"/>
            <a:ext cx="314952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MAE, RMSE, and sMAPE support comparable evaluation.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8051599" y="5644455"/>
            <a:ext cx="3606710" cy="1216521"/>
          </a:xfrm>
          <a:prstGeom prst="roundRect">
            <a:avLst>
              <a:gd name="adj" fmla="val 9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280193" y="5873055"/>
            <a:ext cx="3378115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8280193" y="6177756"/>
            <a:ext cx="314952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transformation remains visible from raw data to comparison.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31302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FEATURE ENGINEERING ADAPTS TO FREQUENCY, WHILE SELECTION STAYS LEAKAGE-SAFE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3387" y="1959173"/>
            <a:ext cx="64920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FREQUENCY-AWARE FEATURES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33387" y="2329160"/>
            <a:ext cx="31697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1981" y="2557760"/>
            <a:ext cx="2712573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Lags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981" y="2918123"/>
            <a:ext cx="271257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lag_1 · lag_7 · lag_14 · lag_28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55544" y="2329160"/>
            <a:ext cx="31698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84138" y="2557760"/>
            <a:ext cx="2712672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Rolling statistics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84138" y="2918123"/>
            <a:ext cx="294126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rolling_mean · rolling_std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33387" y="3842246"/>
            <a:ext cx="31697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1981" y="4070846"/>
            <a:ext cx="2712573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981" y="4431209"/>
            <a:ext cx="271257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day_of_week · month · week_of_year · is_weekend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55544" y="3842246"/>
            <a:ext cx="31698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84138" y="4070846"/>
            <a:ext cx="2712672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Change / 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84138" y="4431209"/>
            <a:ext cx="2712672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features and seasonal lag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3387" y="5301357"/>
            <a:ext cx="6492018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1150" kern="0" spc="11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 adapts to detected frequency and available history. Short-series features are skipped when history is insufficient.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64738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Selection path:</a:t>
            </a:r>
            <a:r>
              <a:rPr lang="en-US" sz="1150" kern="0" spc="11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Candidate Features → Correlation Filtering → Random Forest Feature Importance → Top-N Selected Features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30098" y="1730573"/>
            <a:ext cx="4328210" cy="4686399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58692" y="2393950"/>
            <a:ext cx="409961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GUARDRAIL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58692" y="2817912"/>
            <a:ext cx="3871022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0" spc="204" dirty="0">
                <a:solidFill>
                  <a:srgbClr val="FFFFFF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FEATURE SELECTION USES TRAINING DATA ONLY.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558692" y="4938812"/>
            <a:ext cx="3871022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TEST DATA</a:t>
            </a:r>
            <a:endParaRPr lang="en-US" sz="15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FUTURE INFORMATION</a:t>
            </a:r>
            <a:endParaRPr lang="en-US" sz="15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RANDOM SHUFFLING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30935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67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DESIGN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3387" y="741363"/>
            <a:ext cx="11124922" cy="7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700" kern="0" spc="163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EXPERIMENT COMPARES FIVE CONFIGURATIONS UNDER ONE CHRONOLOGICAL PROTOCOL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3387" y="1824831"/>
            <a:ext cx="6492018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2139454"/>
          <a:ext cx="6492018" cy="2993059"/>
        </p:xfrm>
        <a:graphic>
          <a:graphicData uri="http://schemas.openxmlformats.org/drawingml/2006/table">
            <a:tbl>
              <a:tblPr/>
              <a:tblGrid>
                <a:gridCol w="1558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Configuration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Definition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Naive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 forecast.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Seasonal Naive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Seasonal baseline forecast.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— Basic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 with basic features.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— All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 with all generated features.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— Selected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 after training-only selection.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30098" y="1596231"/>
            <a:ext cx="4328210" cy="3764955"/>
          </a:xfrm>
          <a:prstGeom prst="roundRect">
            <a:avLst>
              <a:gd name="adj" fmla="val 304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58692" y="1824831"/>
            <a:ext cx="3871022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CHRONOLOGICAL TRAIN-VALIDATION-TEST SPLIT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58692" y="2417663"/>
            <a:ext cx="3871022" cy="3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100" kern="0" spc="185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70% · 15% · 15%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7558692" y="2946102"/>
            <a:ext cx="409961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· validation · test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58692" y="3305175"/>
            <a:ext cx="2593513" cy="38100"/>
          </a:xfrm>
          <a:prstGeom prst="roundRect">
            <a:avLst>
              <a:gd name="adj" fmla="val 49999"/>
            </a:avLst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58692" y="3468291"/>
            <a:ext cx="3871022" cy="93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 → future. No random shuffling. Test remains unseen during model development. The same protocol is applied across models. Random Forest configuration is deterministic.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3387" y="5485904"/>
            <a:ext cx="3606710" cy="1358503"/>
          </a:xfrm>
          <a:prstGeom prst="roundRect">
            <a:avLst>
              <a:gd name="adj" fmla="val 841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1981" y="5714504"/>
            <a:ext cx="3378115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EXPERIMENTAL MATRIX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1981" y="6073279"/>
            <a:ext cx="3149521" cy="542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Dataset × Series × Model × Metric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292493" y="5485904"/>
            <a:ext cx="3606710" cy="1358503"/>
          </a:xfrm>
          <a:prstGeom prst="roundRect">
            <a:avLst>
              <a:gd name="adj" fmla="val 841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21087" y="5714504"/>
            <a:ext cx="3378115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21087" y="6073279"/>
            <a:ext cx="3149521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MAE · RMSE · sMAPE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051599" y="5485904"/>
            <a:ext cx="3606710" cy="1358503"/>
          </a:xfrm>
          <a:prstGeom prst="rect">
            <a:avLst/>
          </a:prstGeom>
          <a:solidFill>
            <a:srgbClr val="E1E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80193" y="5714504"/>
            <a:ext cx="3378115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80193" y="6073279"/>
            <a:ext cx="3149521" cy="542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kern="0" spc="-9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results pending final execution.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72279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CONTRIBUTION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6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387" y="726083"/>
            <a:ext cx="11124922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550" kern="0" spc="153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CONTRIBUTION IS METHODOLOGICAL AND EMPIRICAL, NOT A NEW FORECASTING ALGORITHM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33387" y="1523305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981" y="1751905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981" y="2076847"/>
            <a:ext cx="3174921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Frequency-aware feature engineering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1981" y="2674938"/>
            <a:ext cx="3174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features adapt to temporal frequency and available history.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7892" y="1523305"/>
            <a:ext cx="3555911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6486" y="1751905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6486" y="2076847"/>
            <a:ext cx="3098722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Leakage-safe feature selection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6486" y="2419648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 is restricted to training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26199" y="1523305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54793" y="1751905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54793" y="2076847"/>
            <a:ext cx="3174921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Demand-characteristic analysis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54793" y="2419648"/>
            <a:ext cx="317492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Trend, seasonality, variability, intermittency, and zero-demand behavior are characterized explicitly.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3387" y="3484563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1981" y="3713163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1981" y="4038104"/>
            <a:ext cx="3174921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Common comparative protocol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1981" y="4380905"/>
            <a:ext cx="3174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chronological evaluation and metric set across configurations.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7892" y="3484563"/>
            <a:ext cx="3555911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6486" y="3713163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6486" y="4038104"/>
            <a:ext cx="3098722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Feature-selection impact analysis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46486" y="4636195"/>
            <a:ext cx="30987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 RF Basic vs RF All Features vs RF Selected Features comparison.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26199" y="3484563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54793" y="3713163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54793" y="4038104"/>
            <a:ext cx="3174921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Reproducible interactive framework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54793" y="4636195"/>
            <a:ext cx="3174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 → Features → Selection → Forecasting → Evaluation → Insights.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3387" y="5404049"/>
            <a:ext cx="10896327" cy="1353146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1981" y="5632648"/>
            <a:ext cx="1066773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SERIES FORECASTING + FEATURE SELECTION + DEMAND CHARACTERISTICS</a:t>
            </a:r>
            <a:endParaRPr lang="en-US" sz="1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CONTRIBUTION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1981" y="6204148"/>
            <a:ext cx="1066773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reproducible, leakage-aware, frequency-aware framework for empirically evaluating the effect of temporal feature selection on time-series forecasting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89899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457200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IMPLEMENTATION IS ORGANIZED AROUND INSPECTABLE RESEARCH OUTPUTS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3387" y="1417836"/>
            <a:ext cx="4267093" cy="4451052"/>
          </a:xfrm>
          <a:prstGeom prst="roundRect">
            <a:avLst>
              <a:gd name="adj" fmla="val 268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981" y="1646436"/>
            <a:ext cx="4038499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STACK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016423"/>
            <a:ext cx="393690" cy="393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1981" y="2508548"/>
            <a:ext cx="119377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Streamlit frontend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147" y="2016423"/>
            <a:ext cx="393690" cy="393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8147" y="2508548"/>
            <a:ext cx="1117572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Python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115" y="2016423"/>
            <a:ext cx="393690" cy="393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78115" y="2508548"/>
            <a:ext cx="119377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Pandas / NumPy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140373"/>
            <a:ext cx="393690" cy="3937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1981" y="3632498"/>
            <a:ext cx="1193770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Scikit-learn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147" y="3140373"/>
            <a:ext cx="393690" cy="3937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08147" y="3632498"/>
            <a:ext cx="1117572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Plotly / Matplotlib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8115" y="3140373"/>
            <a:ext cx="393690" cy="3937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378115" y="3632498"/>
            <a:ext cx="119377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CSV / Excel handling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257569" y="1417836"/>
            <a:ext cx="6350" cy="4451052"/>
          </a:xfrm>
          <a:prstGeom prst="rect">
            <a:avLst/>
          </a:prstGeom>
          <a:solidFill>
            <a:srgbClr val="C8D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5492513" y="1519436"/>
            <a:ext cx="6165795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 LEDGER</a:t>
            </a:r>
            <a:endParaRPr lang="en-US" sz="15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2513" y="1889423"/>
          <a:ext cx="6013399" cy="3855149"/>
        </p:xfrm>
        <a:graphic>
          <a:graphicData uri="http://schemas.openxmlformats.org/drawingml/2006/table">
            <a:tbl>
              <a:tblPr/>
              <a:tblGrid>
                <a:gridCol w="204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 family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Inspectable artifact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Dataset overview and time-series visualization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Generated temporal features; selected features + importance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vs predicted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Evaluation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MAE / RMSE / sMAPE comparison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Research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Observed feature-selection impact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Downloads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Predictions, metrics, and feature importance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14"/>
          <p:cNvSpPr/>
          <p:nvPr/>
        </p:nvSpPr>
        <p:spPr>
          <a:xfrm>
            <a:off x="533387" y="6021288"/>
            <a:ext cx="11124922" cy="6350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5"/>
          <p:cNvSpPr/>
          <p:nvPr/>
        </p:nvSpPr>
        <p:spPr>
          <a:xfrm>
            <a:off x="533387" y="6129238"/>
            <a:ext cx="11124922" cy="728762"/>
          </a:xfrm>
          <a:prstGeom prst="rect">
            <a:avLst/>
          </a:prstGeom>
          <a:solidFill>
            <a:srgbClr val="E1E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6"/>
          <p:cNvSpPr/>
          <p:nvPr/>
        </p:nvSpPr>
        <p:spPr>
          <a:xfrm>
            <a:off x="761981" y="6357838"/>
            <a:ext cx="10896327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STATUS:</a:t>
            </a: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Core architecture implemented; final integration and experimental validation in progress.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82637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REVIEW-2 CLOSE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REVIEW-2 CLOSE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REVIEW-2 CLOSES WITH INTEGRATION, EXPERIMENTS, AND THE RESEARCH PAPER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3387" y="1730573"/>
            <a:ext cx="685276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STATUS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3387" y="2100560"/>
            <a:ext cx="6852768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 designed; generic dataset workflow defined; schema detection designed; frequency-aware feature engineering implemented/planned; leakage-safe feature selection defined; five-model comparison framework defined; Streamlit research interface developed; testing and integration in progress.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387" y="3145135"/>
            <a:ext cx="685276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REVIEW-2 DEMONSTRATION PATH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3387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8398" y="3515122"/>
            <a:ext cx="1321958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Dataset Upload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22752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637764" y="3515122"/>
            <a:ext cx="1245759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Schema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35919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350931" y="3515122"/>
            <a:ext cx="1283859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87186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102197" y="3515122"/>
            <a:ext cx="1283958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3387" y="4081066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8398" y="4087019"/>
            <a:ext cx="1321958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22752" y="4081066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6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637764" y="4087019"/>
            <a:ext cx="1245759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35919" y="4081066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7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350931" y="4087019"/>
            <a:ext cx="3035224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Research Insights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90848" y="1730573"/>
            <a:ext cx="6350" cy="3697089"/>
          </a:xfrm>
          <a:prstGeom prst="rect">
            <a:avLst/>
          </a:prstGeom>
          <a:solidFill>
            <a:srgbClr val="C8D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25792" y="1832173"/>
            <a:ext cx="373251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 STRUCTURE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25792" y="2202160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92050" y="2202160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25792" y="2549327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92050" y="2549327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25792" y="2896493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92050" y="2896493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25792" y="3243659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92050" y="3243659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25792" y="3536851"/>
            <a:ext cx="373251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925792" y="3906838"/>
            <a:ext cx="358012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integration testing · execute benchmark experiments · collect actual MAE/RMSE/sMAPE · analyze feature-selection impact · complete the research paper · finalize GitHub repository · prepare final report and demonstration video.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33387" y="5580063"/>
            <a:ext cx="11124922" cy="6350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3387" y="5688012"/>
            <a:ext cx="11124922" cy="1000323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1981" y="5916613"/>
            <a:ext cx="1066773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From a forecasting application to a reproducible experimental framework for understanding the role of temporal feature selection.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Microsoft Office PowerPoint</Application>
  <PresentationFormat>Widescreen</PresentationFormat>
  <Paragraphs>253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IBM Plex Sans Condensed SemiBold</vt:lpstr>
      <vt:lpstr>IBM Plex Sans SemiBold</vt:lpstr>
      <vt:lpstr>Arial</vt:lpstr>
      <vt:lpstr>IBM Plex Sans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sridarsh jangala</dc:creator>
  <cp:lastModifiedBy>sridarsh jangala</cp:lastModifiedBy>
  <cp:revision>2</cp:revision>
  <dcterms:created xsi:type="dcterms:W3CDTF">2026-09-21T04:39:41Z</dcterms:created>
  <dcterms:modified xsi:type="dcterms:W3CDTF">2026-09-21T05:26:36Z</dcterms:modified>
</cp:coreProperties>
</file>