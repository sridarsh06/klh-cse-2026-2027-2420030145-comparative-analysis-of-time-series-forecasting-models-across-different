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IBM Plex Sans" panose="020B0503050203000203" pitchFamily="34" charset="0"/>
      <p:regular r:id="rId13"/>
      <p:bold r:id="rId14"/>
    </p:embeddedFont>
    <p:embeddedFont>
      <p:font typeface="IBM Plex Sans Bold" panose="020B0503050203000203" pitchFamily="34" charset="0"/>
      <p:regular r:id="rId15"/>
      <p:bold r:id="rId16"/>
    </p:embeddedFont>
    <p:embeddedFont>
      <p:font typeface="IBM Plex Sans Condensed SemiBold" panose="020B0706050203000203" pitchFamily="34" charset="77"/>
      <p:regular r:id="rId17"/>
      <p:bold r:id="rId18"/>
    </p:embeddedFont>
    <p:embeddedFont>
      <p:font typeface="IBM Plex Sans SemiBold" panose="020B0703050203000203" pitchFamily="34" charset="0"/>
      <p:regular r:id="rId19"/>
      <p:bold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08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8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0722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DE3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0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45256"/>
            <a:ext cx="1341999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0" spc="73" dirty="0">
                <a:solidFill>
                  <a:srgbClr val="25384C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PRE-READ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378915" y="100806"/>
            <a:ext cx="355591" cy="255587"/>
          </a:xfrm>
          <a:prstGeom prst="rect">
            <a:avLst/>
          </a:prstGeom>
          <a:noFill/>
          <a:ln/>
        </p:spPr>
        <p:txBody>
          <a:bodyPr wrap="square" lIns="63498" tIns="38099" rIns="63498" bIns="38099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kern="0" spc="73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01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0" y="447675"/>
            <a:ext cx="12191695" cy="9525"/>
          </a:xfrm>
          <a:prstGeom prst="rect">
            <a:avLst/>
          </a:prstGeom>
          <a:solidFill>
            <a:srgbClr val="25384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3387" y="533400"/>
            <a:ext cx="11658308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0" spc="73" dirty="0">
                <a:solidFill>
                  <a:srgbClr val="647386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PROJECT REVIEW · 02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33387" y="769938"/>
            <a:ext cx="11124922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kern="0" spc="204" dirty="0">
                <a:solidFill>
                  <a:srgbClr val="13263D"/>
                </a:solidFill>
                <a:latin typeface="IBM Plex Sans Condensed SemiBold" pitchFamily="34" charset="0"/>
                <a:ea typeface="IBM Plex Sans Condensed SemiBold" pitchFamily="34" charset="-122"/>
                <a:cs typeface="IBM Plex Sans Condensed SemiBold" pitchFamily="34" charset="-120"/>
              </a:rPr>
              <a:t>COMPARATIVE ANALYSIS OF TIME SERIES FORECASTING MODELS ACROSS DIFFERENT DEMAND CHARACTERISTICS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33387" y="2233613"/>
            <a:ext cx="11124922" cy="543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TimeSeriesLab — an interactive, reproducible framework for temporal feature engineering, feature selection, and comparative forecasting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33387" y="2978348"/>
            <a:ext cx="3671200" cy="57150"/>
          </a:xfrm>
          <a:prstGeom prst="roundRect">
            <a:avLst>
              <a:gd name="adj" fmla="val 49999"/>
            </a:avLst>
          </a:prstGeom>
          <a:solidFill>
            <a:srgbClr val="132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33387" y="3237111"/>
            <a:ext cx="3505112" cy="2116138"/>
          </a:xfrm>
          <a:prstGeom prst="roundRect">
            <a:avLst>
              <a:gd name="adj" fmla="val 540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61981" y="3465711"/>
            <a:ext cx="3276518" cy="271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OBSERVED SIGNAL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61981" y="3889673"/>
            <a:ext cx="3047924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000" kern="0" spc="-10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Demand history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61981" y="4309963"/>
            <a:ext cx="3047924" cy="543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Analytics · Time Series Forecasting · Demand Analytics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4343291" y="3237111"/>
            <a:ext cx="3505112" cy="2116138"/>
          </a:xfrm>
          <a:prstGeom prst="roundRect">
            <a:avLst>
              <a:gd name="adj" fmla="val 540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1886" y="3465711"/>
            <a:ext cx="3276518" cy="271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ENGINEERED FEATURES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571886" y="3889673"/>
            <a:ext cx="3047924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000" kern="0" spc="-10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Temporal structure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1886" y="4309963"/>
            <a:ext cx="3047924" cy="543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Lags, rolling statistics, calendar, change, and seasonal features.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8153196" y="3237111"/>
            <a:ext cx="3505112" cy="2116138"/>
          </a:xfrm>
          <a:prstGeom prst="rect">
            <a:avLst/>
          </a:prstGeom>
          <a:solidFill>
            <a:srgbClr val="132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81790" y="3465711"/>
            <a:ext cx="3276518" cy="271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FORECAST BAND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381790" y="3889673"/>
            <a:ext cx="3047924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000" kern="0" spc="-1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Comparable evidence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81790" y="4309963"/>
            <a:ext cx="3047924" cy="814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Forecasting configurations evaluated through one reproducible path.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533387" y="5929610"/>
            <a:ext cx="11658308" cy="379512"/>
          </a:xfrm>
          <a:prstGeom prst="rect">
            <a:avLst/>
          </a:prstGeom>
          <a:noFill/>
          <a:ln/>
        </p:spPr>
        <p:txBody>
          <a:bodyPr wrap="none" lIns="0" tIns="101598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1326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■</a:t>
            </a:r>
            <a:r>
              <a:rPr lang="en-US" sz="15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550" b="1" dirty="0">
                <a:solidFill>
                  <a:srgbClr val="25384C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RESEARCH FOCUS:</a:t>
            </a:r>
            <a:r>
              <a:rPr lang="en-US" sz="15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How temporal feature selection behaves across different demand characteristics.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45256"/>
            <a:ext cx="1271655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0" spc="73" dirty="0">
                <a:solidFill>
                  <a:srgbClr val="25384C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CONTEXT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378915" y="100806"/>
            <a:ext cx="355591" cy="255587"/>
          </a:xfrm>
          <a:prstGeom prst="rect">
            <a:avLst/>
          </a:prstGeom>
          <a:noFill/>
          <a:ln/>
        </p:spPr>
        <p:txBody>
          <a:bodyPr wrap="square" lIns="63498" tIns="38099" rIns="63498" bIns="38099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kern="0" spc="73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02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0" y="447675"/>
            <a:ext cx="12191695" cy="9525"/>
          </a:xfrm>
          <a:prstGeom prst="rect">
            <a:avLst/>
          </a:prstGeom>
          <a:solidFill>
            <a:srgbClr val="25384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3387" y="533400"/>
            <a:ext cx="11658308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0" spc="73" dirty="0">
                <a:solidFill>
                  <a:srgbClr val="647386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CONTEXT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33387" y="769938"/>
            <a:ext cx="11124922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000" kern="0" spc="180" dirty="0">
                <a:solidFill>
                  <a:srgbClr val="13263D"/>
                </a:solidFill>
                <a:latin typeface="IBM Plex Sans Condensed SemiBold" pitchFamily="34" charset="0"/>
                <a:ea typeface="IBM Plex Sans Condensed SemiBold" pitchFamily="34" charset="-122"/>
                <a:cs typeface="IBM Plex Sans Condensed SemiBold" pitchFamily="34" charset="-120"/>
              </a:rPr>
              <a:t>DIFFERENT DEMAND CHARACTERISTICS MAKE FAIR FORECASTING COMPARISON DIFFICULT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33387" y="1730573"/>
            <a:ext cx="5410065" cy="2116138"/>
          </a:xfrm>
          <a:prstGeom prst="roundRect">
            <a:avLst>
              <a:gd name="adj" fmla="val 540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61981" y="1959173"/>
            <a:ext cx="5181470" cy="271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DEMAND BEHAVIOR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61981" y="2383135"/>
            <a:ext cx="4952876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000" kern="0" spc="-10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Multiple patterns coexist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61981" y="2803426"/>
            <a:ext cx="4952876" cy="543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Trend, seasonality, high variability, intermittency, and zero-demand periods can coexist across series.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248244" y="1730573"/>
            <a:ext cx="5410065" cy="2116138"/>
          </a:xfrm>
          <a:prstGeom prst="roundRect">
            <a:avLst>
              <a:gd name="adj" fmla="val 540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76838" y="1959173"/>
            <a:ext cx="5181470" cy="271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EXISTING LIMITATION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476838" y="2383135"/>
            <a:ext cx="4952876" cy="299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2000" kern="0" spc="-10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Comparisons change the rules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76838" y="2803426"/>
            <a:ext cx="4952876" cy="814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Prior comparisons vary in datasets, preprocessing, feature construction, evaluation protocols, and feature-selection procedures.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533387" y="4151511"/>
            <a:ext cx="11124922" cy="1370310"/>
          </a:xfrm>
          <a:prstGeom prst="rect">
            <a:avLst/>
          </a:prstGeom>
          <a:solidFill>
            <a:srgbClr val="E1EB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1981" y="4380111"/>
            <a:ext cx="10896327" cy="271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RESEARCH GAP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61981" y="4750098"/>
            <a:ext cx="10667733" cy="543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 transparent, reproducible framework is needed</a:t>
            </a: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to apply one common experimental procedure across demand-oriented time series while explicitly evaluating temporal feature selection.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533387" y="5775127"/>
            <a:ext cx="11124922" cy="6350"/>
          </a:xfrm>
          <a:prstGeom prst="rect">
            <a:avLst/>
          </a:prstGeom>
          <a:solidFill>
            <a:srgbClr val="132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3387" y="5883077"/>
            <a:ext cx="11124922" cy="543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1326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■</a:t>
            </a:r>
            <a:r>
              <a:rPr lang="en-US" sz="15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550" b="1" dirty="0">
                <a:solidFill>
                  <a:srgbClr val="25384C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RESEARCH QUESTION:</a:t>
            </a:r>
            <a:r>
              <a:rPr lang="en-US" sz="15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How does temporal feature selection affect forecasting performance across different demand characteristics?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45256"/>
            <a:ext cx="2248439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0" spc="73" dirty="0">
                <a:solidFill>
                  <a:srgbClr val="25384C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RESEARCH QUESTIONS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378915" y="100806"/>
            <a:ext cx="355591" cy="255587"/>
          </a:xfrm>
          <a:prstGeom prst="rect">
            <a:avLst/>
          </a:prstGeom>
          <a:noFill/>
          <a:ln/>
        </p:spPr>
        <p:txBody>
          <a:bodyPr wrap="square" lIns="63498" tIns="38099" rIns="63498" bIns="38099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kern="0" spc="73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03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0" y="447675"/>
            <a:ext cx="12191695" cy="9525"/>
          </a:xfrm>
          <a:prstGeom prst="rect">
            <a:avLst/>
          </a:prstGeom>
          <a:solidFill>
            <a:srgbClr val="25384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3387" y="533400"/>
            <a:ext cx="11658308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0" spc="73" dirty="0">
                <a:solidFill>
                  <a:srgbClr val="647386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RESEARCH QUESTIONS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33387" y="769938"/>
            <a:ext cx="11124922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000" kern="0" spc="180" dirty="0">
                <a:solidFill>
                  <a:srgbClr val="13263D"/>
                </a:solidFill>
                <a:latin typeface="IBM Plex Sans Condensed SemiBold" pitchFamily="34" charset="0"/>
                <a:ea typeface="IBM Plex Sans Condensed SemiBold" pitchFamily="34" charset="-122"/>
                <a:cs typeface="IBM Plex Sans Condensed SemiBold" pitchFamily="34" charset="-120"/>
              </a:rPr>
              <a:t>TIMESERIESLAB TURNS THE RESEARCH GAP INTO TESTABLE QUESTIONS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33387" y="1730573"/>
            <a:ext cx="4978275" cy="4422775"/>
          </a:xfrm>
          <a:prstGeom prst="roundRect">
            <a:avLst>
              <a:gd name="adj" fmla="val 258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61981" y="1959173"/>
            <a:ext cx="4521087" cy="239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600" kern="0" spc="-8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FRAMEWORK OBJECTIVE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1981" y="2319536"/>
            <a:ext cx="4521087" cy="1086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Support benchmark datasets and user-uploaded tabular data, automatically identify schema and temporal frequency, generate frequency-aware features, and compare forecasting configurations.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61981" y="3551833"/>
            <a:ext cx="1491816" cy="31651"/>
          </a:xfrm>
          <a:prstGeom prst="roundRect">
            <a:avLst>
              <a:gd name="adj" fmla="val 49998"/>
            </a:avLst>
          </a:prstGeom>
          <a:solidFill>
            <a:srgbClr val="132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61981" y="3783608"/>
            <a:ext cx="4521087" cy="239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600" kern="0" spc="-8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EVALUATION OBJECTIVE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1981" y="4143970"/>
            <a:ext cx="4521087" cy="814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Perform feature selection using training data only, then analyze whether its effect varies by dataset and series.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5968751" y="1730573"/>
            <a:ext cx="5689557" cy="991394"/>
          </a:xfrm>
          <a:prstGeom prst="roundRect">
            <a:avLst>
              <a:gd name="adj" fmla="val 1153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97346" y="1959173"/>
            <a:ext cx="445779" cy="344488"/>
          </a:xfrm>
          <a:prstGeom prst="roundRect">
            <a:avLst>
              <a:gd name="adj" fmla="val 17142"/>
            </a:avLst>
          </a:prstGeom>
          <a:solidFill>
            <a:srgbClr val="13263D"/>
          </a:solidFill>
          <a:ln w="6350">
            <a:solidFill>
              <a:srgbClr val="D6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02118" y="2032992"/>
            <a:ext cx="845819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01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839970" y="2013942"/>
            <a:ext cx="4589745" cy="479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600" kern="0" spc="-8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How does feature selection affect forecasting performance?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68751" y="2874367"/>
            <a:ext cx="5689557" cy="991394"/>
          </a:xfrm>
          <a:prstGeom prst="roundRect">
            <a:avLst>
              <a:gd name="adj" fmla="val 1153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97346" y="3102967"/>
            <a:ext cx="445779" cy="344488"/>
          </a:xfrm>
          <a:prstGeom prst="roundRect">
            <a:avLst>
              <a:gd name="adj" fmla="val 17142"/>
            </a:avLst>
          </a:prstGeom>
          <a:solidFill>
            <a:srgbClr val="13263D"/>
          </a:solidFill>
          <a:ln w="6350">
            <a:solidFill>
              <a:srgbClr val="D6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02118" y="3176786"/>
            <a:ext cx="845819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02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839970" y="3157736"/>
            <a:ext cx="4589745" cy="479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600" kern="0" spc="-8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How does model performance vary across different demand characteristics?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68751" y="4018161"/>
            <a:ext cx="5689557" cy="991394"/>
          </a:xfrm>
          <a:prstGeom prst="roundRect">
            <a:avLst>
              <a:gd name="adj" fmla="val 1153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97346" y="4246761"/>
            <a:ext cx="445779" cy="344488"/>
          </a:xfrm>
          <a:prstGeom prst="roundRect">
            <a:avLst>
              <a:gd name="adj" fmla="val 17142"/>
            </a:avLst>
          </a:prstGeom>
          <a:solidFill>
            <a:srgbClr val="13263D"/>
          </a:solidFill>
          <a:ln w="6350">
            <a:solidFill>
              <a:srgbClr val="D6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02118" y="4320580"/>
            <a:ext cx="845819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03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6839970" y="4301530"/>
            <a:ext cx="4589745" cy="479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600" kern="0" spc="-8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Does the effect of feature selection depend on the dataset or series?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968751" y="5161955"/>
            <a:ext cx="5689557" cy="991394"/>
          </a:xfrm>
          <a:prstGeom prst="roundRect">
            <a:avLst>
              <a:gd name="adj" fmla="val 1153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197346" y="5390555"/>
            <a:ext cx="445779" cy="344488"/>
          </a:xfrm>
          <a:prstGeom prst="roundRect">
            <a:avLst>
              <a:gd name="adj" fmla="val 17142"/>
            </a:avLst>
          </a:prstGeom>
          <a:solidFill>
            <a:srgbClr val="13263D"/>
          </a:solidFill>
          <a:ln w="6350">
            <a:solidFill>
              <a:srgbClr val="D6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02118" y="5464373"/>
            <a:ext cx="845819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04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6839970" y="5445323"/>
            <a:ext cx="4589745" cy="479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600" kern="0" spc="-8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Can one common evaluation framework provide a transparent basis for comparison?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45256"/>
            <a:ext cx="2314815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0" spc="73" dirty="0">
                <a:solidFill>
                  <a:srgbClr val="25384C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SYSTEM ARCHITECTURE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378915" y="100806"/>
            <a:ext cx="355591" cy="255587"/>
          </a:xfrm>
          <a:prstGeom prst="rect">
            <a:avLst/>
          </a:prstGeom>
          <a:noFill/>
          <a:ln/>
        </p:spPr>
        <p:txBody>
          <a:bodyPr wrap="square" lIns="63498" tIns="38099" rIns="63498" bIns="38099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kern="0" spc="73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04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0" y="447675"/>
            <a:ext cx="12191695" cy="9525"/>
          </a:xfrm>
          <a:prstGeom prst="rect">
            <a:avLst/>
          </a:prstGeom>
          <a:solidFill>
            <a:srgbClr val="25384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3387" y="533400"/>
            <a:ext cx="11124922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000" kern="0" spc="180" dirty="0">
                <a:solidFill>
                  <a:srgbClr val="13263D"/>
                </a:solidFill>
                <a:latin typeface="IBM Plex Sans Condensed SemiBold" pitchFamily="34" charset="0"/>
                <a:ea typeface="IBM Plex Sans Condensed SemiBold" pitchFamily="34" charset="-122"/>
                <a:cs typeface="IBM Plex Sans Condensed SemiBold" pitchFamily="34" charset="-120"/>
              </a:rPr>
              <a:t>THE SYSTEM SEPARATES INTERFACE, APPLICATION LOGIC, ML EXECUTION, AND RESEARCH OUTPUTS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87" y="1494036"/>
          <a:ext cx="5410064" cy="4558094"/>
        </p:xfrm>
        <a:graphic>
          <a:graphicData uri="http://schemas.openxmlformats.org/drawingml/2006/table">
            <a:tbl>
              <a:tblPr/>
              <a:tblGrid>
                <a:gridCol w="1623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7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14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LAYER 1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600" kern="0" spc="-8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Users &amp; sources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132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5384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Student · Researcher · Analyst · M5 Forecasting – Accuracy · Tourism Forecasting · NN5 · Electricity · Dominick Sales · generic CSV/Excel upload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132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14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0000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LAYER 2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600" kern="0" spc="-8" dirty="0">
                          <a:solidFill>
                            <a:srgbClr val="0000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Presentation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E1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B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5384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TimeSeriesLab Streamlit application: Dashboard · Data Upload · Explore Data · Feature Engineering · Feature Selection · Forecasting · Model Comparison · Research Insights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E1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51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0000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LAYER 3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600" kern="0" spc="-8" dirty="0">
                          <a:solidFill>
                            <a:srgbClr val="0000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Application logic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E1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B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5384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Data Loader → Schema Detection → Preprocessing → Frequency Detection → Demand Characterization → Feature Engineering → Feature Selection → Forecasting → Evaluation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E1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8244" y="1494036"/>
          <a:ext cx="5410064" cy="3743430"/>
        </p:xfrm>
        <a:graphic>
          <a:graphicData uri="http://schemas.openxmlformats.org/drawingml/2006/table">
            <a:tbl>
              <a:tblPr/>
              <a:tblGrid>
                <a:gridCol w="1623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870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214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0000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LAYER 4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600" kern="0" spc="-8" dirty="0">
                          <a:solidFill>
                            <a:srgbClr val="0000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ML engine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E1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B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5384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Validation → frequency-aware features → chronological train/validation/test split → training-only feature selection → five forecasting configurations → evaluation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E1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83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0000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LAYER 5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600" kern="0" spc="-8" dirty="0">
                          <a:solidFill>
                            <a:srgbClr val="0000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Data &amp; results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E1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B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5384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Raw · Processed · Feature · Selected Feature datasets · Predictions · Metrics · Visualizations · Research Insights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E1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435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LAYER 6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600" kern="0" spc="-8" dirty="0">
                          <a:solidFill>
                            <a:srgbClr val="FFFFFF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Outputs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132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6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5384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Forecast plots · model comparison · feature importance · feature-selection impact · insights · downloadable CSV/Excel results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132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33387" y="6204645"/>
            <a:ext cx="11658308" cy="197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kern="0" spc="11" dirty="0">
                <a:solidFill>
                  <a:srgbClr val="6473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STACK RAIL · Python · Streamlit · Pandas · NumPy · Scikit-learn · Plotly/Matplotlib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45256"/>
            <a:ext cx="1689455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0" spc="73" dirty="0">
                <a:solidFill>
                  <a:srgbClr val="25384C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METHODOLOGY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378915" y="100806"/>
            <a:ext cx="355591" cy="255587"/>
          </a:xfrm>
          <a:prstGeom prst="rect">
            <a:avLst/>
          </a:prstGeom>
          <a:noFill/>
          <a:ln/>
        </p:spPr>
        <p:txBody>
          <a:bodyPr wrap="square" lIns="63498" tIns="38099" rIns="63498" bIns="38099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kern="0" spc="73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05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0" y="447675"/>
            <a:ext cx="12191695" cy="9525"/>
          </a:xfrm>
          <a:prstGeom prst="rect">
            <a:avLst/>
          </a:prstGeom>
          <a:solidFill>
            <a:srgbClr val="25384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3387" y="533400"/>
            <a:ext cx="11658308" cy="147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kern="0" spc="65" dirty="0">
                <a:solidFill>
                  <a:srgbClr val="647386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METHODOLOGY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33387" y="736104"/>
            <a:ext cx="11124922" cy="702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2650" kern="0" spc="160" dirty="0">
                <a:solidFill>
                  <a:srgbClr val="13263D"/>
                </a:solidFill>
                <a:latin typeface="IBM Plex Sans Condensed SemiBold" pitchFamily="34" charset="0"/>
                <a:ea typeface="IBM Plex Sans Condensed SemiBold" pitchFamily="34" charset="-122"/>
                <a:cs typeface="IBM Plex Sans Condensed SemiBold" pitchFamily="34" charset="-120"/>
              </a:rPr>
              <a:t>THE METHODOLOGY CREATES ONE AUDITABLE PATH FROM RAW DATA TO COMPARISON</a:t>
            </a:r>
            <a:endParaRPr lang="en-US" sz="2650" dirty="0"/>
          </a:p>
        </p:txBody>
      </p:sp>
      <p:sp>
        <p:nvSpPr>
          <p:cNvPr id="7" name="Shape 5"/>
          <p:cNvSpPr/>
          <p:nvPr/>
        </p:nvSpPr>
        <p:spPr>
          <a:xfrm>
            <a:off x="533387" y="1571327"/>
            <a:ext cx="1777956" cy="1900436"/>
          </a:xfrm>
          <a:prstGeom prst="roundRect">
            <a:avLst>
              <a:gd name="adj" fmla="val 643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61981" y="1799927"/>
            <a:ext cx="396567" cy="305495"/>
          </a:xfrm>
          <a:prstGeom prst="roundRect">
            <a:avLst>
              <a:gd name="adj" fmla="val 17147"/>
            </a:avLst>
          </a:prstGeom>
          <a:solidFill>
            <a:srgbClr val="13263D"/>
          </a:solidFill>
          <a:ln w="6350">
            <a:solidFill>
              <a:srgbClr val="D6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55542" y="1865312"/>
            <a:ext cx="81903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01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61981" y="2160290"/>
            <a:ext cx="1320767" cy="212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00" kern="0" spc="-7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Data Ingestion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1981" y="2467868"/>
            <a:ext cx="1549361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kern="0" spc="10" dirty="0">
                <a:solidFill>
                  <a:srgbClr val="6473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Raw input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63738" y="1571327"/>
            <a:ext cx="1701757" cy="1900436"/>
          </a:xfrm>
          <a:prstGeom prst="roundRect">
            <a:avLst>
              <a:gd name="adj" fmla="val 672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692333" y="1799927"/>
            <a:ext cx="396567" cy="305495"/>
          </a:xfrm>
          <a:prstGeom prst="roundRect">
            <a:avLst>
              <a:gd name="adj" fmla="val 17147"/>
            </a:avLst>
          </a:prstGeom>
          <a:solidFill>
            <a:srgbClr val="13263D"/>
          </a:solidFill>
          <a:ln w="6350">
            <a:solidFill>
              <a:srgbClr val="D6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85894" y="1865312"/>
            <a:ext cx="81903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02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692333" y="2160290"/>
            <a:ext cx="1244569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00" kern="0" spc="-7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Schema Detection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692333" y="2680593"/>
            <a:ext cx="1244569" cy="349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kern="0" spc="10" dirty="0">
                <a:solidFill>
                  <a:srgbClr val="6473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Date · Target · Series ID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317892" y="1571327"/>
            <a:ext cx="1701757" cy="1900436"/>
          </a:xfrm>
          <a:prstGeom prst="roundRect">
            <a:avLst>
              <a:gd name="adj" fmla="val 672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46486" y="1799927"/>
            <a:ext cx="396567" cy="305495"/>
          </a:xfrm>
          <a:prstGeom prst="roundRect">
            <a:avLst>
              <a:gd name="adj" fmla="val 17147"/>
            </a:avLst>
          </a:prstGeom>
          <a:solidFill>
            <a:srgbClr val="13263D"/>
          </a:solidFill>
          <a:ln w="6350">
            <a:solidFill>
              <a:srgbClr val="D6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40047" y="1865312"/>
            <a:ext cx="81903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03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46486" y="2160290"/>
            <a:ext cx="1244569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00" kern="0" spc="-7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Data Validation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46486" y="2680593"/>
            <a:ext cx="1244569" cy="349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kern="0" spc="10" dirty="0">
                <a:solidFill>
                  <a:srgbClr val="6473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Missing · duplicates · numeric target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72046" y="1571327"/>
            <a:ext cx="1701757" cy="1900436"/>
          </a:xfrm>
          <a:prstGeom prst="roundRect">
            <a:avLst>
              <a:gd name="adj" fmla="val 672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00640" y="1799927"/>
            <a:ext cx="396567" cy="305495"/>
          </a:xfrm>
          <a:prstGeom prst="roundRect">
            <a:avLst>
              <a:gd name="adj" fmla="val 17147"/>
            </a:avLst>
          </a:prstGeom>
          <a:solidFill>
            <a:srgbClr val="13263D"/>
          </a:solidFill>
          <a:ln w="6350">
            <a:solidFill>
              <a:srgbClr val="D6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94201" y="1865312"/>
            <a:ext cx="81903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04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400640" y="2160290"/>
            <a:ext cx="1244569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00" kern="0" spc="-7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Series Selection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640" y="2680593"/>
            <a:ext cx="1473163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kern="0" spc="10" dirty="0">
                <a:solidFill>
                  <a:srgbClr val="6473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Series under study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026199" y="1571327"/>
            <a:ext cx="1701757" cy="1900436"/>
          </a:xfrm>
          <a:prstGeom prst="roundRect">
            <a:avLst>
              <a:gd name="adj" fmla="val 672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254793" y="1799927"/>
            <a:ext cx="396567" cy="305495"/>
          </a:xfrm>
          <a:prstGeom prst="roundRect">
            <a:avLst>
              <a:gd name="adj" fmla="val 17147"/>
            </a:avLst>
          </a:prstGeom>
          <a:solidFill>
            <a:srgbClr val="13263D"/>
          </a:solidFill>
          <a:ln w="6350">
            <a:solidFill>
              <a:srgbClr val="D6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348354" y="1865312"/>
            <a:ext cx="81903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05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254793" y="2160290"/>
            <a:ext cx="1244569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00" kern="0" spc="-7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Demand Characterization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254793" y="2893318"/>
            <a:ext cx="1244569" cy="349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kern="0" spc="10" dirty="0">
                <a:solidFill>
                  <a:srgbClr val="6473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Trend · seasonality · variability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880353" y="1571327"/>
            <a:ext cx="1777956" cy="1900436"/>
          </a:xfrm>
          <a:prstGeom prst="roundRect">
            <a:avLst>
              <a:gd name="adj" fmla="val 643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0108947" y="1799927"/>
            <a:ext cx="396567" cy="305495"/>
          </a:xfrm>
          <a:prstGeom prst="roundRect">
            <a:avLst>
              <a:gd name="adj" fmla="val 17147"/>
            </a:avLst>
          </a:prstGeom>
          <a:solidFill>
            <a:srgbClr val="13263D"/>
          </a:solidFill>
          <a:ln w="6350">
            <a:solidFill>
              <a:srgbClr val="D6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0202508" y="1865312"/>
            <a:ext cx="81903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06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0108947" y="2160290"/>
            <a:ext cx="1320767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00" kern="0" spc="-7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Frequency Detection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0108947" y="2680593"/>
            <a:ext cx="1549361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kern="0" spc="10" dirty="0">
                <a:solidFill>
                  <a:srgbClr val="6473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Temporal cadence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33387" y="3624163"/>
            <a:ext cx="1777956" cy="1900436"/>
          </a:xfrm>
          <a:prstGeom prst="roundRect">
            <a:avLst>
              <a:gd name="adj" fmla="val 643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61981" y="3852763"/>
            <a:ext cx="396567" cy="305495"/>
          </a:xfrm>
          <a:prstGeom prst="roundRect">
            <a:avLst>
              <a:gd name="adj" fmla="val 17147"/>
            </a:avLst>
          </a:prstGeom>
          <a:solidFill>
            <a:srgbClr val="13263D"/>
          </a:solidFill>
          <a:ln w="6350">
            <a:solidFill>
              <a:srgbClr val="D6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55542" y="3918148"/>
            <a:ext cx="81903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07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761981" y="4213126"/>
            <a:ext cx="1320767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00" kern="0" spc="-7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Temporal Feature Engineering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61981" y="4946154"/>
            <a:ext cx="1320767" cy="349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kern="0" spc="10" dirty="0">
                <a:solidFill>
                  <a:srgbClr val="6473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Lags · rolling · calendar · change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463738" y="3624163"/>
            <a:ext cx="1701757" cy="1900436"/>
          </a:xfrm>
          <a:prstGeom prst="roundRect">
            <a:avLst>
              <a:gd name="adj" fmla="val 672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2692333" y="3852763"/>
            <a:ext cx="396567" cy="305495"/>
          </a:xfrm>
          <a:prstGeom prst="roundRect">
            <a:avLst>
              <a:gd name="adj" fmla="val 17147"/>
            </a:avLst>
          </a:prstGeom>
          <a:solidFill>
            <a:srgbClr val="13263D"/>
          </a:solidFill>
          <a:ln w="6350">
            <a:solidFill>
              <a:srgbClr val="D6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785894" y="3918148"/>
            <a:ext cx="81903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08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2692333" y="4213126"/>
            <a:ext cx="1244569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00" kern="0" spc="-7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Chronological Split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2692333" y="4733429"/>
            <a:ext cx="1473163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kern="0" spc="10" dirty="0">
                <a:solidFill>
                  <a:srgbClr val="6473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Past → future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317892" y="3624163"/>
            <a:ext cx="1701757" cy="1900436"/>
          </a:xfrm>
          <a:prstGeom prst="roundRect">
            <a:avLst>
              <a:gd name="adj" fmla="val 672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546486" y="3852763"/>
            <a:ext cx="396567" cy="305495"/>
          </a:xfrm>
          <a:prstGeom prst="roundRect">
            <a:avLst>
              <a:gd name="adj" fmla="val 17147"/>
            </a:avLst>
          </a:prstGeom>
          <a:solidFill>
            <a:srgbClr val="13263D"/>
          </a:solidFill>
          <a:ln w="6350">
            <a:solidFill>
              <a:srgbClr val="D6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640047" y="3918148"/>
            <a:ext cx="81903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09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4546486" y="4213126"/>
            <a:ext cx="1244569" cy="638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00" kern="0" spc="-7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Training-Only Feature Selection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4546486" y="4946154"/>
            <a:ext cx="1244569" cy="349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kern="0" spc="10" dirty="0">
                <a:solidFill>
                  <a:srgbClr val="6473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Correlation + RF importance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172046" y="3624163"/>
            <a:ext cx="1701757" cy="1900436"/>
          </a:xfrm>
          <a:prstGeom prst="roundRect">
            <a:avLst>
              <a:gd name="adj" fmla="val 672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400640" y="3852763"/>
            <a:ext cx="396567" cy="305495"/>
          </a:xfrm>
          <a:prstGeom prst="roundRect">
            <a:avLst>
              <a:gd name="adj" fmla="val 17147"/>
            </a:avLst>
          </a:prstGeom>
          <a:solidFill>
            <a:srgbClr val="13263D"/>
          </a:solidFill>
          <a:ln w="6350">
            <a:solidFill>
              <a:srgbClr val="D6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494201" y="3918148"/>
            <a:ext cx="81903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10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6400640" y="4213126"/>
            <a:ext cx="1244569" cy="212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00" kern="0" spc="-7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Forecasting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6400640" y="4520704"/>
            <a:ext cx="1473163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kern="0" spc="10" dirty="0">
                <a:solidFill>
                  <a:srgbClr val="6473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Five configurations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026199" y="3624163"/>
            <a:ext cx="1701757" cy="1900436"/>
          </a:xfrm>
          <a:prstGeom prst="roundRect">
            <a:avLst>
              <a:gd name="adj" fmla="val 672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8254793" y="3852763"/>
            <a:ext cx="396567" cy="305495"/>
          </a:xfrm>
          <a:prstGeom prst="roundRect">
            <a:avLst>
              <a:gd name="adj" fmla="val 17147"/>
            </a:avLst>
          </a:prstGeom>
          <a:solidFill>
            <a:srgbClr val="13263D"/>
          </a:solidFill>
          <a:ln w="6350">
            <a:solidFill>
              <a:srgbClr val="D6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8348354" y="3918148"/>
            <a:ext cx="81903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11</a:t>
            </a:r>
            <a:endParaRPr lang="en-US" sz="1350" dirty="0"/>
          </a:p>
        </p:txBody>
      </p:sp>
      <p:sp>
        <p:nvSpPr>
          <p:cNvPr id="60" name="Text 58"/>
          <p:cNvSpPr/>
          <p:nvPr/>
        </p:nvSpPr>
        <p:spPr>
          <a:xfrm>
            <a:off x="8254793" y="4213126"/>
            <a:ext cx="1244569" cy="2127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00" kern="0" spc="-7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8254793" y="4520704"/>
            <a:ext cx="1473163" cy="17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kern="0" spc="10" dirty="0">
                <a:solidFill>
                  <a:srgbClr val="6473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MAE · RMSE · sMAPE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9880353" y="3624163"/>
            <a:ext cx="1777956" cy="1900436"/>
          </a:xfrm>
          <a:prstGeom prst="rect">
            <a:avLst/>
          </a:prstGeom>
          <a:solidFill>
            <a:srgbClr val="132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10108947" y="3852763"/>
            <a:ext cx="396567" cy="305495"/>
          </a:xfrm>
          <a:prstGeom prst="roundRect">
            <a:avLst>
              <a:gd name="adj" fmla="val 17147"/>
            </a:avLst>
          </a:prstGeom>
          <a:solidFill>
            <a:srgbClr val="13263D"/>
          </a:solidFill>
          <a:ln w="6350">
            <a:solidFill>
              <a:srgbClr val="D6D1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10202508" y="3918148"/>
            <a:ext cx="81903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12</a:t>
            </a:r>
            <a:endParaRPr lang="en-US" sz="1350" dirty="0"/>
          </a:p>
        </p:txBody>
      </p:sp>
      <p:sp>
        <p:nvSpPr>
          <p:cNvPr id="65" name="Text 63"/>
          <p:cNvSpPr/>
          <p:nvPr/>
        </p:nvSpPr>
        <p:spPr>
          <a:xfrm>
            <a:off x="10108947" y="4213126"/>
            <a:ext cx="1320767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00" kern="0" spc="-7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Comparative Analysis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10108947" y="4733429"/>
            <a:ext cx="1320767" cy="349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00" kern="0" spc="1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Dataset × Series × Model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33387" y="5644455"/>
            <a:ext cx="3606710" cy="1216521"/>
          </a:xfrm>
          <a:prstGeom prst="roundRect">
            <a:avLst>
              <a:gd name="adj" fmla="val 940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761981" y="5873055"/>
            <a:ext cx="3378115" cy="22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3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FUTURE INFORMATION BLOCKED</a:t>
            </a:r>
            <a:endParaRPr lang="en-US" sz="1350" dirty="0"/>
          </a:p>
        </p:txBody>
      </p:sp>
      <p:sp>
        <p:nvSpPr>
          <p:cNvPr id="69" name="Text 67"/>
          <p:cNvSpPr/>
          <p:nvPr/>
        </p:nvSpPr>
        <p:spPr>
          <a:xfrm>
            <a:off x="761981" y="6177756"/>
            <a:ext cx="3149521" cy="454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3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Chronological split and training-only feature selection prevent test leakage.</a:t>
            </a:r>
            <a:endParaRPr lang="en-US" sz="1350" dirty="0"/>
          </a:p>
        </p:txBody>
      </p:sp>
      <p:sp>
        <p:nvSpPr>
          <p:cNvPr id="70" name="Shape 68"/>
          <p:cNvSpPr/>
          <p:nvPr/>
        </p:nvSpPr>
        <p:spPr>
          <a:xfrm>
            <a:off x="4292493" y="5644455"/>
            <a:ext cx="3606710" cy="1216521"/>
          </a:xfrm>
          <a:prstGeom prst="roundRect">
            <a:avLst>
              <a:gd name="adj" fmla="val 940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4521087" y="5873055"/>
            <a:ext cx="3378115" cy="22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3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METRICS PRODUCED</a:t>
            </a:r>
            <a:endParaRPr lang="en-US" sz="1350" dirty="0"/>
          </a:p>
        </p:txBody>
      </p:sp>
      <p:sp>
        <p:nvSpPr>
          <p:cNvPr id="72" name="Text 70"/>
          <p:cNvSpPr/>
          <p:nvPr/>
        </p:nvSpPr>
        <p:spPr>
          <a:xfrm>
            <a:off x="4521087" y="6177756"/>
            <a:ext cx="3149521" cy="454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3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MAE, RMSE, and sMAPE support comparable evaluation.</a:t>
            </a:r>
            <a:endParaRPr lang="en-US" sz="1350" dirty="0"/>
          </a:p>
        </p:txBody>
      </p:sp>
      <p:sp>
        <p:nvSpPr>
          <p:cNvPr id="73" name="Shape 71"/>
          <p:cNvSpPr/>
          <p:nvPr/>
        </p:nvSpPr>
        <p:spPr>
          <a:xfrm>
            <a:off x="8051599" y="5644455"/>
            <a:ext cx="3606710" cy="1216521"/>
          </a:xfrm>
          <a:prstGeom prst="roundRect">
            <a:avLst>
              <a:gd name="adj" fmla="val 940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8280193" y="5873055"/>
            <a:ext cx="3378115" cy="2273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3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AUDIT TRAIL</a:t>
            </a:r>
            <a:endParaRPr lang="en-US" sz="1350" dirty="0"/>
          </a:p>
        </p:txBody>
      </p:sp>
      <p:sp>
        <p:nvSpPr>
          <p:cNvPr id="75" name="Text 73"/>
          <p:cNvSpPr/>
          <p:nvPr/>
        </p:nvSpPr>
        <p:spPr>
          <a:xfrm>
            <a:off x="8280193" y="6177756"/>
            <a:ext cx="3149521" cy="454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3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transformation remains visible from raw data to comparison.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45256"/>
            <a:ext cx="2313029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0" spc="73" dirty="0">
                <a:solidFill>
                  <a:srgbClr val="25384C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FEATURE ENGINEERING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378915" y="100806"/>
            <a:ext cx="355591" cy="255587"/>
          </a:xfrm>
          <a:prstGeom prst="rect">
            <a:avLst/>
          </a:prstGeom>
          <a:noFill/>
          <a:ln/>
        </p:spPr>
        <p:txBody>
          <a:bodyPr wrap="square" lIns="63498" tIns="38099" rIns="63498" bIns="38099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kern="0" spc="73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06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0" y="447675"/>
            <a:ext cx="12191695" cy="9525"/>
          </a:xfrm>
          <a:prstGeom prst="rect">
            <a:avLst/>
          </a:prstGeom>
          <a:solidFill>
            <a:srgbClr val="25384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3387" y="533400"/>
            <a:ext cx="11658308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0" spc="73" dirty="0">
                <a:solidFill>
                  <a:srgbClr val="647386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FEATURE ENGINEERING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33387" y="769938"/>
            <a:ext cx="11124922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000" kern="0" spc="180" dirty="0">
                <a:solidFill>
                  <a:srgbClr val="13263D"/>
                </a:solidFill>
                <a:latin typeface="IBM Plex Sans Condensed SemiBold" pitchFamily="34" charset="0"/>
                <a:ea typeface="IBM Plex Sans Condensed SemiBold" pitchFamily="34" charset="-122"/>
                <a:cs typeface="IBM Plex Sans Condensed SemiBold" pitchFamily="34" charset="-120"/>
              </a:rPr>
              <a:t>FEATURE ENGINEERING ADAPTS TO FREQUENCY, WHILE SELECTION STAYS LEAKAGE-SAFE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3387" y="1959173"/>
            <a:ext cx="6492018" cy="271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FREQUENCY-AWARE FEATURES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33387" y="2329160"/>
            <a:ext cx="3169761" cy="1360686"/>
          </a:xfrm>
          <a:prstGeom prst="roundRect">
            <a:avLst>
              <a:gd name="adj" fmla="val 840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61981" y="2557760"/>
            <a:ext cx="2712573" cy="239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600" kern="0" spc="-8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Lags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1981" y="2918123"/>
            <a:ext cx="2712573" cy="543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lag_1 · lag_7 · lag_14 · lag_28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3855544" y="2329160"/>
            <a:ext cx="3169861" cy="1360686"/>
          </a:xfrm>
          <a:prstGeom prst="roundRect">
            <a:avLst>
              <a:gd name="adj" fmla="val 840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084138" y="2557760"/>
            <a:ext cx="2712672" cy="239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600" kern="0" spc="-8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Rolling statistics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84138" y="2918123"/>
            <a:ext cx="2941266" cy="271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rolling_mean · rolling_std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33387" y="3842246"/>
            <a:ext cx="3169761" cy="1360686"/>
          </a:xfrm>
          <a:prstGeom prst="roundRect">
            <a:avLst>
              <a:gd name="adj" fmla="val 840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61981" y="4070846"/>
            <a:ext cx="2712573" cy="239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600" kern="0" spc="-8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Calendar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1981" y="4431209"/>
            <a:ext cx="2712573" cy="543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day_of_week · month · week_of_year · is_weekend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3855544" y="3842246"/>
            <a:ext cx="3169861" cy="1360686"/>
          </a:xfrm>
          <a:prstGeom prst="roundRect">
            <a:avLst>
              <a:gd name="adj" fmla="val 840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084138" y="4070846"/>
            <a:ext cx="2712672" cy="239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600" kern="0" spc="-8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Change / growth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084138" y="4431209"/>
            <a:ext cx="2712672" cy="543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Change features and seasonal lag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33387" y="5301357"/>
            <a:ext cx="6492018" cy="887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spcAft>
                <a:spcPts val="750"/>
              </a:spcAft>
              <a:buNone/>
            </a:pPr>
            <a:r>
              <a:rPr lang="en-US" sz="1150" kern="0" spc="11" dirty="0">
                <a:solidFill>
                  <a:srgbClr val="6473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Configuration adapts to detected frequency and available history. Short-series features are skipped when history is insufficient.</a:t>
            </a:r>
            <a:endParaRPr lang="en-US" sz="115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150" b="1" kern="0" spc="11" dirty="0">
                <a:solidFill>
                  <a:srgbClr val="647386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Selection path:</a:t>
            </a:r>
            <a:r>
              <a:rPr lang="en-US" sz="1150" kern="0" spc="11" dirty="0">
                <a:solidFill>
                  <a:srgbClr val="64738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Candidate Features → Correlation Filtering → Random Forest Feature Importance → Top-N Selected Features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330098" y="1730573"/>
            <a:ext cx="4328210" cy="4686399"/>
          </a:xfrm>
          <a:prstGeom prst="rect">
            <a:avLst/>
          </a:prstGeom>
          <a:solidFill>
            <a:srgbClr val="132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558692" y="2393950"/>
            <a:ext cx="4099616" cy="271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RESEARCH GUARDRAIL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558692" y="2817912"/>
            <a:ext cx="3871022" cy="172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kern="0" spc="204" dirty="0">
                <a:solidFill>
                  <a:srgbClr val="FFFFFF"/>
                </a:solidFill>
                <a:latin typeface="IBM Plex Sans Condensed SemiBold" pitchFamily="34" charset="0"/>
                <a:ea typeface="IBM Plex Sans Condensed SemiBold" pitchFamily="34" charset="-122"/>
                <a:cs typeface="IBM Plex Sans Condensed SemiBold" pitchFamily="34" charset="-120"/>
              </a:rPr>
              <a:t>FEATURE SELECTION USES TRAINING DATA ONLY.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7558692" y="4938812"/>
            <a:ext cx="3871022" cy="814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TEST DATA</a:t>
            </a:r>
            <a:endParaRPr lang="en-US" sz="15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FUTURE INFORMATION</a:t>
            </a:r>
            <a:endParaRPr lang="en-US" sz="15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RANDOM SHUFFLING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45256"/>
            <a:ext cx="2309358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0" spc="73" dirty="0">
                <a:solidFill>
                  <a:srgbClr val="25384C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EXPERIMENTAL DESIGN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378915" y="100806"/>
            <a:ext cx="355591" cy="255587"/>
          </a:xfrm>
          <a:prstGeom prst="rect">
            <a:avLst/>
          </a:prstGeom>
          <a:noFill/>
          <a:ln/>
        </p:spPr>
        <p:txBody>
          <a:bodyPr wrap="square" lIns="63498" tIns="38099" rIns="63498" bIns="38099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kern="0" spc="73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07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0" y="447675"/>
            <a:ext cx="12191695" cy="9525"/>
          </a:xfrm>
          <a:prstGeom prst="rect">
            <a:avLst/>
          </a:prstGeom>
          <a:solidFill>
            <a:srgbClr val="25384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3387" y="533400"/>
            <a:ext cx="11658308" cy="150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kern="0" spc="67" dirty="0">
                <a:solidFill>
                  <a:srgbClr val="647386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EXPERIMENTAL DESIGN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33387" y="741363"/>
            <a:ext cx="11124922" cy="7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2700" kern="0" spc="163" dirty="0">
                <a:solidFill>
                  <a:srgbClr val="13263D"/>
                </a:solidFill>
                <a:latin typeface="IBM Plex Sans Condensed SemiBold" pitchFamily="34" charset="0"/>
                <a:ea typeface="IBM Plex Sans Condensed SemiBold" pitchFamily="34" charset="-122"/>
                <a:cs typeface="IBM Plex Sans Condensed SemiBold" pitchFamily="34" charset="-120"/>
              </a:rPr>
              <a:t>THE EXPERIMENT COMPARES FIVE CONFIGURATIONS UNDER ONE CHRONOLOGICAL PROTOCOL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33387" y="1824831"/>
            <a:ext cx="6492018" cy="234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CONFIGURATIONS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87" y="2139454"/>
          <a:ext cx="6492018" cy="2993059"/>
        </p:xfrm>
        <a:graphic>
          <a:graphicData uri="http://schemas.openxmlformats.org/drawingml/2006/table">
            <a:tbl>
              <a:tblPr/>
              <a:tblGrid>
                <a:gridCol w="1558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3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2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26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Configuration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601" marR="133601" marT="71254" marB="71254" anchor="ctr">
                    <a:lnL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326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Definition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601" marR="133601" marT="71254" marB="71254" anchor="ctr">
                    <a:lnL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2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5384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Naive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601" marR="133601" marT="71254" marB="71254" anchor="ctr">
                    <a:lnL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5384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Baseline forecast.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601" marR="133601" marT="71254" marB="71254" anchor="ctr">
                    <a:lnL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28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5384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Seasonal Naive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601" marR="133601" marT="71254" marB="71254" anchor="ctr">
                    <a:lnL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5384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Seasonal baseline forecast.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601" marR="133601" marT="71254" marB="71254" anchor="ctr">
                    <a:lnL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69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5384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RF — Basic Features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601" marR="133601" marT="71254" marB="71254" anchor="ctr">
                    <a:lnL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5384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Random Forest with basic features.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601" marR="133601" marT="71254" marB="71254" anchor="ctr">
                    <a:lnL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692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5384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RF — All Features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601" marR="133601" marT="71254" marB="71254" anchor="ctr">
                    <a:lnL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5384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Random Forest with all generated features.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601" marR="133601" marT="71254" marB="71254" anchor="ctr">
                    <a:lnL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05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RF — Selected Features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601" marR="133601" marT="71254" marB="71254" anchor="ctr">
                    <a:lnL w="12700" cap="flat" cmpd="sng" algn="ctr">
                      <a:solidFill>
                        <a:srgbClr val="E1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B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Random Forest after training-only selection.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33601" marR="133601" marT="71254" marB="71254" anchor="ctr">
                    <a:lnL w="12700" cap="flat" cmpd="sng" algn="ctr">
                      <a:solidFill>
                        <a:srgbClr val="E1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B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B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330098" y="1596231"/>
            <a:ext cx="4328210" cy="3764955"/>
          </a:xfrm>
          <a:prstGeom prst="roundRect">
            <a:avLst>
              <a:gd name="adj" fmla="val 304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558692" y="1824831"/>
            <a:ext cx="3871022" cy="468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CHRONOLOGICAL TRAIN-VALIDATION-TEST SPLIT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558692" y="2417663"/>
            <a:ext cx="3871022" cy="3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100" kern="0" spc="185" dirty="0">
                <a:solidFill>
                  <a:srgbClr val="13263D"/>
                </a:solidFill>
                <a:latin typeface="IBM Plex Sans Condensed SemiBold" pitchFamily="34" charset="0"/>
                <a:ea typeface="IBM Plex Sans Condensed SemiBold" pitchFamily="34" charset="-122"/>
                <a:cs typeface="IBM Plex Sans Condensed SemiBold" pitchFamily="34" charset="-120"/>
              </a:rPr>
              <a:t>70% · 15% · 15%</a:t>
            </a:r>
            <a:endParaRPr lang="en-US" sz="3100" dirty="0"/>
          </a:p>
        </p:txBody>
      </p:sp>
      <p:sp>
        <p:nvSpPr>
          <p:cNvPr id="12" name="Text 9"/>
          <p:cNvSpPr/>
          <p:nvPr/>
        </p:nvSpPr>
        <p:spPr>
          <a:xfrm>
            <a:off x="7558692" y="2946102"/>
            <a:ext cx="4099616" cy="234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Train · validation · test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558692" y="3305175"/>
            <a:ext cx="2593513" cy="38100"/>
          </a:xfrm>
          <a:prstGeom prst="roundRect">
            <a:avLst>
              <a:gd name="adj" fmla="val 49999"/>
            </a:avLst>
          </a:prstGeom>
          <a:solidFill>
            <a:srgbClr val="132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558692" y="3468291"/>
            <a:ext cx="3871022" cy="936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Past → future. No random shuffling. Test remains unseen during model development. The same protocol is applied across models. Random Forest configuration is deterministic.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33387" y="5485904"/>
            <a:ext cx="3606710" cy="1358503"/>
          </a:xfrm>
          <a:prstGeom prst="roundRect">
            <a:avLst>
              <a:gd name="adj" fmla="val 841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61981" y="5714504"/>
            <a:ext cx="3378115" cy="234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EXPERIMENTAL MATRIX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761981" y="6073279"/>
            <a:ext cx="3149521" cy="542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800" kern="0" spc="-9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Dataset × Series × Model × Metric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4292493" y="5485904"/>
            <a:ext cx="3606710" cy="1358503"/>
          </a:xfrm>
          <a:prstGeom prst="roundRect">
            <a:avLst>
              <a:gd name="adj" fmla="val 841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521087" y="5714504"/>
            <a:ext cx="3378115" cy="234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METRICS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521087" y="6073279"/>
            <a:ext cx="3149521" cy="271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800" kern="0" spc="-9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MAE · RMSE · sMAPE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8051599" y="5485904"/>
            <a:ext cx="3606710" cy="1358503"/>
          </a:xfrm>
          <a:prstGeom prst="rect">
            <a:avLst/>
          </a:prstGeom>
          <a:solidFill>
            <a:srgbClr val="E1EB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280193" y="5714504"/>
            <a:ext cx="3378115" cy="234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STATUS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280193" y="6073279"/>
            <a:ext cx="3149521" cy="5425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800" kern="0" spc="-9" dirty="0">
                <a:solidFill>
                  <a:srgbClr val="00000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Experimental results pending final execution.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45256"/>
            <a:ext cx="1722791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0" spc="73" dirty="0">
                <a:solidFill>
                  <a:srgbClr val="25384C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CONTRIBUTION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378915" y="100806"/>
            <a:ext cx="355591" cy="255587"/>
          </a:xfrm>
          <a:prstGeom prst="rect">
            <a:avLst/>
          </a:prstGeom>
          <a:noFill/>
          <a:ln/>
        </p:spPr>
        <p:txBody>
          <a:bodyPr wrap="square" lIns="63498" tIns="38099" rIns="63498" bIns="38099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kern="0" spc="73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08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0" y="447675"/>
            <a:ext cx="12191695" cy="9525"/>
          </a:xfrm>
          <a:prstGeom prst="rect">
            <a:avLst/>
          </a:prstGeom>
          <a:solidFill>
            <a:srgbClr val="25384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3387" y="533400"/>
            <a:ext cx="11658308" cy="1419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kern="0" spc="63" dirty="0">
                <a:solidFill>
                  <a:srgbClr val="647386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CONTRIBUTION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33387" y="726083"/>
            <a:ext cx="11124922" cy="675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2550" kern="0" spc="153" dirty="0">
                <a:solidFill>
                  <a:srgbClr val="13263D"/>
                </a:solidFill>
                <a:latin typeface="IBM Plex Sans Condensed SemiBold" pitchFamily="34" charset="0"/>
                <a:ea typeface="IBM Plex Sans Condensed SemiBold" pitchFamily="34" charset="-122"/>
                <a:cs typeface="IBM Plex Sans Condensed SemiBold" pitchFamily="34" charset="-120"/>
              </a:rPr>
              <a:t>THE CONTRIBUTION IS METHODOLOGICAL AND EMPIRICAL, NOT A NEW FORECASTING ALGORITHM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533387" y="1523305"/>
            <a:ext cx="3632109" cy="1808857"/>
          </a:xfrm>
          <a:prstGeom prst="roundRect">
            <a:avLst>
              <a:gd name="adj" fmla="val 632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61981" y="1751905"/>
            <a:ext cx="340351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30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1981" y="2076847"/>
            <a:ext cx="3174921" cy="510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700" kern="0" spc="-9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Frequency-aware feature engineering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61981" y="2674938"/>
            <a:ext cx="317492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30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Generated features adapt to temporal frequency and available history.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17892" y="1523305"/>
            <a:ext cx="3555911" cy="1808857"/>
          </a:xfrm>
          <a:prstGeom prst="roundRect">
            <a:avLst>
              <a:gd name="adj" fmla="val 632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46486" y="1751905"/>
            <a:ext cx="332731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30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46486" y="2076847"/>
            <a:ext cx="3098722" cy="255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700" kern="0" spc="-9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Leakage-safe feature selection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46486" y="2419648"/>
            <a:ext cx="332731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30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Selection is restricted to training data.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26199" y="1523305"/>
            <a:ext cx="3632109" cy="1808857"/>
          </a:xfrm>
          <a:prstGeom prst="roundRect">
            <a:avLst>
              <a:gd name="adj" fmla="val 632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54793" y="1751905"/>
            <a:ext cx="340351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30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54793" y="2076847"/>
            <a:ext cx="3174921" cy="255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700" kern="0" spc="-9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Demand-characteristic analysis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54793" y="2419648"/>
            <a:ext cx="3174921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30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Trend, seasonality, variability, intermittency, and zero-demand behavior are characterized explicitly.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33387" y="3484563"/>
            <a:ext cx="3632109" cy="1808857"/>
          </a:xfrm>
          <a:prstGeom prst="roundRect">
            <a:avLst>
              <a:gd name="adj" fmla="val 632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61981" y="3713163"/>
            <a:ext cx="340351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30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61981" y="4038104"/>
            <a:ext cx="3174921" cy="255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700" kern="0" spc="-9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Common comparative protocol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61981" y="4380905"/>
            <a:ext cx="317492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30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chronological evaluation and metric set across configurations.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317892" y="3484563"/>
            <a:ext cx="3555911" cy="1808857"/>
          </a:xfrm>
          <a:prstGeom prst="roundRect">
            <a:avLst>
              <a:gd name="adj" fmla="val 632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46486" y="3713163"/>
            <a:ext cx="332731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30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46486" y="4038104"/>
            <a:ext cx="3098722" cy="510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700" kern="0" spc="-9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Feature-selection impact analysis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4546486" y="4636195"/>
            <a:ext cx="3098722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30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Direct RF Basic vs RF All Features vs RF Selected Features comparison.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026199" y="3484563"/>
            <a:ext cx="3632109" cy="1808857"/>
          </a:xfrm>
          <a:prstGeom prst="roundRect">
            <a:avLst>
              <a:gd name="adj" fmla="val 632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254793" y="3713163"/>
            <a:ext cx="340351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30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54793" y="4038104"/>
            <a:ext cx="3174921" cy="510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700" kern="0" spc="-9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Reproducible interactive framework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8254793" y="4636195"/>
            <a:ext cx="3174921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30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Dataset → Features → Selection → Forecasting → Evaluation → Insights.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33387" y="5404049"/>
            <a:ext cx="10896327" cy="1353146"/>
          </a:xfrm>
          <a:prstGeom prst="rect">
            <a:avLst/>
          </a:prstGeom>
          <a:solidFill>
            <a:srgbClr val="132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61981" y="5632648"/>
            <a:ext cx="10667733" cy="500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spcAft>
                <a:spcPts val="55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TIME SERIES FORECASTING + FEATURE SELECTION + DEMAND CHARACTERISTICS</a:t>
            </a:r>
            <a:endParaRPr lang="en-US" sz="13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CORE CONTRIBUTION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61981" y="6204148"/>
            <a:ext cx="1066773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A reproducible, leakage-aware, frequency-aware framework for empirically evaluating the effect of temporal feature selection on time-series forecasting performance.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45256"/>
            <a:ext cx="1898999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0" spc="73" dirty="0">
                <a:solidFill>
                  <a:srgbClr val="25384C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IMPLEMENTATION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378915" y="100806"/>
            <a:ext cx="355591" cy="255587"/>
          </a:xfrm>
          <a:prstGeom prst="rect">
            <a:avLst/>
          </a:prstGeom>
          <a:noFill/>
          <a:ln/>
        </p:spPr>
        <p:txBody>
          <a:bodyPr wrap="square" lIns="63498" tIns="38099" rIns="63498" bIns="38099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kern="0" spc="73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09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0" y="447675"/>
            <a:ext cx="12191695" cy="9525"/>
          </a:xfrm>
          <a:prstGeom prst="rect">
            <a:avLst/>
          </a:prstGeom>
          <a:solidFill>
            <a:srgbClr val="25384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3387" y="457200"/>
            <a:ext cx="11124922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000" kern="0" spc="180" dirty="0">
                <a:solidFill>
                  <a:srgbClr val="13263D"/>
                </a:solidFill>
                <a:latin typeface="IBM Plex Sans Condensed SemiBold" pitchFamily="34" charset="0"/>
                <a:ea typeface="IBM Plex Sans Condensed SemiBold" pitchFamily="34" charset="-122"/>
                <a:cs typeface="IBM Plex Sans Condensed SemiBold" pitchFamily="34" charset="-120"/>
              </a:rPr>
              <a:t>THE IMPLEMENTATION IS ORGANIZED AROUND INSPECTABLE RESEARCH OUTPUTS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33387" y="1417836"/>
            <a:ext cx="4267093" cy="4451052"/>
          </a:xfrm>
          <a:prstGeom prst="roundRect">
            <a:avLst>
              <a:gd name="adj" fmla="val 268"/>
            </a:avLst>
          </a:prstGeom>
          <a:solidFill>
            <a:srgbClr val="F0EBD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1981" y="1646436"/>
            <a:ext cx="4038499" cy="271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IMPLEMENTATION STACK</a:t>
            </a:r>
            <a:endParaRPr lang="en-US" sz="15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2016423"/>
            <a:ext cx="393690" cy="3937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61981" y="2508548"/>
            <a:ext cx="1193770" cy="479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600" kern="0" spc="-8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Streamlit frontend</a:t>
            </a:r>
            <a:endParaRPr lang="en-US" sz="16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8147" y="2016423"/>
            <a:ext cx="393690" cy="3937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108147" y="2508548"/>
            <a:ext cx="1117572" cy="239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600" kern="0" spc="-8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Python</a:t>
            </a:r>
            <a:endParaRPr lang="en-US" sz="16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78115" y="2016423"/>
            <a:ext cx="393690" cy="3937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378115" y="2508548"/>
            <a:ext cx="1193770" cy="479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600" kern="0" spc="-8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Pandas / NumPy</a:t>
            </a:r>
            <a:endParaRPr lang="en-US" sz="16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1981" y="3140373"/>
            <a:ext cx="393690" cy="3937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61981" y="3632498"/>
            <a:ext cx="1193770" cy="239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600" kern="0" spc="-8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Scikit-learn</a:t>
            </a:r>
            <a:endParaRPr lang="en-US" sz="16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08147" y="3140373"/>
            <a:ext cx="393690" cy="3937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2108147" y="3632498"/>
            <a:ext cx="1117572" cy="479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600" kern="0" spc="-8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Plotly / Matplotlib</a:t>
            </a:r>
            <a:endParaRPr lang="en-US" sz="16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78115" y="3140373"/>
            <a:ext cx="393690" cy="3937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3378115" y="3632498"/>
            <a:ext cx="1193770" cy="479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600" kern="0" spc="-8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CSV / Excel handling</a:t>
            </a:r>
            <a:endParaRPr lang="en-US" sz="1600" dirty="0"/>
          </a:p>
        </p:txBody>
      </p:sp>
      <p:sp>
        <p:nvSpPr>
          <p:cNvPr id="20" name="Shape 12"/>
          <p:cNvSpPr/>
          <p:nvPr/>
        </p:nvSpPr>
        <p:spPr>
          <a:xfrm>
            <a:off x="5257569" y="1417836"/>
            <a:ext cx="6350" cy="4451052"/>
          </a:xfrm>
          <a:prstGeom prst="rect">
            <a:avLst/>
          </a:prstGeom>
          <a:solidFill>
            <a:srgbClr val="C8D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3"/>
          <p:cNvSpPr/>
          <p:nvPr/>
        </p:nvSpPr>
        <p:spPr>
          <a:xfrm>
            <a:off x="5492513" y="1519436"/>
            <a:ext cx="6165795" cy="271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OUTPUT LEDGER</a:t>
            </a:r>
            <a:endParaRPr lang="en-US" sz="155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92513" y="1889423"/>
          <a:ext cx="6013399" cy="3855149"/>
        </p:xfrm>
        <a:graphic>
          <a:graphicData uri="http://schemas.openxmlformats.org/drawingml/2006/table">
            <a:tbl>
              <a:tblPr/>
              <a:tblGrid>
                <a:gridCol w="20445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88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52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1326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 family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13263D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Inspectable artifact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68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b="1" dirty="0">
                          <a:solidFill>
                            <a:srgbClr val="25384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Data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5384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Dataset overview and time-series visualization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681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b="1" dirty="0">
                          <a:solidFill>
                            <a:srgbClr val="25384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Features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5384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Generated temporal features; selected features + importance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52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b="1" dirty="0">
                          <a:solidFill>
                            <a:srgbClr val="25384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Forecasts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5384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Actual vs predicted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52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b="1" dirty="0">
                          <a:solidFill>
                            <a:srgbClr val="25384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Evaluation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5384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MAE / RMSE / sMAPE comparison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526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b="1" dirty="0">
                          <a:solidFill>
                            <a:srgbClr val="25384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Research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5384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Observed feature-selection impact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046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b="1" dirty="0">
                          <a:solidFill>
                            <a:srgbClr val="25384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Downloads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50" dirty="0">
                          <a:solidFill>
                            <a:srgbClr val="25384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Predictions, metrics, and feature importance</a:t>
                      </a:r>
                      <a:endParaRPr lang="en-US" sz="15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47634" marR="147634" marT="78738" marB="78738" anchor="ctr">
                    <a:lnL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D0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BF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3" name="Shape 14"/>
          <p:cNvSpPr/>
          <p:nvPr/>
        </p:nvSpPr>
        <p:spPr>
          <a:xfrm>
            <a:off x="533387" y="6021288"/>
            <a:ext cx="11124922" cy="6350"/>
          </a:xfrm>
          <a:prstGeom prst="rect">
            <a:avLst/>
          </a:prstGeom>
          <a:solidFill>
            <a:srgbClr val="132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5"/>
          <p:cNvSpPr/>
          <p:nvPr/>
        </p:nvSpPr>
        <p:spPr>
          <a:xfrm>
            <a:off x="533387" y="6129238"/>
            <a:ext cx="11124922" cy="728762"/>
          </a:xfrm>
          <a:prstGeom prst="rect">
            <a:avLst/>
          </a:prstGeom>
          <a:solidFill>
            <a:srgbClr val="E1EB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6"/>
          <p:cNvSpPr/>
          <p:nvPr/>
        </p:nvSpPr>
        <p:spPr>
          <a:xfrm>
            <a:off x="761981" y="6357838"/>
            <a:ext cx="10896327" cy="271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13263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■</a:t>
            </a: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5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STATUS:</a:t>
            </a:r>
            <a:r>
              <a:rPr lang="en-US" sz="15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Core architecture implemented; final integration and experimental validation in progress.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145256"/>
            <a:ext cx="1826373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0" spc="73" dirty="0">
                <a:solidFill>
                  <a:srgbClr val="25384C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REVIEW-2 CLOSE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378915" y="100806"/>
            <a:ext cx="355591" cy="255587"/>
          </a:xfrm>
          <a:prstGeom prst="rect">
            <a:avLst/>
          </a:prstGeom>
          <a:noFill/>
          <a:ln/>
        </p:spPr>
        <p:txBody>
          <a:bodyPr wrap="square" lIns="63498" tIns="38099" rIns="63498" bIns="38099" rtlCol="0" anchor="ctr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050" kern="0" spc="73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10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0" y="447675"/>
            <a:ext cx="12191695" cy="9525"/>
          </a:xfrm>
          <a:prstGeom prst="rect">
            <a:avLst/>
          </a:prstGeom>
          <a:solidFill>
            <a:srgbClr val="25384C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33387" y="533400"/>
            <a:ext cx="11658308" cy="166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0" spc="73" dirty="0">
                <a:solidFill>
                  <a:srgbClr val="647386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REVIEW-2 CLOSE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33387" y="769938"/>
            <a:ext cx="11124922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000" kern="0" spc="180" dirty="0">
                <a:solidFill>
                  <a:srgbClr val="13263D"/>
                </a:solidFill>
                <a:latin typeface="IBM Plex Sans Condensed SemiBold" pitchFamily="34" charset="0"/>
                <a:ea typeface="IBM Plex Sans Condensed SemiBold" pitchFamily="34" charset="-122"/>
                <a:cs typeface="IBM Plex Sans Condensed SemiBold" pitchFamily="34" charset="-120"/>
              </a:rPr>
              <a:t>REVIEW-2 CLOSES WITH INTEGRATION, EXPERIMENTS, AND THE RESEARCH PAPER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33387" y="1730573"/>
            <a:ext cx="6852768" cy="271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CURRENT STATUS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33387" y="2100560"/>
            <a:ext cx="6852768" cy="946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architecture designed; generic dataset workflow defined; schema detection designed; frequency-aware feature engineering implemented/planned; leakage-safe feature selection defined; five-model comparison framework defined; Streamlit research interface developed; testing and integration in progress.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33387" y="3145135"/>
            <a:ext cx="6852768" cy="271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REVIEW-2 DEMONSTRATION PATH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533387" y="3509169"/>
            <a:ext cx="727751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50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1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48398" y="3515122"/>
            <a:ext cx="1321958" cy="209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00" kern="0" spc="-7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Dataset Upload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322752" y="3509169"/>
            <a:ext cx="727751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50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2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2637764" y="3515122"/>
            <a:ext cx="1245759" cy="419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00" kern="0" spc="-7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Schema Detection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035919" y="3509169"/>
            <a:ext cx="727751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50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3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350931" y="3515122"/>
            <a:ext cx="1283859" cy="419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00" kern="0" spc="-7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787186" y="3509169"/>
            <a:ext cx="727751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50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4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102197" y="3515122"/>
            <a:ext cx="1283958" cy="419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00" kern="0" spc="-7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Feature Selection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3387" y="4081066"/>
            <a:ext cx="727751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50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5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848398" y="4087019"/>
            <a:ext cx="1321958" cy="209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00" kern="0" spc="-7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Forecasting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322752" y="4081066"/>
            <a:ext cx="727751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50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6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2637764" y="4087019"/>
            <a:ext cx="1245759" cy="419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00" kern="0" spc="-7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Model Comparison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035919" y="4081066"/>
            <a:ext cx="727751" cy="19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50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7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4350931" y="4087019"/>
            <a:ext cx="3035224" cy="2097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400" kern="0" spc="-7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Research Insights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690848" y="1730573"/>
            <a:ext cx="6350" cy="3697089"/>
          </a:xfrm>
          <a:prstGeom prst="rect">
            <a:avLst/>
          </a:prstGeom>
          <a:solidFill>
            <a:srgbClr val="C8D0D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925792" y="1832173"/>
            <a:ext cx="3732516" cy="271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PAPER STRUCTURE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7925792" y="2202160"/>
            <a:ext cx="1713862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300" kern="0" spc="-6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792050" y="2202160"/>
            <a:ext cx="1713862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300" kern="0" spc="-6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Related Work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925792" y="2549327"/>
            <a:ext cx="1713862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300" kern="0" spc="-6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792050" y="2549327"/>
            <a:ext cx="1713862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300" kern="0" spc="-6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Experimental Setup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925792" y="2896493"/>
            <a:ext cx="1713862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300" kern="0" spc="-6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Results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792050" y="2896493"/>
            <a:ext cx="1713862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300" kern="0" spc="-6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Discussion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925792" y="3243659"/>
            <a:ext cx="1713862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300" kern="0" spc="-6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792050" y="3243659"/>
            <a:ext cx="1713862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300" kern="0" spc="-6" dirty="0">
                <a:solidFill>
                  <a:srgbClr val="13263D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925792" y="3536851"/>
            <a:ext cx="3732516" cy="2715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NEXT STEPS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7925792" y="3906838"/>
            <a:ext cx="3580120" cy="1419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25384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Complete integration testing · execute benchmark experiments · collect actual MAE/RMSE/sMAPE · analyze feature-selection impact · complete the research paper · finalize GitHub repository · prepare final report and demonstration video.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533387" y="5580063"/>
            <a:ext cx="11124922" cy="6350"/>
          </a:xfrm>
          <a:prstGeom prst="rect">
            <a:avLst/>
          </a:prstGeom>
          <a:solidFill>
            <a:srgbClr val="132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33387" y="5688012"/>
            <a:ext cx="11124922" cy="1000323"/>
          </a:xfrm>
          <a:prstGeom prst="rect">
            <a:avLst/>
          </a:prstGeom>
          <a:solidFill>
            <a:srgbClr val="132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61981" y="5916613"/>
            <a:ext cx="10667733" cy="543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From a forecasting application to a reproducible experimental framework for understanding the role of temporal feature selection.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1252</Words>
  <Application>Microsoft Macintosh PowerPoint</Application>
  <PresentationFormat>Widescreen</PresentationFormat>
  <Paragraphs>253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IBM Plex Sans Condensed SemiBold</vt:lpstr>
      <vt:lpstr>IBM Plex Sans SemiBold</vt:lpstr>
      <vt:lpstr>Arial</vt:lpstr>
      <vt:lpstr>IBM Plex Sans</vt:lpstr>
      <vt:lpstr>IBM Plex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Srinivas Nekkanti</cp:lastModifiedBy>
  <cp:revision>2</cp:revision>
  <dcterms:created xsi:type="dcterms:W3CDTF">2026-09-21T04:39:41Z</dcterms:created>
  <dcterms:modified xsi:type="dcterms:W3CDTF">2026-09-21T04:43:59Z</dcterms:modified>
</cp:coreProperties>
</file>